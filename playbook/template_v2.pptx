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ogqmarket.naver.com/" TargetMode="External"/><Relationship Id="rId3" Type="http://schemas.openxmlformats.org/officeDocument/2006/relationships/hyperlink" Target="https://ogqmarket.sooplive.com/emoticon" TargetMode="External"/><Relationship Id="rId5" Type="http://schemas.openxmlformats.org/officeDocument/2006/relationships/hyperlink" Target="https://chattingplus.ogq.me/" TargetMode="External"/><Relationship Id="rId2" Type="http://schemas.openxmlformats.org/officeDocument/2006/relationships/image" Target="../media/image-5-1.png"/><Relationship Id="rId4" Type="http://schemas.openxmlformats.org/officeDocument/2006/relationships/image" Target="../media/image-5-2.png"/><Relationship Id="rId6" Type="http://schemas.openxmlformats.org/officeDocument/2006/relationships/image" Target="../media/image-5-3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ogqmarket.naver.com/chart" TargetMode="Externa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ogqmarket.sooplive.com/emoticon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chattingplus.ogq.me/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w="12700">
            <a:solidFill>
              <a:srgbClr val="2A5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w="12700">
            <a:solidFill>
              <a:srgbClr val="356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w="12700">
            <a:solidFill>
              <a:srgbClr val="2A5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 PLAYBOOK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B7D5C6"/>
          </a:solidFill>
          <a:ln w="12700">
            <a:solidFill>
              <a:srgbClr val="B7D5C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33172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Vol.2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상반기 데이터 기반 제작 플레이북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3383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 OGQ마켓 · SOOP OGQ이모티콘 · 채팅+ OGQ마켓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6035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OGQ 2026년 상반기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F4538"/>
          </a:solidFill>
          <a:ln w="12700">
            <a:solidFill>
              <a:srgbClr val="1F45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3774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상반기 데이터 기반 제작 플레이북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846320" y="64008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349240" y="64008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49240" y="64008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937760" y="1197864"/>
            <a:ext cx="73152" cy="73152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0" y="107899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OGQ 소개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937760" y="1527048"/>
            <a:ext cx="73152" cy="73152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0" y="140817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OGQ 주요 마켓 소개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46320" y="20574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49240" y="205740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49240" y="20574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0" y="2615184"/>
            <a:ext cx="73152" cy="73152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20640" y="249631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마켓별 구매자 인사이트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937760" y="2944368"/>
            <a:ext cx="73152" cy="73152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0" y="282549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마켓별 구매자 세부 데이터 분석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349240" y="347472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49240" y="34747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937760" y="4032504"/>
            <a:ext cx="73152" cy="73152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20640" y="39136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스티커(이모티콘) / 애니메이션 스티커(이모티콘) 제작 가이드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937760" y="4361688"/>
            <a:ext cx="73152" cy="73152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0" y="424281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등록 가이드 · 기타 가이드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937760" y="4690872"/>
            <a:ext cx="73152" cy="73152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20640" y="45720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심사 반려 현황 및 대응 방안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549640" y="64008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052560" y="64008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052560" y="64008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PLAYBOOK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641080" y="1197864"/>
            <a:ext cx="73152" cy="73152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23960" y="107899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마켓 상위 매출 탐색 방법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641080" y="1527048"/>
            <a:ext cx="73152" cy="73152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823960" y="140817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콘텐츠 분석 (TOP 25)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641080" y="1856232"/>
            <a:ext cx="73152" cy="73152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2396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팔리는 주제 선정하기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641080" y="2185416"/>
            <a:ext cx="73152" cy="73152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823960" y="206654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24종 이미지 구성하기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641080" y="2514600"/>
            <a:ext cx="73152" cy="73152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23960" y="2395728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 및 홍보 전략 세우기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641080" y="2843784"/>
            <a:ext cx="73152" cy="73152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823960" y="272491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공식 요약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4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w="12700">
            <a:solidFill>
              <a:srgbClr val="2A5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w="12700">
            <a:solidFill>
              <a:srgbClr val="356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w="12700">
            <a:solidFill>
              <a:srgbClr val="2A5A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5720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4114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OGQ 소개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1274552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08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누구나 크리에이터가 되는 세상 — 크리에이터 콘텐츠 마켓 플랫폼, OGQ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크리에이터가 만들고, OGQ에 등록하고, 여러 플랫폼에서 판매합니다. OGQ는 창작부터 수익까지 그 과정 전반을 지원합니다.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3246120" cy="3291840"/>
          </a:xfrm>
          <a:prstGeom prst="roundRect">
            <a:avLst>
              <a:gd name="adj" fmla="val 4225"/>
            </a:avLst>
          </a:prstGeom>
          <a:solidFill>
            <a:srgbClr val="F6F8FA"/>
          </a:solidFill>
          <a:ln w="12700">
            <a:solidFill>
              <a:srgbClr val="E5E9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880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5C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200400" y="2880360"/>
            <a:ext cx="594360" cy="59436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42132" y="3022092"/>
            <a:ext cx="310896" cy="31089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097280" y="34747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1097280" y="39319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크리에이터가 만든다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97280" y="4389120"/>
            <a:ext cx="2697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스티커(이모티콘), 이미지, 음원 등 원하는 디지털 콘텐츠를 자유롭게 제작합니다. 형식과 장르에 제한 없이 누구나 창작자가 될 수 있습니다.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142232" y="4123944"/>
            <a:ext cx="219456" cy="256032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434840" y="2606040"/>
            <a:ext cx="3246120" cy="3291840"/>
          </a:xfrm>
          <a:prstGeom prst="roundRect">
            <a:avLst>
              <a:gd name="adj" fmla="val 4225"/>
            </a:avLst>
          </a:prstGeom>
          <a:solidFill>
            <a:srgbClr val="F6F8FA"/>
          </a:solidFill>
          <a:ln w="12700">
            <a:solidFill>
              <a:srgbClr val="E5E9E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09160" y="2880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5C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8" name="Shape 15"/>
          <p:cNvSpPr/>
          <p:nvPr/>
        </p:nvSpPr>
        <p:spPr>
          <a:xfrm>
            <a:off x="6812280" y="2880360"/>
            <a:ext cx="594360" cy="59436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12" y="3022092"/>
            <a:ext cx="310896" cy="31089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709160" y="34747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</a:t>
            </a:r>
            <a:endParaRPr lang="en-US" sz="2600" dirty="0"/>
          </a:p>
        </p:txBody>
      </p:sp>
      <p:sp>
        <p:nvSpPr>
          <p:cNvPr id="21" name="Text 17"/>
          <p:cNvSpPr/>
          <p:nvPr/>
        </p:nvSpPr>
        <p:spPr>
          <a:xfrm>
            <a:off x="4709160" y="39319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OGQ에 등록한다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4709160" y="4389120"/>
            <a:ext cx="2697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OGQ 크리에이터 스튜디오에 한 번만 등록하면 네이버 OGQ 마켓, SOOP OGQ 이모티콘, 채팅+ 마켓 등 여러 플랫폼에 동시에 노출됩니다.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7754112" y="4123944"/>
            <a:ext cx="219456" cy="256032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046720" y="2606040"/>
            <a:ext cx="3246120" cy="3291840"/>
          </a:xfrm>
          <a:prstGeom prst="roundRect">
            <a:avLst>
              <a:gd name="adj" fmla="val 4225"/>
            </a:avLst>
          </a:prstGeom>
          <a:solidFill>
            <a:srgbClr val="F6F8FA"/>
          </a:solidFill>
          <a:ln w="12700">
            <a:solidFill>
              <a:srgbClr val="E5E9EE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321040" y="2880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5C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26" name="Shape 22"/>
          <p:cNvSpPr/>
          <p:nvPr/>
        </p:nvSpPr>
        <p:spPr>
          <a:xfrm>
            <a:off x="10424160" y="2880360"/>
            <a:ext cx="594360" cy="59436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5892" y="3022092"/>
            <a:ext cx="310896" cy="310896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8321040" y="34747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</a:t>
            </a:r>
            <a:endParaRPr lang="en-US" sz="2600" dirty="0"/>
          </a:p>
        </p:txBody>
      </p:sp>
      <p:sp>
        <p:nvSpPr>
          <p:cNvPr id="29" name="Text 24"/>
          <p:cNvSpPr/>
          <p:nvPr/>
        </p:nvSpPr>
        <p:spPr>
          <a:xfrm>
            <a:off x="8321040" y="39319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플랫폼에서 판매한다</a:t>
            </a:r>
            <a:endParaRPr lang="en-US" sz="1500" dirty="0"/>
          </a:p>
        </p:txBody>
      </p:sp>
      <p:sp>
        <p:nvSpPr>
          <p:cNvPr id="30" name="Text 25"/>
          <p:cNvSpPr/>
          <p:nvPr/>
        </p:nvSpPr>
        <p:spPr>
          <a:xfrm>
            <a:off x="8321040" y="4389120"/>
            <a:ext cx="2697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플랫폼의 이용자가 콘텐츠를 구매하면 판매 수익이 크리에이터에게 돌아갑니다. 채널을 따로 관리할 필요 없이 창작에만 집중하면 됩니다.</a:t>
            </a:r>
            <a:endParaRPr lang="en-US" sz="1150" dirty="0"/>
          </a:p>
        </p:txBody>
      </p:sp>
      <p:sp>
        <p:nvSpPr>
          <p:cNvPr id="31" name="Text 26"/>
          <p:cNvSpPr/>
          <p:nvPr/>
        </p:nvSpPr>
        <p:spPr>
          <a:xfrm>
            <a:off x="10332720" y="6355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OGQ 주요 마켓 소개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OGQ에서 대표적으로 운영하는 마켓을 소개합니다.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1828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NAVER, SOOP, 삼성 문자메시지 앱 ‘채팅+’ 등 다양한 환경에서 크리에이터님의 디지털 콘텐츠를 판매할 수 있습니다.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2286000"/>
            <a:ext cx="3429000" cy="3931920"/>
          </a:xfrm>
          <a:prstGeom prst="roundRect">
            <a:avLst>
              <a:gd name="adj" fmla="val 4000"/>
            </a:avLst>
          </a:prstGeom>
          <a:solidFill>
            <a:srgbClr val="F2FAF4"/>
          </a:solidFill>
          <a:ln w="12700">
            <a:solidFill>
              <a:srgbClr val="3BB5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254203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B54A"/>
          </a:solidFill>
          <a:ln w="12700">
            <a:solidFill>
              <a:srgbClr val="3BB5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800" dirty="0"/>
          </a:p>
        </p:txBody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1664208" y="2542032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3BB5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네이버 OGQ마켓 (바로가기)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97280" y="310896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블로그·카페 등 네이버 플랫폼 내에서 댓글/글쓰기 등으로 이용할 수 있는 스티커(이모티콘)를 판매하는 디지털 콘텐츠 마켓입니다.</a:t>
            </a:r>
            <a:endParaRPr lang="en-US" sz="10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943350"/>
            <a:ext cx="2880360" cy="20002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pic>
      <p:sp>
        <p:nvSpPr>
          <p:cNvPr id="14" name="Shape 11"/>
          <p:cNvSpPr/>
          <p:nvPr/>
        </p:nvSpPr>
        <p:spPr>
          <a:xfrm>
            <a:off x="4517136" y="2286000"/>
            <a:ext cx="3429000" cy="3931920"/>
          </a:xfrm>
          <a:prstGeom prst="roundRect">
            <a:avLst>
              <a:gd name="adj" fmla="val 4000"/>
            </a:avLst>
          </a:prstGeom>
          <a:solidFill>
            <a:srgbClr val="EEF4FF"/>
          </a:solidFill>
          <a:ln w="12700">
            <a:solidFill>
              <a:srgbClr val="1A6D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91456" y="254203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6DFF"/>
          </a:solidFill>
          <a:ln w="12700">
            <a:solidFill>
              <a:srgbClr val="1A6D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91456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800" dirty="0"/>
          </a:p>
        </p:txBody>
      </p:sp>
      <p:sp>
        <p:nvSpPr>
          <p:cNvPr id="17" name="Text 14">
            <a:hlinkClick r:id="rId3" tooltip=""/>
          </p:cNvPr>
          <p:cNvSpPr/>
          <p:nvPr/>
        </p:nvSpPr>
        <p:spPr>
          <a:xfrm>
            <a:off x="5358384" y="2542032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1A6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SOOP OGQ이모티콘 (바로가기)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4791456" y="310896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스트리밍 전문 플랫폼 SOOP에서 스트리밍 환경(채팅창, 댓글) 등에서 사용할 수 있는 이모티콘을 판매하는 디지털 콘텐츠 마켓입니다.</a:t>
            </a:r>
            <a:endParaRPr lang="en-US" sz="105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3943350"/>
            <a:ext cx="2880360" cy="20002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pic>
      <p:sp>
        <p:nvSpPr>
          <p:cNvPr id="20" name="Shape 16"/>
          <p:cNvSpPr/>
          <p:nvPr/>
        </p:nvSpPr>
        <p:spPr>
          <a:xfrm>
            <a:off x="8211312" y="2286000"/>
            <a:ext cx="3429000" cy="3931920"/>
          </a:xfrm>
          <a:prstGeom prst="roundRect">
            <a:avLst>
              <a:gd name="adj" fmla="val 4000"/>
            </a:avLst>
          </a:prstGeom>
          <a:solidFill>
            <a:srgbClr val="FFF5EC"/>
          </a:solidFill>
          <a:ln w="12700">
            <a:solidFill>
              <a:srgbClr val="F5821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485632" y="254203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5821F"/>
          </a:solidFill>
          <a:ln w="12700">
            <a:solidFill>
              <a:srgbClr val="F5821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485632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23" name="Text 19">
            <a:hlinkClick r:id="rId5" tooltip=""/>
          </p:cNvPr>
          <p:cNvSpPr/>
          <p:nvPr/>
        </p:nvSpPr>
        <p:spPr>
          <a:xfrm>
            <a:off x="9052560" y="2542032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F58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채팅+ OGQ마켓 (바로가기)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8485632" y="310896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통신 3사(SKT, KT, LGU+)가 협력한 차세대 문자 메시지 서비스 ‘채팅+’ 환경에서 이모티콘을 판매하는 디지털 콘텐츠 마켓입니다.</a:t>
            </a:r>
            <a:endParaRPr lang="en-US" sz="105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5632" y="3943350"/>
            <a:ext cx="2880360" cy="20002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pic>
      <p:sp>
        <p:nvSpPr>
          <p:cNvPr id="26" name="Text 21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F4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w="12700">
            <a:solidFill>
              <a:srgbClr val="2A5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w="12700">
            <a:solidFill>
              <a:srgbClr val="356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w="12700">
            <a:solidFill>
              <a:srgbClr val="2A5A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INSIGHT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마켓별 구매자 인사이트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마켓별 구매자 인사이트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동기 &amp; 핵심 인사이트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OGQ 주요 마켓들의 구매자는 같은 스티커(이모티콘)를 전혀 다른 이유로 구매합니다.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2194560"/>
            <a:ext cx="3429000" cy="3657600"/>
          </a:xfrm>
          <a:prstGeom prst="roundRect">
            <a:avLst>
              <a:gd name="adj" fmla="val 4000"/>
            </a:avLst>
          </a:prstGeom>
          <a:solidFill>
            <a:srgbClr val="F2FAF4"/>
          </a:solidFill>
          <a:ln w="12700">
            <a:solidFill>
              <a:srgbClr val="3BB5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" y="2423160"/>
            <a:ext cx="1737360" cy="274320"/>
          </a:xfrm>
          <a:prstGeom prst="roundRect">
            <a:avLst>
              <a:gd name="adj" fmla="val 50000"/>
            </a:avLst>
          </a:prstGeom>
          <a:solidFill>
            <a:srgbClr val="3BB54A"/>
          </a:solidFill>
          <a:ln w="12700">
            <a:solidFill>
              <a:srgbClr val="3BB5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OGQ마켓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7280" y="27889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기록하는 사람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97280" y="3182112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3BB5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포스팅의 가독성과 구조를 잡기 위해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97280" y="3657600"/>
            <a:ext cx="2880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3BB5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3657600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연령층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847088" y="365760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B5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20~40대 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블로그 운영 블로거 / 카페 회원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97280" y="411480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공정위 문구·구분선·맛집 리뷰 헤더처럼 포스팅 게시글을 보다 완성도 있게 구성하기 위하여 스티커(이모티콘)를 구매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097280" y="4846320"/>
            <a:ext cx="2880360" cy="0"/>
          </a:xfrm>
          <a:prstGeom prst="line">
            <a:avLst/>
          </a:prstGeom>
          <a:noFill/>
          <a:ln w="9525">
            <a:solidFill>
              <a:srgbClr val="3BB54A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1097280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B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33.4%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097280" y="5376672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블로그·포스팅 실용 테마 매출 비중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(2026년 상반기 전체 매출 대비)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62856" y="2194560"/>
            <a:ext cx="3429000" cy="3657600"/>
          </a:xfrm>
          <a:prstGeom prst="roundRect">
            <a:avLst>
              <a:gd name="adj" fmla="val 4000"/>
            </a:avLst>
          </a:prstGeom>
          <a:solidFill>
            <a:srgbClr val="EEF4FF"/>
          </a:solidFill>
          <a:ln w="12700">
            <a:solidFill>
              <a:srgbClr val="1A6D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37176" y="2423160"/>
            <a:ext cx="1737360" cy="274320"/>
          </a:xfrm>
          <a:prstGeom prst="roundRect">
            <a:avLst>
              <a:gd name="adj" fmla="val 50000"/>
            </a:avLst>
          </a:prstGeom>
          <a:solidFill>
            <a:srgbClr val="1A6DFF"/>
          </a:solidFill>
          <a:ln w="12700">
            <a:solidFill>
              <a:srgbClr val="1A6D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37176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SOOP OGQ이모티콘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37176" y="27889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반응하는 사람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837176" y="3182112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6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 중 나의 존재를 드러내기 위해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837176" y="3657600"/>
            <a:ext cx="2880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A6D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28616" y="3657600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연령층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586984" y="365760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6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20~30대 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SOOP 회원 (시청자/스트리머)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37176" y="411480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채팅창에서 내가 좋아하는 스트리머와 적극적으로 소통하기 위하여 보다 가독성 있고 눈에 잘 띄는 이모티콘을 구매하여 소통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837176" y="4846320"/>
            <a:ext cx="2880360" cy="0"/>
          </a:xfrm>
          <a:prstGeom prst="line">
            <a:avLst/>
          </a:prstGeom>
          <a:noFill/>
          <a:ln w="9525">
            <a:solidFill>
              <a:srgbClr val="1A6DFF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4837176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6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4837176" y="5376672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움직이는 이모티콘 선호 비율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(2026년 상반기 정지형 이모티콘 대비)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8302752" y="2194560"/>
            <a:ext cx="3429000" cy="3657600"/>
          </a:xfrm>
          <a:prstGeom prst="roundRect">
            <a:avLst>
              <a:gd name="adj" fmla="val 4000"/>
            </a:avLst>
          </a:prstGeom>
          <a:solidFill>
            <a:srgbClr val="FFF5EC"/>
          </a:solidFill>
          <a:ln w="12700">
            <a:solidFill>
              <a:srgbClr val="F5821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577072" y="2423160"/>
            <a:ext cx="1737360" cy="274320"/>
          </a:xfrm>
          <a:prstGeom prst="roundRect">
            <a:avLst>
              <a:gd name="adj" fmla="val 50000"/>
            </a:avLst>
          </a:prstGeom>
          <a:solidFill>
            <a:srgbClr val="F5821F"/>
          </a:solidFill>
          <a:ln w="12700">
            <a:solidFill>
              <a:srgbClr val="F5821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77072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채팅+ OGQ마켓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577072" y="27889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안부를 전하는 사람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577072" y="3182112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58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딱딱한 텍스트 대신 이모티콘으로 마음을 표현하기 위해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577072" y="3657600"/>
            <a:ext cx="2880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F5821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68512" y="3657600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연령층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9326880" y="365760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8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40대 이상 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 갤럭시 문자(채팅+) 이용자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577072" y="411480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인사·감사·응원·안부 등과 같이 격식 있는 메시지를 부드럽게 만들어주기 위하여 이모티콘을 구매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577072" y="4846320"/>
            <a:ext cx="2880360" cy="0"/>
          </a:xfrm>
          <a:prstGeom prst="line">
            <a:avLst/>
          </a:prstGeom>
          <a:noFill/>
          <a:ln w="9525">
            <a:solidFill>
              <a:srgbClr val="F5821F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8577072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8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3.2배</a:t>
            </a:r>
            <a:endParaRPr lang="en-US" sz="2800" dirty="0"/>
          </a:p>
        </p:txBody>
      </p:sp>
      <p:sp>
        <p:nvSpPr>
          <p:cNvPr id="44" name="Text 42"/>
          <p:cNvSpPr/>
          <p:nvPr/>
        </p:nvSpPr>
        <p:spPr>
          <a:xfrm>
            <a:off x="8577072" y="5376672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설날 시즌(2월) 매출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(2026년 1월 매출 대비)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822960" y="5961888"/>
            <a:ext cx="10908792" cy="365760"/>
          </a:xfrm>
          <a:prstGeom prst="roundRect">
            <a:avLst>
              <a:gd name="adj" fmla="val 2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5840" y="59618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구매자 인사이트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네이버는 ‘글’, SOOP은 ‘방송’, 채팅+는 ‘관계’ — 사용처가 다르면 잘 팔리는 스티커(이모티콘)도 다릅니다.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OGQ마켓 - 구매자 세부 데이터 분석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1463040"/>
            <a:ext cx="5349240" cy="2240280"/>
          </a:xfrm>
          <a:prstGeom prst="roundRect">
            <a:avLst>
              <a:gd name="adj" fmla="val 408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1664208"/>
            <a:ext cx="54864" cy="292608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52144" y="16276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 성향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170432" y="2176272"/>
            <a:ext cx="91440" cy="91440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5024" y="208483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실용적인 텍스트/꾸미기형 선호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335024" y="234086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'형광펜', '말풍선', '블꾸' 등 글을 돋보이게 하는 정지형 스티커(이모티콘)를 압도적으로 선호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170432" y="2953512"/>
            <a:ext cx="91440" cy="91440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5024" y="286207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및 인증 특화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335024" y="31181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'맛집 리뷰', '공정위 문구' 등 실제 포스팅에 바로 활용 가능한 기능성 스티커(이모티콘) 구매율 높음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382512" y="1463040"/>
            <a:ext cx="5349240" cy="2240280"/>
          </a:xfrm>
          <a:prstGeom prst="roundRect">
            <a:avLst>
              <a:gd name="adj" fmla="val 408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65392" y="1664208"/>
            <a:ext cx="54864" cy="292608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16276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용도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729984" y="2176272"/>
            <a:ext cx="91440" cy="91440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94576" y="208483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블로그 포스팅 및 정보 전달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894576" y="234086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글의 가독성을 높이고 문단을 나누어 가독성을 확보하는 도구로 주로 활용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729984" y="2953512"/>
            <a:ext cx="91440" cy="91440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94576" y="286207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정보성 배치 및 꾸미기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894576" y="31181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기록, 맛집 탐방을 꾸미거나 특히 협찬 여부를 명확히 알리는 정보성 배치 용도가 핵심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22960" y="3886200"/>
            <a:ext cx="5349240" cy="2240280"/>
          </a:xfrm>
          <a:prstGeom prst="roundRect">
            <a:avLst>
              <a:gd name="adj" fmla="val 408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4087368"/>
            <a:ext cx="54864" cy="292608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52144" y="405079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유형 선호도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152144" y="4453128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포스팅의 집중을 유지하기 위해 정지형 타입 선호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152144" y="4937760"/>
            <a:ext cx="4409420" cy="347472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561564" y="4937760"/>
            <a:ext cx="281452" cy="347472"/>
          </a:xfrm>
          <a:prstGeom prst="rect">
            <a:avLst/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52144" y="4937760"/>
            <a:ext cx="44094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정지형 94%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152144" y="5468112"/>
            <a:ext cx="128016" cy="128016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35024" y="5394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정지형 스티커(이모티콘)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21024" y="5468112"/>
            <a:ext cx="128016" cy="128016"/>
          </a:xfrm>
          <a:prstGeom prst="ellipse">
            <a:avLst/>
          </a:prstGeom>
          <a:solidFill>
            <a:srgbClr val="D0DFCD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03904" y="5394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애니메이션 스티커(이모티콘)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82512" y="3886200"/>
            <a:ext cx="5349240" cy="2240280"/>
          </a:xfrm>
          <a:prstGeom prst="roundRect">
            <a:avLst>
              <a:gd name="adj" fmla="val 408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65392" y="4087368"/>
            <a:ext cx="54864" cy="292608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11696" y="405079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인기 키워드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711696" y="4572000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11696" y="457200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블로거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992" y="4572000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36992" y="457200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공정위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162288" y="4572000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62288" y="457200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0387584" y="4572000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387584" y="457200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711696" y="5102352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711696" y="51023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말풍선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936992" y="5102352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36992" y="51023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동물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162288" y="5102352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162288" y="51023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맛집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10387584" y="5102352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387584" y="51023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SOOP OGQ이모티콘 - 구매자 세부 데이터 분석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1463040"/>
            <a:ext cx="5349240" cy="2240280"/>
          </a:xfrm>
          <a:prstGeom prst="roundRect">
            <a:avLst>
              <a:gd name="adj" fmla="val 408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1664208"/>
            <a:ext cx="54864" cy="292608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52144" y="16276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 성향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170432" y="2176272"/>
            <a:ext cx="91440" cy="91440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5024" y="208483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과장되고 역동적인 애니메이션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335024" y="234086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움직임이 크고 눈에 띄어 채팅창에서 강렬한 인상을 줄 수 있는 애니메이션 이모티콘 선호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170432" y="2953512"/>
            <a:ext cx="91440" cy="91440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5024" y="286207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유머 및 인터넷 방송 문화 특화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335024" y="31181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특유의 유머 코드, 은어, 유행어, 스트리머 상황에 유쾌하게 반응할 수 있는 도발적 콘셉트 선호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382512" y="1463040"/>
            <a:ext cx="5349240" cy="2240280"/>
          </a:xfrm>
          <a:prstGeom prst="roundRect">
            <a:avLst>
              <a:gd name="adj" fmla="val 408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65392" y="1664208"/>
            <a:ext cx="54864" cy="292608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16276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용도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729984" y="2176272"/>
            <a:ext cx="91440" cy="91440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94576" y="208483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방송 리액션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894576" y="234086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 내용에 즉각적이고 강렬하게 반응하기 위한 리액션 목적이 매우 큼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729984" y="2953512"/>
            <a:ext cx="91440" cy="91440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94576" y="288036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빠르게 올라가는 채팅창 속에서 자신의 감정과 존재감을 재미있게 표현하는 데 적극 활용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22960" y="3886200"/>
            <a:ext cx="5349240" cy="2240280"/>
          </a:xfrm>
          <a:prstGeom prst="roundRect">
            <a:avLst>
              <a:gd name="adj" fmla="val 408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5840" y="4087368"/>
            <a:ext cx="54864" cy="292608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52144" y="405079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유형 선호도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152144" y="4453128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채팅창에서 강렬한 인상을 보여줄 수 있는 애니메이션 타입 선호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152144" y="4937760"/>
            <a:ext cx="4221785" cy="347472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73929" y="4937760"/>
            <a:ext cx="469087" cy="347472"/>
          </a:xfrm>
          <a:prstGeom prst="rect">
            <a:avLst/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52144" y="4937760"/>
            <a:ext cx="422178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애니메이션 90%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152144" y="5468112"/>
            <a:ext cx="128016" cy="128016"/>
          </a:xfrm>
          <a:prstGeom prst="ellipse">
            <a:avLst/>
          </a:prstGeom>
          <a:solidFill>
            <a:srgbClr val="D0DFCD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35024" y="5394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정지형 이모티콘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621024" y="5468112"/>
            <a:ext cx="128016" cy="128016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03904" y="5394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애니메이션 이모티콘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382512" y="3886200"/>
            <a:ext cx="5349240" cy="2240280"/>
          </a:xfrm>
          <a:prstGeom prst="roundRect">
            <a:avLst>
              <a:gd name="adj" fmla="val 408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565392" y="4087368"/>
            <a:ext cx="54864" cy="292608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11696" y="405079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인기 키워드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711696" y="4572000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11696" y="457200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움직이는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36992" y="4572000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936992" y="457200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시청자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162288" y="4572000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62288" y="457200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리액션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0387584" y="4572000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387584" y="457200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드립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711696" y="5102352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711696" y="51023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댄스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936992" y="5102352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36992" y="51023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동물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162288" y="5102352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162288" y="51023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웃긴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10387584" y="5102352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387584" y="51023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채팅+ OGQ마켓 - 구매자 세부 데이터 분석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1463040"/>
            <a:ext cx="5349240" cy="2240280"/>
          </a:xfrm>
          <a:prstGeom prst="roundRect">
            <a:avLst>
              <a:gd name="adj" fmla="val 408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1664208"/>
            <a:ext cx="54864" cy="292608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52144" y="16276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 성향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170432" y="2176272"/>
            <a:ext cx="91440" cy="91440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5024" y="208483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따뜻하고 정중한 메시지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335024" y="234086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'감사와 행복', '예쁜 말', '착한 손글씨', '색연필 글씨' 등 다정하고 온화한 분위기의 텍스트가 포함된 이모티콘을 선호합니다.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170432" y="2953512"/>
            <a:ext cx="91440" cy="91440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5024" y="286207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시즌성 및 예의범절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335024" y="31181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'설날', '명절 인사말', '새해' 등 특정 기념일이나 '사회생활'에 맞춘 무난한 톤앤매너의 이모티콘이 주를 이룹니다.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382512" y="1463040"/>
            <a:ext cx="5349240" cy="2240280"/>
          </a:xfrm>
          <a:prstGeom prst="roundRect">
            <a:avLst>
              <a:gd name="adj" fmla="val 408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65392" y="1664208"/>
            <a:ext cx="54864" cy="292608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16276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용도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729984" y="2176272"/>
            <a:ext cx="91440" cy="91440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94576" y="208483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문자 메시지를 이용하는 높은 연령대의 이모티콘 픽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894576" y="234086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채팅+ 이용 고객은 대부분 연령대가 높은 40~50대로 텍스트 대신 이모티콘으로 소통 및 마음을 표현하고자 주로 사용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729984" y="2953512"/>
            <a:ext cx="91440" cy="91440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94576" y="286207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안부 인사 및 관계 유지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894576" y="31181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가족, 친척, 직장 동료 등 지인들에게 명절 안부를 묻거나 일상적인 인사, 따뜻한 위로를 전하는 등 '사회적 관계 유지'를 위한 정중한 커뮤니케이션 용도로 주로 쓰입니다.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22960" y="3886200"/>
            <a:ext cx="5349240" cy="2240280"/>
          </a:xfrm>
          <a:prstGeom prst="roundRect">
            <a:avLst>
              <a:gd name="adj" fmla="val 408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4087368"/>
            <a:ext cx="54864" cy="292608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52144" y="405079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유형 선호도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152144" y="4453128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문자 메시지를 통해 의미 보다 강조하여 전달할 수 있는 애니메이션 타입 선호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152144" y="4937760"/>
            <a:ext cx="3377428" cy="347472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29572" y="4937760"/>
            <a:ext cx="1313444" cy="347472"/>
          </a:xfrm>
          <a:prstGeom prst="rect">
            <a:avLst/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52144" y="4937760"/>
            <a:ext cx="3377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애니메이션 72%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29572" y="4937760"/>
            <a:ext cx="13134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정지형 28%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152144" y="5468112"/>
            <a:ext cx="128016" cy="128016"/>
          </a:xfrm>
          <a:prstGeom prst="ellipse">
            <a:avLst/>
          </a:prstGeom>
          <a:solidFill>
            <a:srgbClr val="D0DFCD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35024" y="5394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정지형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21024" y="5468112"/>
            <a:ext cx="128016" cy="128016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803904" y="5394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애니메이션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382512" y="3886200"/>
            <a:ext cx="5349240" cy="2240280"/>
          </a:xfrm>
          <a:prstGeom prst="roundRect">
            <a:avLst>
              <a:gd name="adj" fmla="val 408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65392" y="4087368"/>
            <a:ext cx="54864" cy="292608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11696" y="405079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인기 키워드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711696" y="4572000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711696" y="457200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손글씨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936992" y="4572000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936992" y="457200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귀여운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9162288" y="4572000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62288" y="457200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명절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0387584" y="4572000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387584" y="457200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711696" y="5102352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711696" y="51023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안부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992" y="5102352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936992" y="51023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162288" y="5102352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62288" y="51023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다정한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387584" y="5102352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387584" y="51023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공손한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4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w="12700">
            <a:solidFill>
              <a:srgbClr val="2A5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w="12700">
            <a:solidFill>
              <a:srgbClr val="356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w="12700">
            <a:solidFill>
              <a:srgbClr val="2A5A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 PLAYBOOK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 OGQ마켓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매출 스티커(이모티콘) 탐색 방법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71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인기 콘텐츠를 인기 차트로 확인하는 방법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83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인기 차트를 통하여 현재 마켓 트렌드를 확인해 보세요.</a:t>
            </a:r>
            <a:endParaRPr lang="en-US" sz="12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40280"/>
            <a:ext cx="4297680" cy="363762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pic>
      <p:sp>
        <p:nvSpPr>
          <p:cNvPr id="9" name="Shape 6"/>
          <p:cNvSpPr/>
          <p:nvPr/>
        </p:nvSpPr>
        <p:spPr>
          <a:xfrm>
            <a:off x="822960" y="5987635"/>
            <a:ext cx="3840480" cy="274320"/>
          </a:xfrm>
          <a:prstGeom prst="roundRect">
            <a:avLst>
              <a:gd name="adj" fmla="val 5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0" name="Text 7">
            <a:hlinkClick r:id="rId2" tooltip=""/>
          </p:cNvPr>
          <p:cNvSpPr/>
          <p:nvPr/>
        </p:nvSpPr>
        <p:spPr>
          <a:xfrm>
            <a:off x="822960" y="5987635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NAVER OGQ마켓 › 페이지 최상단 ‘인기 차트’ (바로가기)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943600" y="2240280"/>
            <a:ext cx="5349240" cy="1042416"/>
          </a:xfrm>
          <a:prstGeom prst="roundRect">
            <a:avLst>
              <a:gd name="adj" fmla="val 877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108192" y="2532888"/>
            <a:ext cx="457200" cy="45720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08192" y="2532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720840" y="24414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인기 차트로 흐름 읽기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720840" y="273405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당일(1시간)·일일(24시간) 판매+조회 합산, 최근 6개월 제공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943600" y="3392424"/>
            <a:ext cx="5349240" cy="1042416"/>
          </a:xfrm>
          <a:prstGeom prst="roundRect">
            <a:avLst>
              <a:gd name="adj" fmla="val 877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08192" y="3685032"/>
            <a:ext cx="457200" cy="45720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108192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720840" y="35935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유입으로 검증하기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720840" y="388620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공정위·구분선·맛집·리뷰·내돈내산 등 플레이북에 제시한 핵심 키워드 및 인기 검색어와 비교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943600" y="4544568"/>
            <a:ext cx="5349240" cy="1042416"/>
          </a:xfrm>
          <a:prstGeom prst="roundRect">
            <a:avLst>
              <a:gd name="adj" fmla="val 877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108192" y="4837176"/>
            <a:ext cx="457200" cy="45720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108192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720840" y="474573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크리에이터 페이지 분석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720840" y="503834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시리즈로 이어지는 컨셉을 확인. 여러 편까지 가는 컨셉이 곧 장기 판매 공식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943600" y="5779008"/>
            <a:ext cx="5349240" cy="384048"/>
          </a:xfrm>
          <a:prstGeom prst="roundRect">
            <a:avLst>
              <a:gd name="adj" fmla="val 19048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126480" y="5779008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인기 차트와 검색 유입을 함께 확인 — 실용 키워드가 곧 매출 핵심 키워드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콘텐츠 분석하기 (TOP 25)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25 상세 분석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상반기 월별 TOP 25 콘텐츠의 상세 데이터를 참고해 주세요.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2560320" cy="777240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2219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91.1%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2606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정지형 스티커(이모티콘) 매출 비중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547872" y="2148840"/>
            <a:ext cx="2560320" cy="777240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7872" y="22219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93.8%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47872" y="2606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포함 콘텐츠 비중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72784" y="2148840"/>
            <a:ext cx="2560320" cy="777240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2784" y="22219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58.8%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272784" y="2606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밈(meme) 활용 콘텐츠 매출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997696" y="2148840"/>
            <a:ext cx="2560320" cy="777240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97696" y="22219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30.7%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997696" y="2606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시리즈(넘버링) 콘텐츠 매출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22960" y="3108960"/>
            <a:ext cx="4572000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1089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유형별 매출 비중 (%)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35661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감성형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148840" y="3566160"/>
            <a:ext cx="2788920" cy="237744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92624" y="356616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35.0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" y="39136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× 블로그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148840" y="3913632"/>
            <a:ext cx="2143484" cy="237744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47188" y="391363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26.9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2960" y="42611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실용 텍스트형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148840" y="4261104"/>
            <a:ext cx="1920371" cy="237744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24075" y="42611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24.1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22960" y="460857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스트리머 IP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148840" y="4608576"/>
            <a:ext cx="1115568" cy="237744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19272" y="460857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14.0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148840" y="3520440"/>
            <a:ext cx="0" cy="137160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49377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감성형  </a:t>
            </a:r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표현 중심 캐릭터 — 매월 1·2위 고정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2960" y="51663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× 블로그  </a:t>
            </a:r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캐릭터가 맛집·리뷰·일상기록 등 블로그 상황을 연기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2960" y="53949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실용 텍스트형  </a:t>
            </a:r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공정위 문구, 형광펜 리뷰, 블꾸 짤 모음, ZIP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" y="56235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스트리머 IP  </a:t>
            </a:r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팬덤 기반 — 네이버 스트리머 팬카페 기반, 단월 폭발력은 크지만 지속성 낮음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623560" y="3108960"/>
            <a:ext cx="6108192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23560" y="3108960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콘텐츠 속성별 데이터 (매출액 기준)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3474720"/>
          <a:ext cx="610819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371600"/>
                <a:gridCol w="1042416"/>
                <a:gridCol w="1371600"/>
                <a:gridCol w="1042416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속성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1위 값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매출 비중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2위 값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매출 비중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C6E3D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콘텐츠 유형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정지형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91.1%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혼합형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텍스트 비중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49.8%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44.1%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텍스트 종류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58.4%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신조어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34.3%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기반 분류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추상적 캐릭터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52.6%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15.2%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콘텐츠 도메인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일상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61.0%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블로그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18.2%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 성격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귀여운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59.9%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병맛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10.6%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색상 스타일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파스텔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54.2%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무채색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25.3%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라인 스타일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굵은 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73.0%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가는 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17.5%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배경 유형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투명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97.5%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배경 꽉 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2.5%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맥락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54.3%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리뷰/일상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16.4%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Shape 39"/>
          <p:cNvSpPr/>
          <p:nvPr/>
        </p:nvSpPr>
        <p:spPr>
          <a:xfrm>
            <a:off x="822960" y="5961888"/>
            <a:ext cx="10908792" cy="365760"/>
          </a:xfrm>
          <a:prstGeom prst="roundRect">
            <a:avLst>
              <a:gd name="adj" fmla="val 2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1005840" y="59618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콘텐츠 분석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매출 상위 콘텐츠를 분석하여 이모티콘 제작에 참고해 주세요.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팔리는 주제 선정하기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블로거가 작성하는 포스팅마다의 ‘장면’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요즘 네이버 블로그 트렌드를 참고하여 스티커(이모티콘)로 표현해 보세요.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121408"/>
            <a:ext cx="4114800" cy="310896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2140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네이버 블로그는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94960" y="2121408"/>
            <a:ext cx="6336792" cy="310896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94960" y="2121408"/>
            <a:ext cx="6336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포스팅에 이런 스티커(이모티콘)를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2505456"/>
            <a:ext cx="41148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0976" y="2624328"/>
            <a:ext cx="365760" cy="36576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715768"/>
            <a:ext cx="182880" cy="1828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1444752" y="2587752"/>
            <a:ext cx="114300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444752" y="258775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협찬·체험단 글 증가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444752" y="277977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체험단·협찬 글이 늘고,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공정위 표기는 사실상 필수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038344" y="2706624"/>
            <a:ext cx="256032" cy="201168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394960" y="2505456"/>
            <a:ext cx="6336792" cy="603504"/>
          </a:xfrm>
          <a:prstGeom prst="roundRect">
            <a:avLst>
              <a:gd name="adj" fmla="val 12121"/>
            </a:avLst>
          </a:prstGeom>
          <a:solidFill>
            <a:srgbClr val="F2F8F3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04688" y="258775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504688" y="25877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6035040" y="25603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공정위·내돈내산 문구 세트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504688" y="28072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컬러·손그림·캐릭터가 팻말 든 버전으로 변형 — 같은 문구라도 디자인이 갈리면 수요도 갈립니다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9601200" y="2578608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601200" y="257860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내돈내산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10680192" y="2578608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80192" y="257860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협찬 문구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9601200" y="2834640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601200" y="283464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솔직 후기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10680192" y="2834640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680192" y="283464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포함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822960" y="3172968"/>
            <a:ext cx="41148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50976" y="3291840"/>
            <a:ext cx="365760" cy="36576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3383280"/>
            <a:ext cx="182880" cy="182880"/>
          </a:xfrm>
          <a:prstGeom prst="rect">
            <a:avLst/>
          </a:prstGeom>
        </p:spPr>
      </p:pic>
      <p:sp>
        <p:nvSpPr>
          <p:cNvPr id="35" name="Shape 31"/>
          <p:cNvSpPr/>
          <p:nvPr/>
        </p:nvSpPr>
        <p:spPr>
          <a:xfrm>
            <a:off x="1444752" y="3255264"/>
            <a:ext cx="114300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1444752" y="3255264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경험형 글 유리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1444752" y="344728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맛집·여행 등 직접 경험 글이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인용·홈피드에서 유리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5038344" y="3374136"/>
            <a:ext cx="256032" cy="201168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394960" y="3172968"/>
            <a:ext cx="6336792" cy="603504"/>
          </a:xfrm>
          <a:prstGeom prst="roundRect">
            <a:avLst>
              <a:gd name="adj" fmla="val 12121"/>
            </a:avLst>
          </a:prstGeom>
          <a:solidFill>
            <a:srgbClr val="F2F8F3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504688" y="3255264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504688" y="325526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750" dirty="0"/>
          </a:p>
        </p:txBody>
      </p:sp>
      <p:sp>
        <p:nvSpPr>
          <p:cNvPr id="42" name="Text 38"/>
          <p:cNvSpPr/>
          <p:nvPr/>
        </p:nvSpPr>
        <p:spPr>
          <a:xfrm>
            <a:off x="6035040" y="32278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상황 스티커(이모티콘)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5504688" y="347472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글의 고정 항목을 스티커(이모티콘)로 — 별점·주차·웨이팅·재방문 등 매 글마다 반복되는 정보 칸</a:t>
            </a:r>
            <a:endParaRPr lang="en-US" sz="800" dirty="0"/>
          </a:p>
        </p:txBody>
      </p:sp>
      <p:sp>
        <p:nvSpPr>
          <p:cNvPr id="44" name="Shape 40"/>
          <p:cNvSpPr/>
          <p:nvPr/>
        </p:nvSpPr>
        <p:spPr>
          <a:xfrm>
            <a:off x="9601200" y="3246120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9601200" y="324612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 의사 100%</a:t>
            </a:r>
            <a:endParaRPr lang="en-US" sz="750" dirty="0"/>
          </a:p>
        </p:txBody>
      </p:sp>
      <p:sp>
        <p:nvSpPr>
          <p:cNvPr id="46" name="Shape 42"/>
          <p:cNvSpPr/>
          <p:nvPr/>
        </p:nvSpPr>
        <p:spPr>
          <a:xfrm>
            <a:off x="10680192" y="3246120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10680192" y="324612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웨이팅 30분</a:t>
            </a:r>
            <a:endParaRPr lang="en-US" sz="750" dirty="0"/>
          </a:p>
        </p:txBody>
      </p:sp>
      <p:sp>
        <p:nvSpPr>
          <p:cNvPr id="48" name="Shape 44"/>
          <p:cNvSpPr/>
          <p:nvPr/>
        </p:nvSpPr>
        <p:spPr>
          <a:xfrm>
            <a:off x="9601200" y="3502152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9601200" y="3502152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주차 가능</a:t>
            </a:r>
            <a:endParaRPr lang="en-US" sz="750" dirty="0"/>
          </a:p>
        </p:txBody>
      </p:sp>
      <p:sp>
        <p:nvSpPr>
          <p:cNvPr id="50" name="Shape 46"/>
          <p:cNvSpPr/>
          <p:nvPr/>
        </p:nvSpPr>
        <p:spPr>
          <a:xfrm>
            <a:off x="10680192" y="3502152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10680192" y="3502152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가성비</a:t>
            </a:r>
            <a:endParaRPr lang="en-US" sz="750" dirty="0"/>
          </a:p>
        </p:txBody>
      </p:sp>
      <p:sp>
        <p:nvSpPr>
          <p:cNvPr id="52" name="Shape 48"/>
          <p:cNvSpPr/>
          <p:nvPr/>
        </p:nvSpPr>
        <p:spPr>
          <a:xfrm>
            <a:off x="822960" y="3840480"/>
            <a:ext cx="41148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950976" y="3959352"/>
            <a:ext cx="365760" cy="36576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5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4050792"/>
            <a:ext cx="182880" cy="182880"/>
          </a:xfrm>
          <a:prstGeom prst="rect">
            <a:avLst/>
          </a:prstGeom>
        </p:spPr>
      </p:pic>
      <p:sp>
        <p:nvSpPr>
          <p:cNvPr id="55" name="Shape 50"/>
          <p:cNvSpPr/>
          <p:nvPr/>
        </p:nvSpPr>
        <p:spPr>
          <a:xfrm>
            <a:off x="1444752" y="3922776"/>
            <a:ext cx="114300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1444752" y="39227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첫인상이 중요</a:t>
            </a:r>
            <a:endParaRPr lang="en-US" sz="750" dirty="0"/>
          </a:p>
        </p:txBody>
      </p:sp>
      <p:sp>
        <p:nvSpPr>
          <p:cNvPr id="57" name="Text 52"/>
          <p:cNvSpPr/>
          <p:nvPr/>
        </p:nvSpPr>
        <p:spPr>
          <a:xfrm>
            <a:off x="1444752" y="4114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개인화 피드 시대,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블로그 첫인상이 이탈률을 좌우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5038344" y="4041648"/>
            <a:ext cx="256032" cy="201168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5394960" y="3840480"/>
            <a:ext cx="6336792" cy="603504"/>
          </a:xfrm>
          <a:prstGeom prst="roundRect">
            <a:avLst>
              <a:gd name="adj" fmla="val 12121"/>
            </a:avLst>
          </a:prstGeom>
          <a:solidFill>
            <a:srgbClr val="F2F8F3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5504688" y="3922776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5504688" y="39227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750" dirty="0"/>
          </a:p>
        </p:txBody>
      </p:sp>
      <p:sp>
        <p:nvSpPr>
          <p:cNvPr id="62" name="Text 57"/>
          <p:cNvSpPr/>
          <p:nvPr/>
        </p:nvSpPr>
        <p:spPr>
          <a:xfrm>
            <a:off x="6035040" y="38953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블로그 꾸미기(블꾸) 세트</a:t>
            </a:r>
            <a:endParaRPr lang="en-US" sz="1100" dirty="0"/>
          </a:p>
        </p:txBody>
      </p:sp>
      <p:sp>
        <p:nvSpPr>
          <p:cNvPr id="63" name="Text 58"/>
          <p:cNvSpPr/>
          <p:nvPr/>
        </p:nvSpPr>
        <p:spPr>
          <a:xfrm>
            <a:off x="5504688" y="41422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글의 뼈대를 잡아주는 요소 — 구분선·소제목·말풍선·체크박스·화살표를 한 세트로</a:t>
            </a:r>
            <a:endParaRPr lang="en-US" sz="800" dirty="0"/>
          </a:p>
        </p:txBody>
      </p:sp>
      <p:sp>
        <p:nvSpPr>
          <p:cNvPr id="64" name="Shape 59"/>
          <p:cNvSpPr/>
          <p:nvPr/>
        </p:nvSpPr>
        <p:spPr>
          <a:xfrm>
            <a:off x="9601200" y="3913632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9601200" y="3913632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포스팅</a:t>
            </a:r>
            <a:endParaRPr lang="en-US" sz="750" dirty="0"/>
          </a:p>
        </p:txBody>
      </p:sp>
      <p:sp>
        <p:nvSpPr>
          <p:cNvPr id="66" name="Shape 61"/>
          <p:cNvSpPr/>
          <p:nvPr/>
        </p:nvSpPr>
        <p:spPr>
          <a:xfrm>
            <a:off x="10680192" y="3913632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10680192" y="3913632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</a:t>
            </a:r>
            <a:endParaRPr lang="en-US" sz="750" dirty="0"/>
          </a:p>
        </p:txBody>
      </p:sp>
      <p:sp>
        <p:nvSpPr>
          <p:cNvPr id="68" name="Shape 63"/>
          <p:cNvSpPr/>
          <p:nvPr/>
        </p:nvSpPr>
        <p:spPr>
          <a:xfrm>
            <a:off x="9601200" y="4169664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9601200" y="4169664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</a:t>
            </a:r>
            <a:endParaRPr lang="en-US" sz="750" dirty="0"/>
          </a:p>
        </p:txBody>
      </p:sp>
      <p:sp>
        <p:nvSpPr>
          <p:cNvPr id="70" name="Shape 65"/>
          <p:cNvSpPr/>
          <p:nvPr/>
        </p:nvSpPr>
        <p:spPr>
          <a:xfrm>
            <a:off x="10680192" y="4169664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71" name="Text 66"/>
          <p:cNvSpPr/>
          <p:nvPr/>
        </p:nvSpPr>
        <p:spPr>
          <a:xfrm>
            <a:off x="10680192" y="4169664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</a:t>
            </a:r>
            <a:endParaRPr lang="en-US" sz="750" dirty="0"/>
          </a:p>
        </p:txBody>
      </p:sp>
      <p:sp>
        <p:nvSpPr>
          <p:cNvPr id="72" name="Shape 67"/>
          <p:cNvSpPr/>
          <p:nvPr/>
        </p:nvSpPr>
        <p:spPr>
          <a:xfrm>
            <a:off x="822960" y="4507992"/>
            <a:ext cx="41148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73" name="Shape 68"/>
          <p:cNvSpPr/>
          <p:nvPr/>
        </p:nvSpPr>
        <p:spPr>
          <a:xfrm>
            <a:off x="950976" y="4626864"/>
            <a:ext cx="365760" cy="36576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7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" y="4718304"/>
            <a:ext cx="182880" cy="182880"/>
          </a:xfrm>
          <a:prstGeom prst="rect">
            <a:avLst/>
          </a:prstGeom>
        </p:spPr>
      </p:pic>
      <p:sp>
        <p:nvSpPr>
          <p:cNvPr id="75" name="Shape 69"/>
          <p:cNvSpPr/>
          <p:nvPr/>
        </p:nvSpPr>
        <p:spPr>
          <a:xfrm>
            <a:off x="1444752" y="4590288"/>
            <a:ext cx="114300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76" name="Text 70"/>
          <p:cNvSpPr/>
          <p:nvPr/>
        </p:nvSpPr>
        <p:spPr>
          <a:xfrm>
            <a:off x="1444752" y="4590288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일상·감성 꾸준</a:t>
            </a:r>
            <a:endParaRPr lang="en-US" sz="750" dirty="0"/>
          </a:p>
        </p:txBody>
      </p:sp>
      <p:sp>
        <p:nvSpPr>
          <p:cNvPr id="77" name="Text 71"/>
          <p:cNvSpPr/>
          <p:nvPr/>
        </p:nvSpPr>
        <p:spPr>
          <a:xfrm>
            <a:off x="1444752" y="478231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기록·감성 글은 꾸준하고,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캐릭터가 블로그 상황을 연기하는 방식 확산</a:t>
            </a:r>
            <a:endParaRPr lang="en-US" sz="900" dirty="0"/>
          </a:p>
        </p:txBody>
      </p:sp>
      <p:sp>
        <p:nvSpPr>
          <p:cNvPr id="78" name="Shape 72"/>
          <p:cNvSpPr/>
          <p:nvPr/>
        </p:nvSpPr>
        <p:spPr>
          <a:xfrm>
            <a:off x="5038344" y="4709160"/>
            <a:ext cx="256032" cy="201168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79" name="Shape 73"/>
          <p:cNvSpPr/>
          <p:nvPr/>
        </p:nvSpPr>
        <p:spPr>
          <a:xfrm>
            <a:off x="5394960" y="4507992"/>
            <a:ext cx="6336792" cy="603504"/>
          </a:xfrm>
          <a:prstGeom prst="roundRect">
            <a:avLst>
              <a:gd name="adj" fmla="val 12121"/>
            </a:avLst>
          </a:prstGeom>
          <a:solidFill>
            <a:srgbClr val="F2F8F3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80" name="Shape 74"/>
          <p:cNvSpPr/>
          <p:nvPr/>
        </p:nvSpPr>
        <p:spPr>
          <a:xfrm>
            <a:off x="5504688" y="4590288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81" name="Text 75"/>
          <p:cNvSpPr/>
          <p:nvPr/>
        </p:nvSpPr>
        <p:spPr>
          <a:xfrm>
            <a:off x="5504688" y="459028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750" dirty="0"/>
          </a:p>
        </p:txBody>
      </p:sp>
      <p:sp>
        <p:nvSpPr>
          <p:cNvPr id="82" name="Text 76"/>
          <p:cNvSpPr/>
          <p:nvPr/>
        </p:nvSpPr>
        <p:spPr>
          <a:xfrm>
            <a:off x="6035040" y="45628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‘블로거인 캐릭터’ 시리즈</a:t>
            </a:r>
            <a:endParaRPr lang="en-US" sz="1100" dirty="0"/>
          </a:p>
        </p:txBody>
      </p:sp>
      <p:sp>
        <p:nvSpPr>
          <p:cNvPr id="83" name="Text 77"/>
          <p:cNvSpPr/>
          <p:nvPr/>
        </p:nvSpPr>
        <p:spPr>
          <a:xfrm>
            <a:off x="5504688" y="480974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귀여운 캐릭터 하나를 정하고 리뷰편·일상편·근황편으로 이어가기 — 시리즈가 롱런을 만듭니다</a:t>
            </a:r>
            <a:endParaRPr lang="en-US" sz="800" dirty="0"/>
          </a:p>
        </p:txBody>
      </p:sp>
      <p:sp>
        <p:nvSpPr>
          <p:cNvPr id="84" name="Shape 78"/>
          <p:cNvSpPr/>
          <p:nvPr/>
        </p:nvSpPr>
        <p:spPr>
          <a:xfrm>
            <a:off x="9601200" y="4581144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85" name="Text 79"/>
          <p:cNvSpPr/>
          <p:nvPr/>
        </p:nvSpPr>
        <p:spPr>
          <a:xfrm>
            <a:off x="9601200" y="4581144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오늘도 기록 완료</a:t>
            </a:r>
            <a:endParaRPr lang="en-US" sz="750" dirty="0"/>
          </a:p>
        </p:txBody>
      </p:sp>
      <p:sp>
        <p:nvSpPr>
          <p:cNvPr id="86" name="Shape 80"/>
          <p:cNvSpPr/>
          <p:nvPr/>
        </p:nvSpPr>
        <p:spPr>
          <a:xfrm>
            <a:off x="10680192" y="4581144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87" name="Text 81"/>
          <p:cNvSpPr/>
          <p:nvPr/>
        </p:nvSpPr>
        <p:spPr>
          <a:xfrm>
            <a:off x="10680192" y="4581144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포스팅 밀림</a:t>
            </a:r>
            <a:endParaRPr lang="en-US" sz="750" dirty="0"/>
          </a:p>
        </p:txBody>
      </p:sp>
      <p:sp>
        <p:nvSpPr>
          <p:cNvPr id="88" name="Shape 82"/>
          <p:cNvSpPr/>
          <p:nvPr/>
        </p:nvSpPr>
        <p:spPr>
          <a:xfrm>
            <a:off x="9601200" y="4837176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89" name="Text 83"/>
          <p:cNvSpPr/>
          <p:nvPr/>
        </p:nvSpPr>
        <p:spPr>
          <a:xfrm>
            <a:off x="9601200" y="4837176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 방문 감사</a:t>
            </a:r>
            <a:endParaRPr lang="en-US" sz="750" dirty="0"/>
          </a:p>
        </p:txBody>
      </p:sp>
      <p:sp>
        <p:nvSpPr>
          <p:cNvPr id="90" name="Shape 84"/>
          <p:cNvSpPr/>
          <p:nvPr/>
        </p:nvSpPr>
        <p:spPr>
          <a:xfrm>
            <a:off x="10680192" y="4837176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91" name="Text 85"/>
          <p:cNvSpPr/>
          <p:nvPr/>
        </p:nvSpPr>
        <p:spPr>
          <a:xfrm>
            <a:off x="10680192" y="4837176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블태기</a:t>
            </a:r>
            <a:endParaRPr lang="en-US" sz="750" dirty="0"/>
          </a:p>
        </p:txBody>
      </p:sp>
      <p:sp>
        <p:nvSpPr>
          <p:cNvPr id="92" name="Shape 86"/>
          <p:cNvSpPr/>
          <p:nvPr/>
        </p:nvSpPr>
        <p:spPr>
          <a:xfrm>
            <a:off x="822960" y="5175504"/>
            <a:ext cx="41148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93" name="Shape 87"/>
          <p:cNvSpPr/>
          <p:nvPr/>
        </p:nvSpPr>
        <p:spPr>
          <a:xfrm>
            <a:off x="950976" y="5294376"/>
            <a:ext cx="365760" cy="36576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9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5385816"/>
            <a:ext cx="182880" cy="182880"/>
          </a:xfrm>
          <a:prstGeom prst="rect">
            <a:avLst/>
          </a:prstGeom>
        </p:spPr>
      </p:pic>
      <p:sp>
        <p:nvSpPr>
          <p:cNvPr id="95" name="Shape 88"/>
          <p:cNvSpPr/>
          <p:nvPr/>
        </p:nvSpPr>
        <p:spPr>
          <a:xfrm>
            <a:off x="1444752" y="5257800"/>
            <a:ext cx="114300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96" name="Text 89"/>
          <p:cNvSpPr/>
          <p:nvPr/>
        </p:nvSpPr>
        <p:spPr>
          <a:xfrm>
            <a:off x="1444752" y="525780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틈새 · 숏폼</a:t>
            </a:r>
            <a:endParaRPr lang="en-US" sz="750" dirty="0"/>
          </a:p>
        </p:txBody>
      </p:sp>
      <p:sp>
        <p:nvSpPr>
          <p:cNvPr id="97" name="Text 90"/>
          <p:cNvSpPr/>
          <p:nvPr/>
        </p:nvSpPr>
        <p:spPr>
          <a:xfrm>
            <a:off x="1444752" y="544982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밈·유머는 공급이 적고 수요는 큼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클립(숏폼) 삽입 포스팅 증가</a:t>
            </a:r>
            <a:endParaRPr lang="en-US" sz="900" dirty="0"/>
          </a:p>
        </p:txBody>
      </p:sp>
      <p:sp>
        <p:nvSpPr>
          <p:cNvPr id="98" name="Shape 91"/>
          <p:cNvSpPr/>
          <p:nvPr/>
        </p:nvSpPr>
        <p:spPr>
          <a:xfrm>
            <a:off x="5038344" y="5376672"/>
            <a:ext cx="256032" cy="201168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99" name="Shape 92"/>
          <p:cNvSpPr/>
          <p:nvPr/>
        </p:nvSpPr>
        <p:spPr>
          <a:xfrm>
            <a:off x="5394960" y="5175504"/>
            <a:ext cx="6336792" cy="603504"/>
          </a:xfrm>
          <a:prstGeom prst="roundRect">
            <a:avLst>
              <a:gd name="adj" fmla="val 12121"/>
            </a:avLst>
          </a:prstGeom>
          <a:solidFill>
            <a:srgbClr val="F2F8F3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100" name="Shape 93"/>
          <p:cNvSpPr/>
          <p:nvPr/>
        </p:nvSpPr>
        <p:spPr>
          <a:xfrm>
            <a:off x="5504688" y="5257800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01" name="Text 94"/>
          <p:cNvSpPr/>
          <p:nvPr/>
        </p:nvSpPr>
        <p:spPr>
          <a:xfrm>
            <a:off x="5504688" y="52578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750" dirty="0"/>
          </a:p>
        </p:txBody>
      </p:sp>
      <p:sp>
        <p:nvSpPr>
          <p:cNvPr id="102" name="Text 95"/>
          <p:cNvSpPr/>
          <p:nvPr/>
        </p:nvSpPr>
        <p:spPr>
          <a:xfrm>
            <a:off x="6035040" y="52303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블로거 밈 리액션 · 클립 안내형</a:t>
            </a:r>
            <a:endParaRPr lang="en-US" sz="1100" dirty="0"/>
          </a:p>
        </p:txBody>
      </p:sp>
      <p:sp>
        <p:nvSpPr>
          <p:cNvPr id="103" name="Text 96"/>
          <p:cNvSpPr/>
          <p:nvPr/>
        </p:nvSpPr>
        <p:spPr>
          <a:xfrm>
            <a:off x="5504688" y="547725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블로거끼리 통하는 상황 개그, 영상 삽입 글용 안내 스티커(이모티콘) — 경쟁이 적은 영역</a:t>
            </a:r>
            <a:endParaRPr lang="en-US" sz="800" dirty="0"/>
          </a:p>
        </p:txBody>
      </p:sp>
      <p:sp>
        <p:nvSpPr>
          <p:cNvPr id="104" name="Shape 97"/>
          <p:cNvSpPr/>
          <p:nvPr/>
        </p:nvSpPr>
        <p:spPr>
          <a:xfrm>
            <a:off x="9601200" y="5248656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105" name="Text 98"/>
          <p:cNvSpPr/>
          <p:nvPr/>
        </p:nvSpPr>
        <p:spPr>
          <a:xfrm>
            <a:off x="9601200" y="5248656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품절 대란</a:t>
            </a:r>
            <a:endParaRPr lang="en-US" sz="750" dirty="0"/>
          </a:p>
        </p:txBody>
      </p:sp>
      <p:sp>
        <p:nvSpPr>
          <p:cNvPr id="106" name="Shape 99"/>
          <p:cNvSpPr/>
          <p:nvPr/>
        </p:nvSpPr>
        <p:spPr>
          <a:xfrm>
            <a:off x="10680192" y="5248656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107" name="Text 100"/>
          <p:cNvSpPr/>
          <p:nvPr/>
        </p:nvSpPr>
        <p:spPr>
          <a:xfrm>
            <a:off x="10680192" y="5248656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포스팅 지옥</a:t>
            </a:r>
            <a:endParaRPr lang="en-US" sz="750" dirty="0"/>
          </a:p>
        </p:txBody>
      </p:sp>
      <p:sp>
        <p:nvSpPr>
          <p:cNvPr id="108" name="Shape 101"/>
          <p:cNvSpPr/>
          <p:nvPr/>
        </p:nvSpPr>
        <p:spPr>
          <a:xfrm>
            <a:off x="9601200" y="5504688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109" name="Text 102"/>
          <p:cNvSpPr/>
          <p:nvPr/>
        </p:nvSpPr>
        <p:spPr>
          <a:xfrm>
            <a:off x="9601200" y="5504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영상으로 보기</a:t>
            </a:r>
            <a:endParaRPr lang="en-US" sz="750" dirty="0"/>
          </a:p>
        </p:txBody>
      </p:sp>
      <p:sp>
        <p:nvSpPr>
          <p:cNvPr id="110" name="Shape 103"/>
          <p:cNvSpPr/>
          <p:nvPr/>
        </p:nvSpPr>
        <p:spPr>
          <a:xfrm>
            <a:off x="10680192" y="5504688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111" name="Text 104"/>
          <p:cNvSpPr/>
          <p:nvPr/>
        </p:nvSpPr>
        <p:spPr>
          <a:xfrm>
            <a:off x="10680192" y="5504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클립 확인</a:t>
            </a:r>
            <a:endParaRPr lang="en-US" sz="750" dirty="0"/>
          </a:p>
        </p:txBody>
      </p:sp>
      <p:sp>
        <p:nvSpPr>
          <p:cNvPr id="112" name="Shape 105"/>
          <p:cNvSpPr/>
          <p:nvPr/>
        </p:nvSpPr>
        <p:spPr>
          <a:xfrm>
            <a:off x="822960" y="5961888"/>
            <a:ext cx="10908792" cy="365760"/>
          </a:xfrm>
          <a:prstGeom prst="roundRect">
            <a:avLst>
              <a:gd name="adj" fmla="val 2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13" name="Text 106"/>
          <p:cNvSpPr/>
          <p:nvPr/>
        </p:nvSpPr>
        <p:spPr>
          <a:xfrm>
            <a:off x="1005840" y="59618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선정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많이 사용하는 사용처의 트렌드를 참고하여 주제를 선정해 주세요.</a:t>
            </a:r>
            <a:endParaRPr lang="en-US" sz="1050" dirty="0"/>
          </a:p>
        </p:txBody>
      </p:sp>
      <p:sp>
        <p:nvSpPr>
          <p:cNvPr id="114" name="Text 107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24종 이미지 구성하기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스티커(이모티콘) 24종 이미지의 순서는 ‘블로그 글 한 편’의 순서로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블로그 이용자의 사용 패턴을 참고하여 스티커(이모티콘)를 구성해 보세요.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5486400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4884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순서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2569464"/>
            <a:ext cx="54864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" y="2660904"/>
            <a:ext cx="1051560" cy="420624"/>
          </a:xfrm>
          <a:prstGeom prst="roundRect">
            <a:avLst>
              <a:gd name="adj" fmla="val 17391"/>
            </a:avLst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266090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</a:t>
            </a:r>
            <a:pPr algn="ctr" indent="0" marL="0">
              <a:lnSpc>
                <a:spcPct val="105000"/>
              </a:lnSpc>
              <a:buNone/>
            </a:pP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1~4번 · 4장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03120" y="26334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글을 여는 장면. 마켓 미리보기에 가장 먼저 보이는 자리 — 세트의 대표 얼굴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103120" y="2916936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안녕하세요 · 오늘의 포스팅 · 시작합니다 · 목차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371600" y="3154680"/>
            <a:ext cx="164592" cy="109728"/>
          </a:xfrm>
          <a:prstGeom prst="down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3246120"/>
            <a:ext cx="54864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2688" y="3337560"/>
            <a:ext cx="1051560" cy="420624"/>
          </a:xfrm>
          <a:prstGeom prst="roundRect">
            <a:avLst>
              <a:gd name="adj" fmla="val 17391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33375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진행</a:t>
            </a:r>
            <a:pPr algn="ctr" indent="0" marL="0">
              <a:lnSpc>
                <a:spcPct val="105000"/>
              </a:lnSpc>
              <a:buNone/>
            </a:pP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5~12번 · 8장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103120" y="331012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이동·도착·정보·팁·사진 안내처럼 글 중간중간 끼우는 상황 스티커(이모티콘)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103120" y="359359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도착 · 정보 · TIP · 체크 · 사진 보기 · 잠깐 · 기록 중 · 다음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371600" y="3831336"/>
            <a:ext cx="164592" cy="109728"/>
          </a:xfrm>
          <a:prstGeom prst="down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3922776"/>
            <a:ext cx="54864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32688" y="4014216"/>
            <a:ext cx="1051560" cy="420624"/>
          </a:xfrm>
          <a:prstGeom prst="roundRect">
            <a:avLst>
              <a:gd name="adj" fmla="val 17391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2688" y="401421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리액션</a:t>
            </a:r>
            <a:pPr algn="ctr" indent="0" marL="0">
              <a:lnSpc>
                <a:spcPct val="105000"/>
              </a:lnSpc>
              <a:buNone/>
            </a:pP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13~18번 · 6장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103120" y="3986784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사건에 대한 반응. 긍정 3 : 부정 3, 강도는 3~4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103120" y="4270248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대박 · 최고 · 뿌듯 · 헉 · 피곤 · 당황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371600" y="4507992"/>
            <a:ext cx="164592" cy="109728"/>
          </a:xfrm>
          <a:prstGeom prst="down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2960" y="4599432"/>
            <a:ext cx="54864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32688" y="4690872"/>
            <a:ext cx="1051560" cy="420624"/>
          </a:xfrm>
          <a:prstGeom prst="roundRect">
            <a:avLst>
              <a:gd name="adj" fmla="val 17391"/>
            </a:avLst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2688" y="469087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판단·정리</a:t>
            </a:r>
            <a:pPr algn="ctr" indent="0" marL="0">
              <a:lnSpc>
                <a:spcPct val="105000"/>
              </a:lnSpc>
              <a:buNone/>
            </a:pP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19~22번 · 4장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103120" y="46634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글의 결론 칸. 추천/비추/보류를 한 장으로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103120" y="4946904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재방문 의사 100% · 패스 · 고민 중 · 총평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371600" y="5184648"/>
            <a:ext cx="164592" cy="109728"/>
          </a:xfrm>
          <a:prstGeom prst="down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" y="5276088"/>
            <a:ext cx="54864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32688" y="5367528"/>
            <a:ext cx="1051560" cy="420624"/>
          </a:xfrm>
          <a:prstGeom prst="roundRect">
            <a:avLst>
              <a:gd name="adj" fmla="val 17391"/>
            </a:avLst>
          </a:prstGeom>
          <a:solidFill>
            <a:srgbClr val="EAF0E8"/>
          </a:solidFill>
          <a:ln w="12700">
            <a:solidFill>
              <a:srgbClr val="EAF0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2688" y="536752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pPr algn="ctr" indent="0" marL="0">
              <a:lnSpc>
                <a:spcPct val="105000"/>
              </a:lnSpc>
              <a:buNone/>
            </a:pP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23~24번 · 2장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103120" y="534009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글을 닫는 인사. 댓글 답글에도 재사용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103120" y="562356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감사합니다 · 다음 포스팅에서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583680" y="2148840"/>
            <a:ext cx="5148072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83680" y="2148840"/>
            <a:ext cx="5148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24칸 배치도 (마켓 노출 순서 = 등록 순서)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675120" y="2569464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5120" y="256946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379208" y="2569464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79208" y="256946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083296" y="2569464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256946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8787384" y="2569464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787384" y="256946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491472" y="2569464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91472" y="256946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진행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0195560" y="2569464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195560" y="256946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675120" y="2999232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75120" y="299923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379208" y="2999232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379208" y="299923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8083296" y="2999232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083296" y="299923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8787384" y="2999232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787384" y="299923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9491472" y="2999232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491472" y="299923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195560" y="2999232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195560" y="299923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675120" y="3429000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675120" y="34290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6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리액션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379208" y="3429000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79208" y="34290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8083296" y="3429000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083296" y="34290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787384" y="3429000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787384" y="34290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491472" y="3429000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491472" y="34290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10195560" y="3429000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195560" y="34290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6675120" y="3858768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675120" y="385876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6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판단·정리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7379208" y="3858768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79208" y="385876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8083296" y="3858768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083296" y="385876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8787384" y="3858768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787384" y="385876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9491472" y="3858768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EAF0E8"/>
          </a:solidFill>
          <a:ln w="12700">
            <a:solidFill>
              <a:srgbClr val="EAF0E8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491472" y="385876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6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10195560" y="3858768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EAF0E8"/>
          </a:solidFill>
          <a:ln w="12700">
            <a:solidFill>
              <a:srgbClr val="EAF0E8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0195560" y="385876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6638544" y="2532888"/>
            <a:ext cx="2843784" cy="457200"/>
          </a:xfrm>
          <a:prstGeom prst="roundRect">
            <a:avLst>
              <a:gd name="adj" fmla="val 12000"/>
            </a:avLst>
          </a:prstGeom>
          <a:ln w="19050">
            <a:solidFill>
              <a:srgbClr val="E0632F"/>
            </a:solidFill>
            <a:prstDash val="dash"/>
          </a:ln>
        </p:spPr>
      </p:sp>
      <p:sp>
        <p:nvSpPr>
          <p:cNvPr id="90" name="Text 88"/>
          <p:cNvSpPr/>
          <p:nvPr/>
        </p:nvSpPr>
        <p:spPr>
          <a:xfrm>
            <a:off x="10917936" y="255117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E06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◀ 1~4번 이미지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E06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선택의 첫인상</a:t>
            </a:r>
            <a:endParaRPr lang="en-US" sz="750" dirty="0"/>
          </a:p>
        </p:txBody>
      </p:sp>
      <p:sp>
        <p:nvSpPr>
          <p:cNvPr id="91" name="Text 89"/>
          <p:cNvSpPr/>
          <p:nvPr/>
        </p:nvSpPr>
        <p:spPr>
          <a:xfrm>
            <a:off x="6583680" y="4398264"/>
            <a:ext cx="5148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규칙 4가지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6583680" y="4617720"/>
            <a:ext cx="5148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</a:t>
            </a:r>
            <a:pPr indent="0" marL="0">
              <a:buNone/>
            </a:pPr>
            <a:r>
              <a:rPr lang="en-US" sz="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1~4번 도입 이미지 장면  </a:t>
            </a:r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먼저 보이는 자리. 세트의 핵심 용도(리뷰·인사) 및 대표 이미지 세팅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6583680" y="4846320"/>
            <a:ext cx="5148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</a:t>
            </a:r>
            <a:pPr indent="0" marL="0">
              <a:buNone/>
            </a:pPr>
            <a:r>
              <a:rPr lang="en-US" sz="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구간은 붙여서  </a:t>
            </a:r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감정끼리, 정보끼리 모여 있어야 글 쓰다가 바로 찾음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6583680" y="5074920"/>
            <a:ext cx="5148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</a:t>
            </a:r>
            <a:pPr indent="0" marL="0">
              <a:buNone/>
            </a:pPr>
            <a:r>
              <a:rPr lang="en-US" sz="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긍정·부정은 짝으로 나란히  </a:t>
            </a:r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‘대박’ 옆에 ‘헉’, ‘추천’ 옆에 ‘패스’ — 선택지가 한 화면에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6583680" y="5303520"/>
            <a:ext cx="5148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</a:t>
            </a:r>
            <a:pPr indent="0" marL="0">
              <a:buNone/>
            </a:pPr>
            <a:r>
              <a:rPr lang="en-US" sz="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장은 항상 인사  </a:t>
            </a:r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24번 = 글 닫는 문구. 댓글·답글에서 가장 자주 재사용됨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822960" y="5961888"/>
            <a:ext cx="10908792" cy="365760"/>
          </a:xfrm>
          <a:prstGeom prst="roundRect">
            <a:avLst>
              <a:gd name="adj" fmla="val 2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05840" y="59618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24종 이미지 구성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입장에서 어떤 용도로 어떻게 사용할지를 전략적으로 구상해 보세요.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 및 홍보 전략 세우기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블로그 작성 시간에 스티커(이모티콘) 구매까지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예약 기능을 통해 주요 매출 발생 시간, 시즌에 맞춰 출시 예약을 설정할 수 있습니다. 전략적으로 이용해 보세요.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5852160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4884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시간대별 매출 비중 (%)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60120" y="4526280"/>
            <a:ext cx="5577840" cy="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4278" y="3511296"/>
            <a:ext cx="144094" cy="1014984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236688" y="3827069"/>
            <a:ext cx="144094" cy="699211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9253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469098" y="4097731"/>
            <a:ext cx="144094" cy="428549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2494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701508" y="4233062"/>
            <a:ext cx="144094" cy="293218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5735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1933918" y="4323283"/>
            <a:ext cx="144094" cy="202997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8976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2166328" y="4390949"/>
            <a:ext cx="144094" cy="135331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2217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030730" y="4244645"/>
            <a:ext cx="41529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398738" y="4345838"/>
            <a:ext cx="144094" cy="180442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35458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631148" y="4233062"/>
            <a:ext cx="144094" cy="293218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8699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2863558" y="4052621"/>
            <a:ext cx="144094" cy="473659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1940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095968" y="3736848"/>
            <a:ext cx="144094" cy="789432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05181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3328378" y="3578962"/>
            <a:ext cx="144094" cy="947318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8422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3560788" y="3398520"/>
            <a:ext cx="144094" cy="1127760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51663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3793198" y="3398520"/>
            <a:ext cx="144094" cy="1127760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4904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025608" y="3263189"/>
            <a:ext cx="144094" cy="1263091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8145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258018" y="3127858"/>
            <a:ext cx="144094" cy="1398422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1386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4490428" y="3127858"/>
            <a:ext cx="144094" cy="1398422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627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4722838" y="3082747"/>
            <a:ext cx="144094" cy="1443533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7868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955248" y="3150413"/>
            <a:ext cx="144094" cy="1375867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1109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5187658" y="3240634"/>
            <a:ext cx="144094" cy="1285646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14350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420068" y="3308299"/>
            <a:ext cx="144094" cy="1217981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7591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5652478" y="3285744"/>
            <a:ext cx="144094" cy="1240536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60832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5884888" y="3105302"/>
            <a:ext cx="144094" cy="1420978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4073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6117298" y="3037637"/>
            <a:ext cx="144094" cy="1488643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07314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5981700" y="2891333"/>
            <a:ext cx="41529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6.6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6349708" y="3218078"/>
            <a:ext cx="144094" cy="1308202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555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3963162" y="2816352"/>
            <a:ext cx="2593086" cy="1728216"/>
          </a:xfrm>
          <a:prstGeom prst="roundRect">
            <a:avLst>
              <a:gd name="adj" fmla="val 2646"/>
            </a:avLst>
          </a:prstGeom>
          <a:ln w="12700">
            <a:solidFill>
              <a:srgbClr val="E0632F"/>
            </a:solidFill>
            <a:prstDash val="dash"/>
          </a:ln>
        </p:spPr>
      </p:sp>
      <p:sp>
        <p:nvSpPr>
          <p:cNvPr id="62" name="Text 60"/>
          <p:cNvSpPr/>
          <p:nvPr/>
        </p:nvSpPr>
        <p:spPr>
          <a:xfrm>
            <a:off x="3067050" y="2633472"/>
            <a:ext cx="347091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E06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13~23시 집중 구간 — 하루 매출의 약 2/3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822960" y="4709160"/>
            <a:ext cx="2743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가로축: 시 (0~23시)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6839712" y="2148840"/>
            <a:ext cx="4892040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839712" y="2148840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요일별 매출 비중 (%)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7022592" y="4526280"/>
            <a:ext cx="4526280" cy="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151914" y="3050794"/>
            <a:ext cx="387967" cy="1475486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022592" y="2886202"/>
            <a:ext cx="6466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15.7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7022592" y="4544568"/>
            <a:ext cx="6466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798526" y="3069590"/>
            <a:ext cx="387967" cy="1456690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669203" y="2904998"/>
            <a:ext cx="6466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15.5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7669203" y="4544568"/>
            <a:ext cx="6466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8445137" y="3182366"/>
            <a:ext cx="387967" cy="1343914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315815" y="3017774"/>
            <a:ext cx="6466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14.3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8315815" y="4544568"/>
            <a:ext cx="6466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091749" y="3088386"/>
            <a:ext cx="387967" cy="1437894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962426" y="2923794"/>
            <a:ext cx="6466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15.3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8962426" y="4544568"/>
            <a:ext cx="6466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9738360" y="3069590"/>
            <a:ext cx="387967" cy="1456690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609038" y="2904998"/>
            <a:ext cx="6466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15.5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9609038" y="4544568"/>
            <a:ext cx="6466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10384971" y="3454908"/>
            <a:ext cx="387967" cy="1071372"/>
          </a:xfrm>
          <a:prstGeom prst="rect">
            <a:avLst/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0255649" y="3290316"/>
            <a:ext cx="6466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10255649" y="4544568"/>
            <a:ext cx="6466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11031583" y="3379724"/>
            <a:ext cx="387967" cy="1146556"/>
          </a:xfrm>
          <a:prstGeom prst="rect">
            <a:avLst/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0902261" y="3215132"/>
            <a:ext cx="6466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12.2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10902261" y="4544568"/>
            <a:ext cx="6466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6839712" y="4709160"/>
            <a:ext cx="4892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평일 76.3%  ·  주말 23.6%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822960" y="49560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하반기 시즌 캘린더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822960" y="5193792"/>
            <a:ext cx="2606040" cy="658368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60120" y="522122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2011680" y="522122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E06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말 ~ 9월 초 등록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960120" y="540410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추석 연휴(9/24~26) 귀성·여행 · 개학 · 가을 시작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960120" y="5632704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명절 인사 · 여행 리뷰 · 가을 감성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3589934" y="5193792"/>
            <a:ext cx="2606040" cy="658368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727094" y="522122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10월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4778654" y="522122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E06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중순 등록</a:t>
            </a:r>
            <a:endParaRPr lang="en-US" sz="750" dirty="0"/>
          </a:p>
        </p:txBody>
      </p:sp>
      <p:sp>
        <p:nvSpPr>
          <p:cNvPr id="98" name="Text 96"/>
          <p:cNvSpPr/>
          <p:nvPr/>
        </p:nvSpPr>
        <p:spPr>
          <a:xfrm>
            <a:off x="3727094" y="540410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단풍 나들이 · 가을 축제 · 한글날 · 할로윈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3727094" y="5632704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나들이 상황 · 축제 후기 · 할로윈 리액션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356909" y="5193792"/>
            <a:ext cx="2606040" cy="658368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494069" y="522122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11월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7545629" y="522122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E06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10월 중순 등록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6494069" y="540410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수능(11/19) 응원 · 빼빼로데이 · 쇼핑 세일 후기</a:t>
            </a:r>
            <a:endParaRPr lang="en-US" sz="800" dirty="0"/>
          </a:p>
        </p:txBody>
      </p:sp>
      <p:sp>
        <p:nvSpPr>
          <p:cNvPr id="104" name="Text 102"/>
          <p:cNvSpPr/>
          <p:nvPr/>
        </p:nvSpPr>
        <p:spPr>
          <a:xfrm>
            <a:off x="6494069" y="5632704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응원 문구 · 쇼핑 리뷰 · 내돈내산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9123883" y="5193792"/>
            <a:ext cx="2606040" cy="658368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9261043" y="522122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12월</a:t>
            </a:r>
            <a:endParaRPr lang="en-US" sz="1000" dirty="0"/>
          </a:p>
        </p:txBody>
      </p:sp>
      <p:sp>
        <p:nvSpPr>
          <p:cNvPr id="107" name="Text 105"/>
          <p:cNvSpPr/>
          <p:nvPr/>
        </p:nvSpPr>
        <p:spPr>
          <a:xfrm>
            <a:off x="10312603" y="522122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E06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11월 중순 등록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9261043" y="540410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크리스마스 · 연말 결산 · 송년 인사 · 새해 준비</a:t>
            </a:r>
            <a:endParaRPr lang="en-US" sz="800" dirty="0"/>
          </a:p>
        </p:txBody>
      </p:sp>
      <p:sp>
        <p:nvSpPr>
          <p:cNvPr id="109" name="Text 107"/>
          <p:cNvSpPr/>
          <p:nvPr/>
        </p:nvSpPr>
        <p:spPr>
          <a:xfrm>
            <a:off x="9261043" y="5632704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감사·송년 인사 · 회고 문구 · 새해 계획</a:t>
            </a:r>
            <a:endParaRPr lang="en-US" sz="800" dirty="0"/>
          </a:p>
        </p:txBody>
      </p:sp>
      <p:sp>
        <p:nvSpPr>
          <p:cNvPr id="110" name="Shape 108"/>
          <p:cNvSpPr/>
          <p:nvPr/>
        </p:nvSpPr>
        <p:spPr>
          <a:xfrm>
            <a:off x="822960" y="5961888"/>
            <a:ext cx="10908792" cy="365760"/>
          </a:xfrm>
          <a:prstGeom prst="roundRect">
            <a:avLst>
              <a:gd name="adj" fmla="val 2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05840" y="59618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출시·홍보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예약 기능을 이용하여 전략적인 출시와 홍보를 도전해 보세요.</a:t>
            </a:r>
            <a:endParaRPr lang="en-US" sz="1050" dirty="0"/>
          </a:p>
        </p:txBody>
      </p:sp>
      <p:sp>
        <p:nvSpPr>
          <p:cNvPr id="112" name="Text 110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플레이북 핵심 내용 요약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플레이북 요약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플레이북으로 안내해 드린 방법을 참고해 주세요.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60804" y="2203704"/>
            <a:ext cx="8833104" cy="0"/>
          </a:xfrm>
          <a:prstGeom prst="line">
            <a:avLst/>
          </a:prstGeom>
          <a:noFill/>
          <a:ln w="19050">
            <a:solidFill>
              <a:srgbClr val="C5D6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78508" y="2121408"/>
            <a:ext cx="164592" cy="164592"/>
          </a:xfrm>
          <a:prstGeom prst="ellipse">
            <a:avLst/>
          </a:prstGeom>
          <a:solidFill>
            <a:srgbClr val="3C6E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331720"/>
            <a:ext cx="2075688" cy="3310128"/>
          </a:xfrm>
          <a:prstGeom prst="roundRect">
            <a:avLst>
              <a:gd name="adj" fmla="val 5286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331720"/>
            <a:ext cx="1801368" cy="45720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7552" y="24963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C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81328" y="2496312"/>
            <a:ext cx="886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331720" y="2459736"/>
            <a:ext cx="402336" cy="402336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2304" y="2560320"/>
            <a:ext cx="201168" cy="20116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60120" y="2971800"/>
            <a:ext cx="1801368" cy="566928"/>
          </a:xfrm>
          <a:prstGeom prst="roundRect">
            <a:avLst>
              <a:gd name="adj" fmla="val 9677"/>
            </a:avLst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05840" y="2971800"/>
            <a:ext cx="1709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매출 스티커(이모티콘) 탐색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987552" y="3657600"/>
            <a:ext cx="1746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인기 차트를 통해 실제 NAVER OGQ마켓에서 인기 있는 콘텐츠를 확인해 보세요.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60120" y="45262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69848" y="46634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43584" y="45262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인기 차트 확인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60120" y="49834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69848" y="51206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243584" y="49834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유입, 핵심 키워드 확인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2916936" y="3904488"/>
            <a:ext cx="91440" cy="164592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986784" y="2121408"/>
            <a:ext cx="164592" cy="164592"/>
          </a:xfrm>
          <a:prstGeom prst="ellipse">
            <a:avLst/>
          </a:prstGeom>
          <a:solidFill>
            <a:srgbClr val="3C6E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031236" y="2331720"/>
            <a:ext cx="2075688" cy="3310128"/>
          </a:xfrm>
          <a:prstGeom prst="roundRect">
            <a:avLst>
              <a:gd name="adj" fmla="val 5286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168396" y="2331720"/>
            <a:ext cx="1801368" cy="45720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195828" y="24963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C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3689604" y="2496312"/>
            <a:ext cx="886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콘텐츠 분석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39996" y="2459736"/>
            <a:ext cx="402336" cy="402336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580" y="2560320"/>
            <a:ext cx="201168" cy="201168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3168396" y="2971800"/>
            <a:ext cx="1801368" cy="566928"/>
          </a:xfrm>
          <a:prstGeom prst="roundRect">
            <a:avLst>
              <a:gd name="adj" fmla="val 9677"/>
            </a:avLst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3214116" y="2971800"/>
            <a:ext cx="1709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25 상세 분석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195828" y="3657600"/>
            <a:ext cx="1746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매출 상위 콘텐츠를 분석하여 이모티콘 제작에 참고해 주세요.</a:t>
            </a:r>
            <a:endParaRPr lang="en-US" sz="950" dirty="0"/>
          </a:p>
        </p:txBody>
      </p:sp>
      <p:sp>
        <p:nvSpPr>
          <p:cNvPr id="36" name="Shape 32"/>
          <p:cNvSpPr/>
          <p:nvPr/>
        </p:nvSpPr>
        <p:spPr>
          <a:xfrm>
            <a:off x="3168396" y="45262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3278124" y="46634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3451860" y="45262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유형별 매출 확인</a:t>
            </a:r>
            <a:endParaRPr lang="en-US" sz="900" dirty="0"/>
          </a:p>
        </p:txBody>
      </p:sp>
      <p:sp>
        <p:nvSpPr>
          <p:cNvPr id="39" name="Shape 35"/>
          <p:cNvSpPr/>
          <p:nvPr/>
        </p:nvSpPr>
        <p:spPr>
          <a:xfrm>
            <a:off x="3168396" y="49834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3278124" y="51206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3451860" y="49834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속성별 데이터 확인</a:t>
            </a:r>
            <a:endParaRPr lang="en-US" sz="900" dirty="0"/>
          </a:p>
        </p:txBody>
      </p:sp>
      <p:sp>
        <p:nvSpPr>
          <p:cNvPr id="42" name="Shape 38"/>
          <p:cNvSpPr/>
          <p:nvPr/>
        </p:nvSpPr>
        <p:spPr>
          <a:xfrm>
            <a:off x="5125212" y="3904488"/>
            <a:ext cx="91440" cy="164592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6195060" y="2121408"/>
            <a:ext cx="164592" cy="164592"/>
          </a:xfrm>
          <a:prstGeom prst="ellipse">
            <a:avLst/>
          </a:prstGeom>
          <a:solidFill>
            <a:srgbClr val="3C6E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239512" y="2331720"/>
            <a:ext cx="2075688" cy="3310128"/>
          </a:xfrm>
          <a:prstGeom prst="roundRect">
            <a:avLst>
              <a:gd name="adj" fmla="val 5286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5376672" y="2331720"/>
            <a:ext cx="1801368" cy="45720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5404104" y="24963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C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47" name="Text 43"/>
          <p:cNvSpPr/>
          <p:nvPr/>
        </p:nvSpPr>
        <p:spPr>
          <a:xfrm>
            <a:off x="5897880" y="2496312"/>
            <a:ext cx="886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선정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6748272" y="2459736"/>
            <a:ext cx="402336" cy="402336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4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8856" y="2560320"/>
            <a:ext cx="201168" cy="201168"/>
          </a:xfrm>
          <a:prstGeom prst="rect">
            <a:avLst/>
          </a:prstGeom>
        </p:spPr>
      </p:pic>
      <p:sp>
        <p:nvSpPr>
          <p:cNvPr id="50" name="Shape 45"/>
          <p:cNvSpPr/>
          <p:nvPr/>
        </p:nvSpPr>
        <p:spPr>
          <a:xfrm>
            <a:off x="5376672" y="2971800"/>
            <a:ext cx="1801368" cy="566928"/>
          </a:xfrm>
          <a:prstGeom prst="roundRect">
            <a:avLst>
              <a:gd name="adj" fmla="val 9677"/>
            </a:avLst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422392" y="2971800"/>
            <a:ext cx="1709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스티커(이모티콘) 주제 탐색</a:t>
            </a:r>
            <a:endParaRPr lang="en-US" sz="1150" dirty="0"/>
          </a:p>
        </p:txBody>
      </p:sp>
      <p:sp>
        <p:nvSpPr>
          <p:cNvPr id="52" name="Text 47"/>
          <p:cNvSpPr/>
          <p:nvPr/>
        </p:nvSpPr>
        <p:spPr>
          <a:xfrm>
            <a:off x="5404104" y="3657600"/>
            <a:ext cx="1746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많이 사용하는 사용처의 트렌드를 참고하여 주제를 선정해 주세요.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5376672" y="45262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5486400" y="46634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5660136" y="45262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블로그 트렌드</a:t>
            </a:r>
            <a:endParaRPr lang="en-US" sz="900" dirty="0"/>
          </a:p>
        </p:txBody>
      </p:sp>
      <p:sp>
        <p:nvSpPr>
          <p:cNvPr id="56" name="Shape 51"/>
          <p:cNvSpPr/>
          <p:nvPr/>
        </p:nvSpPr>
        <p:spPr>
          <a:xfrm>
            <a:off x="5376672" y="49834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5486400" y="51206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5660136" y="49834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블로그 트렌드에 따른 스티커(이모티콘)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7333488" y="3904488"/>
            <a:ext cx="91440" cy="164592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8403336" y="2121408"/>
            <a:ext cx="164592" cy="164592"/>
          </a:xfrm>
          <a:prstGeom prst="ellipse">
            <a:avLst/>
          </a:prstGeom>
          <a:solidFill>
            <a:srgbClr val="3C6E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Shape 56"/>
          <p:cNvSpPr/>
          <p:nvPr/>
        </p:nvSpPr>
        <p:spPr>
          <a:xfrm>
            <a:off x="7447788" y="2331720"/>
            <a:ext cx="2075688" cy="3310128"/>
          </a:xfrm>
          <a:prstGeom prst="roundRect">
            <a:avLst>
              <a:gd name="adj" fmla="val 5286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62" name="Shape 57"/>
          <p:cNvSpPr/>
          <p:nvPr/>
        </p:nvSpPr>
        <p:spPr>
          <a:xfrm>
            <a:off x="7584948" y="2331720"/>
            <a:ext cx="1801368" cy="45720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7612380" y="24963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C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64" name="Text 59"/>
          <p:cNvSpPr/>
          <p:nvPr/>
        </p:nvSpPr>
        <p:spPr>
          <a:xfrm>
            <a:off x="8106156" y="2496312"/>
            <a:ext cx="886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24종 구성</a:t>
            </a:r>
            <a:endParaRPr lang="en-US" sz="1100" dirty="0"/>
          </a:p>
        </p:txBody>
      </p:sp>
      <p:sp>
        <p:nvSpPr>
          <p:cNvPr id="65" name="Shape 60"/>
          <p:cNvSpPr/>
          <p:nvPr/>
        </p:nvSpPr>
        <p:spPr>
          <a:xfrm>
            <a:off x="8956548" y="2459736"/>
            <a:ext cx="402336" cy="402336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6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7132" y="2560320"/>
            <a:ext cx="201168" cy="201168"/>
          </a:xfrm>
          <a:prstGeom prst="rect">
            <a:avLst/>
          </a:prstGeom>
        </p:spPr>
      </p:pic>
      <p:sp>
        <p:nvSpPr>
          <p:cNvPr id="67" name="Shape 61"/>
          <p:cNvSpPr/>
          <p:nvPr/>
        </p:nvSpPr>
        <p:spPr>
          <a:xfrm>
            <a:off x="7584948" y="2971800"/>
            <a:ext cx="1801368" cy="566928"/>
          </a:xfrm>
          <a:prstGeom prst="roundRect">
            <a:avLst>
              <a:gd name="adj" fmla="val 9677"/>
            </a:avLst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68" name="Text 62"/>
          <p:cNvSpPr/>
          <p:nvPr/>
        </p:nvSpPr>
        <p:spPr>
          <a:xfrm>
            <a:off x="7630668" y="2971800"/>
            <a:ext cx="1709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환경과 구성</a:t>
            </a:r>
            <a:endParaRPr lang="en-US" sz="1150" dirty="0"/>
          </a:p>
        </p:txBody>
      </p:sp>
      <p:sp>
        <p:nvSpPr>
          <p:cNvPr id="69" name="Text 63"/>
          <p:cNvSpPr/>
          <p:nvPr/>
        </p:nvSpPr>
        <p:spPr>
          <a:xfrm>
            <a:off x="7612380" y="3657600"/>
            <a:ext cx="1746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입장에서 어떤 용도로 어떻게 사용할지를 전략적으로 구상해 보세요.</a:t>
            </a:r>
            <a:endParaRPr lang="en-US" sz="950" dirty="0"/>
          </a:p>
        </p:txBody>
      </p:sp>
      <p:sp>
        <p:nvSpPr>
          <p:cNvPr id="70" name="Shape 64"/>
          <p:cNvSpPr/>
          <p:nvPr/>
        </p:nvSpPr>
        <p:spPr>
          <a:xfrm>
            <a:off x="7584948" y="45262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71" name="Shape 65"/>
          <p:cNvSpPr/>
          <p:nvPr/>
        </p:nvSpPr>
        <p:spPr>
          <a:xfrm>
            <a:off x="7694676" y="46634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72" name="Text 66"/>
          <p:cNvSpPr/>
          <p:nvPr/>
        </p:nvSpPr>
        <p:spPr>
          <a:xfrm>
            <a:off x="7868412" y="45262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포스팅 흐름에 따른 배치</a:t>
            </a:r>
            <a:endParaRPr lang="en-US" sz="900" dirty="0"/>
          </a:p>
        </p:txBody>
      </p:sp>
      <p:sp>
        <p:nvSpPr>
          <p:cNvPr id="73" name="Shape 67"/>
          <p:cNvSpPr/>
          <p:nvPr/>
        </p:nvSpPr>
        <p:spPr>
          <a:xfrm>
            <a:off x="7584948" y="49834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74" name="Shape 68"/>
          <p:cNvSpPr/>
          <p:nvPr/>
        </p:nvSpPr>
        <p:spPr>
          <a:xfrm>
            <a:off x="7694676" y="51206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75" name="Text 69"/>
          <p:cNvSpPr/>
          <p:nvPr/>
        </p:nvSpPr>
        <p:spPr>
          <a:xfrm>
            <a:off x="7868412" y="49834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24칸 배치도</a:t>
            </a:r>
            <a:endParaRPr lang="en-US" sz="900" dirty="0"/>
          </a:p>
        </p:txBody>
      </p:sp>
      <p:sp>
        <p:nvSpPr>
          <p:cNvPr id="76" name="Shape 70"/>
          <p:cNvSpPr/>
          <p:nvPr/>
        </p:nvSpPr>
        <p:spPr>
          <a:xfrm>
            <a:off x="9541764" y="3904488"/>
            <a:ext cx="91440" cy="164592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77" name="Shape 71"/>
          <p:cNvSpPr/>
          <p:nvPr/>
        </p:nvSpPr>
        <p:spPr>
          <a:xfrm>
            <a:off x="10611612" y="2121408"/>
            <a:ext cx="164592" cy="164592"/>
          </a:xfrm>
          <a:prstGeom prst="ellipse">
            <a:avLst/>
          </a:prstGeom>
          <a:solidFill>
            <a:srgbClr val="3C6E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8" name="Shape 72"/>
          <p:cNvSpPr/>
          <p:nvPr/>
        </p:nvSpPr>
        <p:spPr>
          <a:xfrm>
            <a:off x="9656064" y="2331720"/>
            <a:ext cx="2075688" cy="3310128"/>
          </a:xfrm>
          <a:prstGeom prst="roundRect">
            <a:avLst>
              <a:gd name="adj" fmla="val 5286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79" name="Shape 73"/>
          <p:cNvSpPr/>
          <p:nvPr/>
        </p:nvSpPr>
        <p:spPr>
          <a:xfrm>
            <a:off x="9793224" y="2331720"/>
            <a:ext cx="1801368" cy="45720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80" name="Text 74"/>
          <p:cNvSpPr/>
          <p:nvPr/>
        </p:nvSpPr>
        <p:spPr>
          <a:xfrm>
            <a:off x="9820656" y="24963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C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81" name="Text 75"/>
          <p:cNvSpPr/>
          <p:nvPr/>
        </p:nvSpPr>
        <p:spPr>
          <a:xfrm>
            <a:off x="10314432" y="2496312"/>
            <a:ext cx="886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출시·홍보</a:t>
            </a:r>
            <a:endParaRPr lang="en-US" sz="1100" dirty="0"/>
          </a:p>
        </p:txBody>
      </p:sp>
      <p:sp>
        <p:nvSpPr>
          <p:cNvPr id="82" name="Shape 76"/>
          <p:cNvSpPr/>
          <p:nvPr/>
        </p:nvSpPr>
        <p:spPr>
          <a:xfrm>
            <a:off x="11164824" y="2459736"/>
            <a:ext cx="402336" cy="402336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560320"/>
            <a:ext cx="201168" cy="201168"/>
          </a:xfrm>
          <a:prstGeom prst="rect">
            <a:avLst/>
          </a:prstGeom>
        </p:spPr>
      </p:pic>
      <p:sp>
        <p:nvSpPr>
          <p:cNvPr id="84" name="Shape 77"/>
          <p:cNvSpPr/>
          <p:nvPr/>
        </p:nvSpPr>
        <p:spPr>
          <a:xfrm>
            <a:off x="9793224" y="2971800"/>
            <a:ext cx="1801368" cy="566928"/>
          </a:xfrm>
          <a:prstGeom prst="roundRect">
            <a:avLst>
              <a:gd name="adj" fmla="val 9677"/>
            </a:avLst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85" name="Text 78"/>
          <p:cNvSpPr/>
          <p:nvPr/>
        </p:nvSpPr>
        <p:spPr>
          <a:xfrm>
            <a:off x="9838944" y="2971800"/>
            <a:ext cx="1709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이용자 패턴과 시즌</a:t>
            </a:r>
            <a:endParaRPr lang="en-US" sz="1150" dirty="0"/>
          </a:p>
        </p:txBody>
      </p:sp>
      <p:sp>
        <p:nvSpPr>
          <p:cNvPr id="86" name="Text 79"/>
          <p:cNvSpPr/>
          <p:nvPr/>
        </p:nvSpPr>
        <p:spPr>
          <a:xfrm>
            <a:off x="9820656" y="3657600"/>
            <a:ext cx="1746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예약 기능을 이용하여 전략적인 출시와 홍보를 도전해 보세요.</a:t>
            </a:r>
            <a:endParaRPr lang="en-US" sz="950" dirty="0"/>
          </a:p>
        </p:txBody>
      </p:sp>
      <p:sp>
        <p:nvSpPr>
          <p:cNvPr id="87" name="Shape 80"/>
          <p:cNvSpPr/>
          <p:nvPr/>
        </p:nvSpPr>
        <p:spPr>
          <a:xfrm>
            <a:off x="9793224" y="45262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88" name="Shape 81"/>
          <p:cNvSpPr/>
          <p:nvPr/>
        </p:nvSpPr>
        <p:spPr>
          <a:xfrm>
            <a:off x="9902952" y="46634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89" name="Text 82"/>
          <p:cNvSpPr/>
          <p:nvPr/>
        </p:nvSpPr>
        <p:spPr>
          <a:xfrm>
            <a:off x="10076688" y="45262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시간대, 요일별 매출 비율</a:t>
            </a:r>
            <a:endParaRPr lang="en-US" sz="900" dirty="0"/>
          </a:p>
        </p:txBody>
      </p:sp>
      <p:sp>
        <p:nvSpPr>
          <p:cNvPr id="90" name="Shape 83"/>
          <p:cNvSpPr/>
          <p:nvPr/>
        </p:nvSpPr>
        <p:spPr>
          <a:xfrm>
            <a:off x="9793224" y="49834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91" name="Shape 84"/>
          <p:cNvSpPr/>
          <p:nvPr/>
        </p:nvSpPr>
        <p:spPr>
          <a:xfrm>
            <a:off x="9902952" y="51206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92" name="Text 85"/>
          <p:cNvSpPr/>
          <p:nvPr/>
        </p:nvSpPr>
        <p:spPr>
          <a:xfrm>
            <a:off x="10076688" y="49834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시즌별 캘린더</a:t>
            </a:r>
            <a:endParaRPr lang="en-US" sz="900" dirty="0"/>
          </a:p>
        </p:txBody>
      </p:sp>
      <p:sp>
        <p:nvSpPr>
          <p:cNvPr id="93" name="Shape 86"/>
          <p:cNvSpPr/>
          <p:nvPr/>
        </p:nvSpPr>
        <p:spPr>
          <a:xfrm>
            <a:off x="822960" y="5815584"/>
            <a:ext cx="10908792" cy="457200"/>
          </a:xfrm>
          <a:prstGeom prst="roundRect">
            <a:avLst>
              <a:gd name="adj" fmla="val 16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94" name="Text 87"/>
          <p:cNvSpPr/>
          <p:nvPr/>
        </p:nvSpPr>
        <p:spPr>
          <a:xfrm>
            <a:off x="1005840" y="58155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플레이북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자료는 크리에이터 님들의 OGQ 콘텐츠 제작에 참고가 되도록 데이터를 정리한 것입니다. 정답이 아닌 출발점이니, 나만의 스타일과 아이디어에 맞게 자유롭게 활용해 주세요.</a:t>
            </a:r>
            <a:endParaRPr lang="en-US" sz="1050" dirty="0"/>
          </a:p>
        </p:txBody>
      </p:sp>
      <p:sp>
        <p:nvSpPr>
          <p:cNvPr id="95" name="Text 88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4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w="12700">
            <a:solidFill>
              <a:srgbClr val="2A5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w="12700">
            <a:solidFill>
              <a:srgbClr val="356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w="12700">
            <a:solidFill>
              <a:srgbClr val="2A5A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 PLAYBOOK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SOOP OGQ이모티콘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매출 이모티콘 탐색 방법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인기 이모티콘을 실시간 인기순으로 확인하는 방법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인기 차트를 통하여 현재 마켓 트렌드를 확인해 보세요.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4343400" cy="151229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pic>
      <p:sp>
        <p:nvSpPr>
          <p:cNvPr id="9" name="Shape 6"/>
          <p:cNvSpPr/>
          <p:nvPr/>
        </p:nvSpPr>
        <p:spPr>
          <a:xfrm>
            <a:off x="3657600" y="2286000"/>
            <a:ext cx="1417320" cy="237744"/>
          </a:xfrm>
          <a:prstGeom prst="roundRect">
            <a:avLst>
              <a:gd name="adj" fmla="val 5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228600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메인 피처드 큐레이션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34869"/>
            <a:ext cx="4343400" cy="201914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pic>
      <p:sp>
        <p:nvSpPr>
          <p:cNvPr id="12" name="Shape 8"/>
          <p:cNvSpPr/>
          <p:nvPr/>
        </p:nvSpPr>
        <p:spPr>
          <a:xfrm>
            <a:off x="3474720" y="3908021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474720" y="3908021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이모티콘 탭 · 인기순 정렬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822960" y="5945451"/>
            <a:ext cx="4343400" cy="274320"/>
          </a:xfrm>
          <a:prstGeom prst="roundRect">
            <a:avLst>
              <a:gd name="adj" fmla="val 5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5945451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SOOP OGQ이모티콘 › 홈 ‘인기 이모티콘’ / 이모티콘 탭 ‘인기순’  </a:t>
            </a:r>
            <a:pPr algn="ctr" indent="0" marL="0">
              <a:buNone/>
            </a:pPr>
            <a:r>
              <a:rPr lang="en-US" sz="850" u="sng" dirty="0">
                <a:solidFill>
                  <a:srgbClr val="9FD3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(바로가기)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5486400" y="2212848"/>
            <a:ext cx="6245352" cy="1042416"/>
          </a:xfrm>
          <a:prstGeom prst="roundRect">
            <a:avLst>
              <a:gd name="adj" fmla="val 877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650992" y="2505456"/>
            <a:ext cx="457200" cy="45720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650992" y="2505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263640" y="24140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‘인기 이모티콘’ 큐레이션 확인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6263640" y="2706624"/>
            <a:ext cx="5285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상단 BEST RANK 1~10. 실시간 집계라 시간대에 따라 바뀝니다 — 방송 시청이 몰리는 저녁~밤 시간대에 확인하세요.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5486400" y="3364992"/>
            <a:ext cx="6245352" cy="1042416"/>
          </a:xfrm>
          <a:prstGeom prst="roundRect">
            <a:avLst>
              <a:gd name="adj" fmla="val 877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650992" y="3657600"/>
            <a:ext cx="457200" cy="45720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650992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6263640" y="3566160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이모티콘 탭에서 ‘인기순’ 정렬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6263640" y="3858768"/>
            <a:ext cx="5285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목록을 인기순으로 보고, ‘움직이는 이모티콘’ 체크로 움티만 따로 확인. AI 표시 여부도 함께 봅니다.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5486400" y="4517136"/>
            <a:ext cx="6245352" cy="1042416"/>
          </a:xfrm>
          <a:prstGeom prst="roundRect">
            <a:avLst>
              <a:gd name="adj" fmla="val 877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50992" y="4809744"/>
            <a:ext cx="457200" cy="45720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650992" y="4809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6263640" y="4718304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실시간이므로 기록하며 추적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263640" y="5010912"/>
            <a:ext cx="5285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차트가 없으니 주 2~3회 같은 시간대에 캡처해 순위 변동을 비교. ‘등장 2·3’, ‘하루3’처럼 시리즈로 이어지는 컨셉을 확인하세요.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5486400" y="5779008"/>
            <a:ext cx="6245352" cy="384048"/>
          </a:xfrm>
          <a:prstGeom prst="roundRect">
            <a:avLst>
              <a:gd name="adj" fmla="val 19048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669280" y="5779008"/>
            <a:ext cx="5879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큐레이션과 인기순을 정기적으로 확인 — 스트리머 팬덤과 리액션 움티가 핵심 키워드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콘텐츠 분석하기 (TOP 25)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25 상세 분석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상반기 월별 TOP 25 콘텐츠의 상세 데이터를 참고해 주세요.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2560320" cy="777240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2219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89.9%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2606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애니메이션 스티커 매출 비중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547872" y="2148840"/>
            <a:ext cx="2560320" cy="777240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7872" y="22219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87.6%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47872" y="2606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포함 콘텐츠 비중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72784" y="2148840"/>
            <a:ext cx="2560320" cy="777240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2784" y="22219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37.4%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272784" y="2606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밈(meme) 활용 콘텐츠 매출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997696" y="2148840"/>
            <a:ext cx="2560320" cy="777240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97696" y="22219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28.9%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997696" y="2606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시리즈(넘버링) 콘텐츠 매출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22960" y="3108960"/>
            <a:ext cx="4572000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1089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유형별 매출 비중 (%)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35661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리액션·개그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148840" y="3566160"/>
            <a:ext cx="2788920" cy="237744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92624" y="356616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51.9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" y="39136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일상·감성 캐릭터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148840" y="3913632"/>
            <a:ext cx="913519" cy="237744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17223" y="391363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2960" y="42611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밈·유행어 리액션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148840" y="4261104"/>
            <a:ext cx="897398" cy="237744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01102" y="42611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22960" y="460857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스트리머 IP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148840" y="4608576"/>
            <a:ext cx="773804" cy="237744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77508" y="460857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14.4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148840" y="3520440"/>
            <a:ext cx="0" cy="137160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49377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리액션·개그  </a:t>
            </a:r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표정·제스처 리액션, 개그 성격 60.1%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2960" y="51663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일상·감성 캐릭터  </a:t>
            </a:r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귀여운 동물 캐릭터 — 텍스트 비중은 낮게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2960" y="53949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밈·유행어 리액션  </a:t>
            </a:r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초성체·밈 문구를 캐릭터에 결합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" y="56235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스트리머 IP  </a:t>
            </a:r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팬덤 기반, 방송인 유행어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623560" y="3108960"/>
            <a:ext cx="6108192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23560" y="3108960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콘텐츠 속성별 데이터 (매출액 기준)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3474720"/>
          <a:ext cx="610819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371600"/>
                <a:gridCol w="1042416"/>
                <a:gridCol w="1371600"/>
                <a:gridCol w="1042416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속성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1위 값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매출 비중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2위 값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매출 비중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C6E3D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콘텐츠 유형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애니메이션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89.9%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정지형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10.1%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텍스트 비중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52.6%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20.1%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텍스트 종류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감탄사·의성어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46.5%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짧은 대사·문장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18.2%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기반 분류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동물 의인화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76.6%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14.4%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콘텐츠 도메인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캐릭터 리액션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51.9%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일상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17.0%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 성격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60.1%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감성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18.9%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색상 스타일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파스텔 저채도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39.4%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무채색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24.1%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라인 스타일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굵은 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46.8%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가는 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32.4%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배경 유형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투명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57.9%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배경 꽉 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2.0%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맥락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방송 채팅 리액션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65.6%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일상 대화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16.4%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Shape 39"/>
          <p:cNvSpPr/>
          <p:nvPr/>
        </p:nvSpPr>
        <p:spPr>
          <a:xfrm>
            <a:off x="822960" y="5961888"/>
            <a:ext cx="10908792" cy="365760"/>
          </a:xfrm>
          <a:prstGeom prst="roundRect">
            <a:avLst>
              <a:gd name="adj" fmla="val 2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1005840" y="59618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콘텐츠 분석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매출 상위 콘텐츠를 분석하여 이모티콘 제작에 참고해 주세요.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팔리는 주제 선정하기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시청자가 채팅을 치는 ‘순간’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SOOP 라이브 방송의 흐름을 참고하여 이모티콘으로 표현해 보세요.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121408"/>
            <a:ext cx="4114800" cy="310896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2140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SOOP 실시간 스트리밍은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94960" y="2121408"/>
            <a:ext cx="6336792" cy="310896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94960" y="2121408"/>
            <a:ext cx="6336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채팅에 이런 이모티콘을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2505456"/>
            <a:ext cx="41148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0976" y="2624328"/>
            <a:ext cx="365760" cy="36576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715768"/>
            <a:ext cx="182880" cy="1828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1444752" y="2587752"/>
            <a:ext cx="114300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444752" y="258775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채팅창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444752" y="277977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채팅은 ‘읽는 것’이 아니라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‘순식간에 알아보는 것’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038344" y="2706624"/>
            <a:ext cx="256032" cy="201168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394960" y="2505456"/>
            <a:ext cx="6336792" cy="603504"/>
          </a:xfrm>
          <a:prstGeom prst="roundRect">
            <a:avLst>
              <a:gd name="adj" fmla="val 12121"/>
            </a:avLst>
          </a:prstGeom>
          <a:solidFill>
            <a:srgbClr val="F2F8F3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04688" y="258775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504688" y="25877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6035040" y="25603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무자막 클로즈업 리액션 세트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504688" y="28072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얼굴을 화면 가득 — 자막 없이 표정만으로 읽히게. 작은 채팅창에서도 한눈에 알아보는 크기와 대비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9601200" y="2578608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601200" y="257860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10680192" y="2578608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80192" y="257860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볼터치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9601200" y="2834640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601200" y="283464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 표정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10680192" y="2834640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680192" y="283464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무자막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822960" y="3172968"/>
            <a:ext cx="41148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50976" y="3291840"/>
            <a:ext cx="365760" cy="36576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3383280"/>
            <a:ext cx="182880" cy="182880"/>
          </a:xfrm>
          <a:prstGeom prst="rect">
            <a:avLst/>
          </a:prstGeom>
        </p:spPr>
      </p:pic>
      <p:sp>
        <p:nvSpPr>
          <p:cNvPr id="35" name="Shape 31"/>
          <p:cNvSpPr/>
          <p:nvPr/>
        </p:nvSpPr>
        <p:spPr>
          <a:xfrm>
            <a:off x="1444752" y="3255264"/>
            <a:ext cx="114300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1444752" y="3255264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움직이는 이모티콘 선호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1444752" y="344728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정지형 대신 움직이는 이모티콘,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움직여야 보인다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5038344" y="3374136"/>
            <a:ext cx="256032" cy="201168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394960" y="3172968"/>
            <a:ext cx="6336792" cy="603504"/>
          </a:xfrm>
          <a:prstGeom prst="roundRect">
            <a:avLst>
              <a:gd name="adj" fmla="val 12121"/>
            </a:avLst>
          </a:prstGeom>
          <a:solidFill>
            <a:srgbClr val="F2F8F3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504688" y="3255264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504688" y="325526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750" dirty="0"/>
          </a:p>
        </p:txBody>
      </p:sp>
      <p:sp>
        <p:nvSpPr>
          <p:cNvPr id="42" name="Text 38"/>
          <p:cNvSpPr/>
          <p:nvPr/>
        </p:nvSpPr>
        <p:spPr>
          <a:xfrm>
            <a:off x="6035040" y="32278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‘움티’ 루프 모션 세트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5504688" y="347472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1~2초 루프로 빠르게 지나가는 채팅창에서도 눈에 띄도록. 정지형은 세트당 2~3장이면 충분</a:t>
            </a:r>
            <a:endParaRPr lang="en-US" sz="800" dirty="0"/>
          </a:p>
        </p:txBody>
      </p:sp>
      <p:sp>
        <p:nvSpPr>
          <p:cNvPr id="44" name="Shape 40"/>
          <p:cNvSpPr/>
          <p:nvPr/>
        </p:nvSpPr>
        <p:spPr>
          <a:xfrm>
            <a:off x="9601200" y="3246120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9601200" y="324612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움티</a:t>
            </a:r>
            <a:endParaRPr lang="en-US" sz="750" dirty="0"/>
          </a:p>
        </p:txBody>
      </p:sp>
      <p:sp>
        <p:nvSpPr>
          <p:cNvPr id="46" name="Shape 42"/>
          <p:cNvSpPr/>
          <p:nvPr/>
        </p:nvSpPr>
        <p:spPr>
          <a:xfrm>
            <a:off x="10680192" y="3246120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10680192" y="324612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움짤</a:t>
            </a:r>
            <a:endParaRPr lang="en-US" sz="750" dirty="0"/>
          </a:p>
        </p:txBody>
      </p:sp>
      <p:sp>
        <p:nvSpPr>
          <p:cNvPr id="48" name="Shape 44"/>
          <p:cNvSpPr/>
          <p:nvPr/>
        </p:nvSpPr>
        <p:spPr>
          <a:xfrm>
            <a:off x="9601200" y="3502152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9601200" y="3502152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 모션</a:t>
            </a:r>
            <a:endParaRPr lang="en-US" sz="750" dirty="0"/>
          </a:p>
        </p:txBody>
      </p:sp>
      <p:sp>
        <p:nvSpPr>
          <p:cNvPr id="50" name="Shape 46"/>
          <p:cNvSpPr/>
          <p:nvPr/>
        </p:nvSpPr>
        <p:spPr>
          <a:xfrm>
            <a:off x="10680192" y="3502152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10680192" y="3502152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</a:t>
            </a:r>
            <a:endParaRPr lang="en-US" sz="750" dirty="0"/>
          </a:p>
        </p:txBody>
      </p:sp>
      <p:sp>
        <p:nvSpPr>
          <p:cNvPr id="52" name="Shape 48"/>
          <p:cNvSpPr/>
          <p:nvPr/>
        </p:nvSpPr>
        <p:spPr>
          <a:xfrm>
            <a:off x="822960" y="3840480"/>
            <a:ext cx="41148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950976" y="3959352"/>
            <a:ext cx="365760" cy="36576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5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4050792"/>
            <a:ext cx="182880" cy="182880"/>
          </a:xfrm>
          <a:prstGeom prst="rect">
            <a:avLst/>
          </a:prstGeom>
        </p:spPr>
      </p:pic>
      <p:sp>
        <p:nvSpPr>
          <p:cNvPr id="55" name="Shape 50"/>
          <p:cNvSpPr/>
          <p:nvPr/>
        </p:nvSpPr>
        <p:spPr>
          <a:xfrm>
            <a:off x="1444752" y="3922776"/>
            <a:ext cx="114300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1444752" y="39227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시리즈물 대세</a:t>
            </a:r>
            <a:endParaRPr lang="en-US" sz="750" dirty="0"/>
          </a:p>
        </p:txBody>
      </p:sp>
      <p:sp>
        <p:nvSpPr>
          <p:cNvPr id="57" name="Text 52"/>
          <p:cNvSpPr/>
          <p:nvPr/>
        </p:nvSpPr>
        <p:spPr>
          <a:xfrm>
            <a:off x="1444752" y="4114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시리즈가 매출을 만든다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매출의 28.9%가 2탄·3탄·확대 ver 등 시리즈물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5038344" y="4041648"/>
            <a:ext cx="256032" cy="201168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5394960" y="3840480"/>
            <a:ext cx="6336792" cy="603504"/>
          </a:xfrm>
          <a:prstGeom prst="roundRect">
            <a:avLst>
              <a:gd name="adj" fmla="val 12121"/>
            </a:avLst>
          </a:prstGeom>
          <a:solidFill>
            <a:srgbClr val="F2F8F3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5504688" y="3922776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5504688" y="39227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750" dirty="0"/>
          </a:p>
        </p:txBody>
      </p:sp>
      <p:sp>
        <p:nvSpPr>
          <p:cNvPr id="62" name="Text 57"/>
          <p:cNvSpPr/>
          <p:nvPr/>
        </p:nvSpPr>
        <p:spPr>
          <a:xfrm>
            <a:off x="6035040" y="38953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만든 캐릭터 1종 → 확장 세트</a:t>
            </a:r>
            <a:endParaRPr lang="en-US" sz="1100" dirty="0"/>
          </a:p>
        </p:txBody>
      </p:sp>
      <p:sp>
        <p:nvSpPr>
          <p:cNvPr id="63" name="Text 58"/>
          <p:cNvSpPr/>
          <p:nvPr/>
        </p:nvSpPr>
        <p:spPr>
          <a:xfrm>
            <a:off x="5504688" y="41422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반응 온 캐릭터를 리액션편·확대 ver·시즌으로 이어가기. 새 캐릭터보다 확장이 안정적</a:t>
            </a:r>
            <a:endParaRPr lang="en-US" sz="800" dirty="0"/>
          </a:p>
        </p:txBody>
      </p:sp>
      <p:sp>
        <p:nvSpPr>
          <p:cNvPr id="64" name="Shape 59"/>
          <p:cNvSpPr/>
          <p:nvPr/>
        </p:nvSpPr>
        <p:spPr>
          <a:xfrm>
            <a:off x="9601200" y="3913632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9601200" y="3913632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시즌</a:t>
            </a:r>
            <a:endParaRPr lang="en-US" sz="750" dirty="0"/>
          </a:p>
        </p:txBody>
      </p:sp>
      <p:sp>
        <p:nvSpPr>
          <p:cNvPr id="66" name="Shape 61"/>
          <p:cNvSpPr/>
          <p:nvPr/>
        </p:nvSpPr>
        <p:spPr>
          <a:xfrm>
            <a:off x="10680192" y="3913632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10680192" y="3913632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2탄, 3탄</a:t>
            </a:r>
            <a:endParaRPr lang="en-US" sz="750" dirty="0"/>
          </a:p>
        </p:txBody>
      </p:sp>
      <p:sp>
        <p:nvSpPr>
          <p:cNvPr id="68" name="Shape 63"/>
          <p:cNvSpPr/>
          <p:nvPr/>
        </p:nvSpPr>
        <p:spPr>
          <a:xfrm>
            <a:off x="9601200" y="4169664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9601200" y="4169664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 ver</a:t>
            </a:r>
            <a:endParaRPr lang="en-US" sz="750" dirty="0"/>
          </a:p>
        </p:txBody>
      </p:sp>
      <p:sp>
        <p:nvSpPr>
          <p:cNvPr id="70" name="Shape 65"/>
          <p:cNvSpPr/>
          <p:nvPr/>
        </p:nvSpPr>
        <p:spPr>
          <a:xfrm>
            <a:off x="10680192" y="4169664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71" name="Text 66"/>
          <p:cNvSpPr/>
          <p:nvPr/>
        </p:nvSpPr>
        <p:spPr>
          <a:xfrm>
            <a:off x="10680192" y="4169664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리액션 편</a:t>
            </a:r>
            <a:endParaRPr lang="en-US" sz="750" dirty="0"/>
          </a:p>
        </p:txBody>
      </p:sp>
      <p:sp>
        <p:nvSpPr>
          <p:cNvPr id="72" name="Shape 67"/>
          <p:cNvSpPr/>
          <p:nvPr/>
        </p:nvSpPr>
        <p:spPr>
          <a:xfrm>
            <a:off x="822960" y="4507992"/>
            <a:ext cx="41148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73" name="Shape 68"/>
          <p:cNvSpPr/>
          <p:nvPr/>
        </p:nvSpPr>
        <p:spPr>
          <a:xfrm>
            <a:off x="950976" y="4626864"/>
            <a:ext cx="365760" cy="36576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7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" y="4718304"/>
            <a:ext cx="182880" cy="182880"/>
          </a:xfrm>
          <a:prstGeom prst="rect">
            <a:avLst/>
          </a:prstGeom>
        </p:spPr>
      </p:pic>
      <p:sp>
        <p:nvSpPr>
          <p:cNvPr id="75" name="Shape 69"/>
          <p:cNvSpPr/>
          <p:nvPr/>
        </p:nvSpPr>
        <p:spPr>
          <a:xfrm>
            <a:off x="1444752" y="4590288"/>
            <a:ext cx="114300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76" name="Text 70"/>
          <p:cNvSpPr/>
          <p:nvPr/>
        </p:nvSpPr>
        <p:spPr>
          <a:xfrm>
            <a:off x="1444752" y="4590288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고채도 이미지</a:t>
            </a:r>
            <a:endParaRPr lang="en-US" sz="750" dirty="0"/>
          </a:p>
        </p:txBody>
      </p:sp>
      <p:sp>
        <p:nvSpPr>
          <p:cNvPr id="77" name="Text 71"/>
          <p:cNvSpPr/>
          <p:nvPr/>
        </p:nvSpPr>
        <p:spPr>
          <a:xfrm>
            <a:off x="1444752" y="478231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후원·응원·리액션 순간엔 강하게 표현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굵은 선 · 큰 동작으로 순간을 강조</a:t>
            </a:r>
            <a:endParaRPr lang="en-US" sz="900" dirty="0"/>
          </a:p>
        </p:txBody>
      </p:sp>
      <p:sp>
        <p:nvSpPr>
          <p:cNvPr id="78" name="Shape 72"/>
          <p:cNvSpPr/>
          <p:nvPr/>
        </p:nvSpPr>
        <p:spPr>
          <a:xfrm>
            <a:off x="5038344" y="4709160"/>
            <a:ext cx="256032" cy="201168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79" name="Shape 73"/>
          <p:cNvSpPr/>
          <p:nvPr/>
        </p:nvSpPr>
        <p:spPr>
          <a:xfrm>
            <a:off x="5394960" y="4507992"/>
            <a:ext cx="6336792" cy="603504"/>
          </a:xfrm>
          <a:prstGeom prst="roundRect">
            <a:avLst>
              <a:gd name="adj" fmla="val 12121"/>
            </a:avLst>
          </a:prstGeom>
          <a:solidFill>
            <a:srgbClr val="F2F8F3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80" name="Shape 74"/>
          <p:cNvSpPr/>
          <p:nvPr/>
        </p:nvSpPr>
        <p:spPr>
          <a:xfrm>
            <a:off x="5504688" y="4590288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81" name="Text 75"/>
          <p:cNvSpPr/>
          <p:nvPr/>
        </p:nvSpPr>
        <p:spPr>
          <a:xfrm>
            <a:off x="5504688" y="459028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750" dirty="0"/>
          </a:p>
        </p:txBody>
      </p:sp>
      <p:sp>
        <p:nvSpPr>
          <p:cNvPr id="82" name="Text 76"/>
          <p:cNvSpPr/>
          <p:nvPr/>
        </p:nvSpPr>
        <p:spPr>
          <a:xfrm>
            <a:off x="6035040" y="45628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고채도 후원·응원 리액션</a:t>
            </a:r>
            <a:endParaRPr lang="en-US" sz="1100" dirty="0"/>
          </a:p>
        </p:txBody>
      </p:sp>
      <p:sp>
        <p:nvSpPr>
          <p:cNvPr id="83" name="Text 77"/>
          <p:cNvSpPr/>
          <p:nvPr/>
        </p:nvSpPr>
        <p:spPr>
          <a:xfrm>
            <a:off x="5504688" y="480974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후원·응원·리액션 순간에 사용하는 이모티콘은 형광·원색 포인트가 오히려 눈에 띔</a:t>
            </a:r>
            <a:endParaRPr lang="en-US" sz="800" dirty="0"/>
          </a:p>
        </p:txBody>
      </p:sp>
      <p:sp>
        <p:nvSpPr>
          <p:cNvPr id="84" name="Shape 78"/>
          <p:cNvSpPr/>
          <p:nvPr/>
        </p:nvSpPr>
        <p:spPr>
          <a:xfrm>
            <a:off x="9601200" y="4581144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85" name="Text 79"/>
          <p:cNvSpPr/>
          <p:nvPr/>
        </p:nvSpPr>
        <p:spPr>
          <a:xfrm>
            <a:off x="9601200" y="4581144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후원</a:t>
            </a:r>
            <a:endParaRPr lang="en-US" sz="750" dirty="0"/>
          </a:p>
        </p:txBody>
      </p:sp>
      <p:sp>
        <p:nvSpPr>
          <p:cNvPr id="86" name="Shape 80"/>
          <p:cNvSpPr/>
          <p:nvPr/>
        </p:nvSpPr>
        <p:spPr>
          <a:xfrm>
            <a:off x="10680192" y="4581144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87" name="Text 81"/>
          <p:cNvSpPr/>
          <p:nvPr/>
        </p:nvSpPr>
        <p:spPr>
          <a:xfrm>
            <a:off x="10680192" y="4581144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리액션</a:t>
            </a:r>
            <a:endParaRPr lang="en-US" sz="750" dirty="0"/>
          </a:p>
        </p:txBody>
      </p:sp>
      <p:sp>
        <p:nvSpPr>
          <p:cNvPr id="88" name="Shape 82"/>
          <p:cNvSpPr/>
          <p:nvPr/>
        </p:nvSpPr>
        <p:spPr>
          <a:xfrm>
            <a:off x="9601200" y="4837176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89" name="Text 83"/>
          <p:cNvSpPr/>
          <p:nvPr/>
        </p:nvSpPr>
        <p:spPr>
          <a:xfrm>
            <a:off x="9601200" y="4837176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댄스</a:t>
            </a:r>
            <a:endParaRPr lang="en-US" sz="750" dirty="0"/>
          </a:p>
        </p:txBody>
      </p:sp>
      <p:sp>
        <p:nvSpPr>
          <p:cNvPr id="90" name="Shape 84"/>
          <p:cNvSpPr/>
          <p:nvPr/>
        </p:nvSpPr>
        <p:spPr>
          <a:xfrm>
            <a:off x="10680192" y="4837176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91" name="Text 85"/>
          <p:cNvSpPr/>
          <p:nvPr/>
        </p:nvSpPr>
        <p:spPr>
          <a:xfrm>
            <a:off x="10680192" y="4837176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응원</a:t>
            </a:r>
            <a:endParaRPr lang="en-US" sz="750" dirty="0"/>
          </a:p>
        </p:txBody>
      </p:sp>
      <p:sp>
        <p:nvSpPr>
          <p:cNvPr id="92" name="Shape 86"/>
          <p:cNvSpPr/>
          <p:nvPr/>
        </p:nvSpPr>
        <p:spPr>
          <a:xfrm>
            <a:off x="822960" y="5175504"/>
            <a:ext cx="41148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93" name="Shape 87"/>
          <p:cNvSpPr/>
          <p:nvPr/>
        </p:nvSpPr>
        <p:spPr>
          <a:xfrm>
            <a:off x="950976" y="5294376"/>
            <a:ext cx="365760" cy="36576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9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5385816"/>
            <a:ext cx="182880" cy="182880"/>
          </a:xfrm>
          <a:prstGeom prst="rect">
            <a:avLst/>
          </a:prstGeom>
        </p:spPr>
      </p:pic>
      <p:sp>
        <p:nvSpPr>
          <p:cNvPr id="95" name="Shape 88"/>
          <p:cNvSpPr/>
          <p:nvPr/>
        </p:nvSpPr>
        <p:spPr>
          <a:xfrm>
            <a:off x="1444752" y="5257800"/>
            <a:ext cx="114300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96" name="Text 89"/>
          <p:cNvSpPr/>
          <p:nvPr/>
        </p:nvSpPr>
        <p:spPr>
          <a:xfrm>
            <a:off x="1444752" y="525780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SOOP 유행어</a:t>
            </a:r>
            <a:endParaRPr lang="en-US" sz="750" dirty="0"/>
          </a:p>
        </p:txBody>
      </p:sp>
      <p:sp>
        <p:nvSpPr>
          <p:cNvPr id="97" name="Text 90"/>
          <p:cNvSpPr/>
          <p:nvPr/>
        </p:nvSpPr>
        <p:spPr>
          <a:xfrm>
            <a:off x="1444752" y="544982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SOOP 스트리머 전용 밈·유행어는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아직도 공급 부족</a:t>
            </a:r>
            <a:endParaRPr lang="en-US" sz="900" dirty="0"/>
          </a:p>
        </p:txBody>
      </p:sp>
      <p:sp>
        <p:nvSpPr>
          <p:cNvPr id="98" name="Shape 91"/>
          <p:cNvSpPr/>
          <p:nvPr/>
        </p:nvSpPr>
        <p:spPr>
          <a:xfrm>
            <a:off x="5038344" y="5376672"/>
            <a:ext cx="256032" cy="201168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99" name="Shape 92"/>
          <p:cNvSpPr/>
          <p:nvPr/>
        </p:nvSpPr>
        <p:spPr>
          <a:xfrm>
            <a:off x="5394960" y="5175504"/>
            <a:ext cx="6336792" cy="603504"/>
          </a:xfrm>
          <a:prstGeom prst="roundRect">
            <a:avLst>
              <a:gd name="adj" fmla="val 12121"/>
            </a:avLst>
          </a:prstGeom>
          <a:solidFill>
            <a:srgbClr val="F2F8F3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100" name="Shape 93"/>
          <p:cNvSpPr/>
          <p:nvPr/>
        </p:nvSpPr>
        <p:spPr>
          <a:xfrm>
            <a:off x="5504688" y="5257800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01" name="Text 94"/>
          <p:cNvSpPr/>
          <p:nvPr/>
        </p:nvSpPr>
        <p:spPr>
          <a:xfrm>
            <a:off x="5504688" y="52578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750" dirty="0"/>
          </a:p>
        </p:txBody>
      </p:sp>
      <p:sp>
        <p:nvSpPr>
          <p:cNvPr id="102" name="Text 95"/>
          <p:cNvSpPr/>
          <p:nvPr/>
        </p:nvSpPr>
        <p:spPr>
          <a:xfrm>
            <a:off x="6035040" y="52303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방송인 유행어 아카이브형</a:t>
            </a:r>
            <a:endParaRPr lang="en-US" sz="1100" dirty="0"/>
          </a:p>
        </p:txBody>
      </p:sp>
      <p:sp>
        <p:nvSpPr>
          <p:cNvPr id="103" name="Text 96"/>
          <p:cNvSpPr/>
          <p:nvPr/>
        </p:nvSpPr>
        <p:spPr>
          <a:xfrm>
            <a:off x="5504688" y="547725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방송에서 반복되는 말·사투리·팬덤 인사를 이모티콘으로. 해당 방송 시청자만 아는 문구가 곧 팬덤 수요</a:t>
            </a:r>
            <a:endParaRPr lang="en-US" sz="800" dirty="0"/>
          </a:p>
        </p:txBody>
      </p:sp>
      <p:sp>
        <p:nvSpPr>
          <p:cNvPr id="104" name="Shape 97"/>
          <p:cNvSpPr/>
          <p:nvPr/>
        </p:nvSpPr>
        <p:spPr>
          <a:xfrm>
            <a:off x="9601200" y="5248656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105" name="Text 98"/>
          <p:cNvSpPr/>
          <p:nvPr/>
        </p:nvSpPr>
        <p:spPr>
          <a:xfrm>
            <a:off x="9601200" y="5248656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유행어</a:t>
            </a:r>
            <a:endParaRPr lang="en-US" sz="750" dirty="0"/>
          </a:p>
        </p:txBody>
      </p:sp>
      <p:sp>
        <p:nvSpPr>
          <p:cNvPr id="106" name="Shape 99"/>
          <p:cNvSpPr/>
          <p:nvPr/>
        </p:nvSpPr>
        <p:spPr>
          <a:xfrm>
            <a:off x="10680192" y="5248656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107" name="Text 100"/>
          <p:cNvSpPr/>
          <p:nvPr/>
        </p:nvSpPr>
        <p:spPr>
          <a:xfrm>
            <a:off x="10680192" y="5248656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은어</a:t>
            </a:r>
            <a:endParaRPr lang="en-US" sz="750" dirty="0"/>
          </a:p>
        </p:txBody>
      </p:sp>
      <p:sp>
        <p:nvSpPr>
          <p:cNvPr id="108" name="Shape 101"/>
          <p:cNvSpPr/>
          <p:nvPr/>
        </p:nvSpPr>
        <p:spPr>
          <a:xfrm>
            <a:off x="9601200" y="5504688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109" name="Text 102"/>
          <p:cNvSpPr/>
          <p:nvPr/>
        </p:nvSpPr>
        <p:spPr>
          <a:xfrm>
            <a:off x="9601200" y="5504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</a:t>
            </a:r>
            <a:endParaRPr lang="en-US" sz="750" dirty="0"/>
          </a:p>
        </p:txBody>
      </p:sp>
      <p:sp>
        <p:nvSpPr>
          <p:cNvPr id="110" name="Shape 103"/>
          <p:cNvSpPr/>
          <p:nvPr/>
        </p:nvSpPr>
        <p:spPr>
          <a:xfrm>
            <a:off x="10680192" y="5504688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111" name="Text 104"/>
          <p:cNvSpPr/>
          <p:nvPr/>
        </p:nvSpPr>
        <p:spPr>
          <a:xfrm>
            <a:off x="10680192" y="5504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팬덤 전용</a:t>
            </a:r>
            <a:endParaRPr lang="en-US" sz="750" dirty="0"/>
          </a:p>
        </p:txBody>
      </p:sp>
      <p:sp>
        <p:nvSpPr>
          <p:cNvPr id="112" name="Shape 105"/>
          <p:cNvSpPr/>
          <p:nvPr/>
        </p:nvSpPr>
        <p:spPr>
          <a:xfrm>
            <a:off x="822960" y="5961888"/>
            <a:ext cx="10908792" cy="365760"/>
          </a:xfrm>
          <a:prstGeom prst="roundRect">
            <a:avLst>
              <a:gd name="adj" fmla="val 2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13" name="Text 106"/>
          <p:cNvSpPr/>
          <p:nvPr/>
        </p:nvSpPr>
        <p:spPr>
          <a:xfrm>
            <a:off x="1005840" y="59618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선정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많이 사용하는 사용처의 트렌드를 참고하여 주제를 선정해 주세요.</a:t>
            </a:r>
            <a:endParaRPr lang="en-US" sz="1050" dirty="0"/>
          </a:p>
        </p:txBody>
      </p:sp>
      <p:sp>
        <p:nvSpPr>
          <p:cNvPr id="114" name="Text 107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24종 이미지 구성하기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이모티콘 24종 이미지의 순서는 ‘방송 흐름’ 순서로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SOOP 이용자의 사용 패턴을 참고하여 이모티콘을 구성해 보세요.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5486400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4884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순서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2569464"/>
            <a:ext cx="54864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" y="2660904"/>
            <a:ext cx="1051560" cy="420624"/>
          </a:xfrm>
          <a:prstGeom prst="roundRect">
            <a:avLst>
              <a:gd name="adj" fmla="val 17391"/>
            </a:avLst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266090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입장·인사</a:t>
            </a:r>
            <a:pPr algn="ctr" indent="0" marL="0">
              <a:lnSpc>
                <a:spcPct val="105000"/>
              </a:lnSpc>
              <a:buNone/>
            </a:pP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1~3번 · 3장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03120" y="26334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방송에 들어와 처음 치는 채팅. 미리보기에 먼저 보이는 자리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103120" y="2916936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하이 · 안녕 · O하~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371600" y="3154680"/>
            <a:ext cx="164592" cy="109728"/>
          </a:xfrm>
          <a:prstGeom prst="down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3246120"/>
            <a:ext cx="54864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2688" y="3337560"/>
            <a:ext cx="1051560" cy="420624"/>
          </a:xfrm>
          <a:prstGeom prst="roundRect">
            <a:avLst>
              <a:gd name="adj" fmla="val 17391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33375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시청·리액션</a:t>
            </a:r>
            <a:pPr algn="ctr" indent="0" marL="0">
              <a:lnSpc>
                <a:spcPct val="105000"/>
              </a:lnSpc>
              <a:buNone/>
            </a:pP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4~10번 · 7장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103120" y="331012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방송을 보면서 흘리듯 치는 가벼운 반응. 대화를 끊지 않는 짧은 컷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103120" y="359359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ㅋㅋㅋ · ㅇㅈ · 확인 · 굿 · 두둥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371600" y="3831336"/>
            <a:ext cx="164592" cy="109728"/>
          </a:xfrm>
          <a:prstGeom prst="down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3922776"/>
            <a:ext cx="54864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32688" y="4014216"/>
            <a:ext cx="1051560" cy="420624"/>
          </a:xfrm>
          <a:prstGeom prst="roundRect">
            <a:avLst>
              <a:gd name="adj" fmla="val 17391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2688" y="401421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폭발</a:t>
            </a:r>
            <a:pPr algn="ctr" indent="0" marL="0">
              <a:lnSpc>
                <a:spcPct val="105000"/>
              </a:lnSpc>
              <a:buNone/>
            </a:pP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11~20번 · 10장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103120" y="3986784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사건에 대한 반응. 세트에서 가장 두꺼운 구간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103120" y="4270248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대박 · 오열 · 심쿵 · 속터져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371600" y="4507992"/>
            <a:ext cx="164592" cy="109728"/>
          </a:xfrm>
          <a:prstGeom prst="down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2960" y="4599432"/>
            <a:ext cx="54864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32688" y="4690872"/>
            <a:ext cx="1051560" cy="420624"/>
          </a:xfrm>
          <a:prstGeom prst="roundRect">
            <a:avLst>
              <a:gd name="adj" fmla="val 17391"/>
            </a:avLst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2688" y="469087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반박·거절</a:t>
            </a:r>
            <a:pPr algn="ctr" indent="0" marL="0">
              <a:lnSpc>
                <a:spcPct val="105000"/>
              </a:lnSpc>
              <a:buNone/>
            </a:pP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21~22번 · 2장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103120" y="46634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도발·항의를 한 장으로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103120" y="4946904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안돼 · 그만 · 어쩌라고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371600" y="5184648"/>
            <a:ext cx="164592" cy="109728"/>
          </a:xfrm>
          <a:prstGeom prst="down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" y="5276088"/>
            <a:ext cx="54864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32688" y="5367528"/>
            <a:ext cx="1051560" cy="420624"/>
          </a:xfrm>
          <a:prstGeom prst="roundRect">
            <a:avLst>
              <a:gd name="adj" fmla="val 17391"/>
            </a:avLst>
          </a:prstGeom>
          <a:solidFill>
            <a:srgbClr val="EAF0E8"/>
          </a:solidFill>
          <a:ln w="12700">
            <a:solidFill>
              <a:srgbClr val="EAF0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2688" y="536752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응원·작별</a:t>
            </a:r>
            <a:pPr algn="ctr" indent="0" marL="0">
              <a:lnSpc>
                <a:spcPct val="105000"/>
              </a:lnSpc>
              <a:buNone/>
            </a:pP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23~24번 · 2장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103120" y="534009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 마무리. 마지막 장은 항상 작별 인사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103120" y="562356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화이팅 · 바이 · 또 봐요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583680" y="2148840"/>
            <a:ext cx="5148072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83680" y="2148840"/>
            <a:ext cx="5148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24칸 배치도 (마켓 노출 순서 = 등록 순서)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675120" y="2569464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5120" y="256946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입장·인사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379208" y="2569464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79208" y="256946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083296" y="2569464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256946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8787384" y="2569464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787384" y="256946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시청·리액션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491472" y="2569464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91472" y="256946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0195560" y="2569464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195560" y="256946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675120" y="2999232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75120" y="299923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379208" y="2999232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379208" y="299923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8083296" y="2999232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083296" y="299923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8787384" y="2999232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787384" y="299923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9491472" y="2999232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491472" y="299923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6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폭발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195560" y="2999232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195560" y="299923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675120" y="3429000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675120" y="34290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379208" y="3429000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79208" y="34290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8083296" y="3429000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083296" y="34290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787384" y="3429000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787384" y="34290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491472" y="3429000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491472" y="34290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10195560" y="3429000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195560" y="34290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6675120" y="3858768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675120" y="385876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7379208" y="3858768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79208" y="385876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8083296" y="3858768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083296" y="385876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6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반박·거절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8787384" y="3858768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787384" y="385876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9491472" y="3858768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EAF0E8"/>
          </a:solidFill>
          <a:ln w="12700">
            <a:solidFill>
              <a:srgbClr val="EAF0E8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491472" y="385876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6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응원·작별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10195560" y="3858768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EAF0E8"/>
          </a:solidFill>
          <a:ln w="12700">
            <a:solidFill>
              <a:srgbClr val="EAF0E8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0195560" y="385876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6638544" y="2532888"/>
            <a:ext cx="2139696" cy="457200"/>
          </a:xfrm>
          <a:prstGeom prst="roundRect">
            <a:avLst>
              <a:gd name="adj" fmla="val 12000"/>
            </a:avLst>
          </a:prstGeom>
          <a:ln w="19050">
            <a:solidFill>
              <a:srgbClr val="E0632F"/>
            </a:solidFill>
            <a:prstDash val="dash"/>
          </a:ln>
        </p:spPr>
      </p:sp>
      <p:sp>
        <p:nvSpPr>
          <p:cNvPr id="90" name="Text 88"/>
          <p:cNvSpPr/>
          <p:nvPr/>
        </p:nvSpPr>
        <p:spPr>
          <a:xfrm>
            <a:off x="10917936" y="255117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E06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◀ 1~3번 이미지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E06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선택의 첫인상</a:t>
            </a:r>
            <a:endParaRPr lang="en-US" sz="750" dirty="0"/>
          </a:p>
        </p:txBody>
      </p:sp>
      <p:sp>
        <p:nvSpPr>
          <p:cNvPr id="91" name="Text 89"/>
          <p:cNvSpPr/>
          <p:nvPr/>
        </p:nvSpPr>
        <p:spPr>
          <a:xfrm>
            <a:off x="6583680" y="4398264"/>
            <a:ext cx="5148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규칙 4가지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6583680" y="4617720"/>
            <a:ext cx="5148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</a:t>
            </a:r>
            <a:pPr indent="0" marL="0">
              <a:buNone/>
            </a:pPr>
            <a:r>
              <a:rPr lang="en-US" sz="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1~3번에 가장 잘 팔릴 장면  </a:t>
            </a:r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미리보기에 먼저 보이는 자리. 인사 + 가장 많이 사용하는 리액션 1장을 앞에 배치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6583680" y="4846320"/>
            <a:ext cx="5148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</a:t>
            </a:r>
            <a:pPr indent="0" marL="0">
              <a:buNone/>
            </a:pPr>
            <a:r>
              <a:rPr lang="en-US" sz="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스트리밍 리액션  </a:t>
            </a:r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스트리머 방송마다 사용하는 인기 리액션 배치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6583680" y="5074920"/>
            <a:ext cx="5148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</a:t>
            </a:r>
            <a:pPr indent="0" marL="0">
              <a:buNone/>
            </a:pPr>
            <a:r>
              <a:rPr lang="en-US" sz="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감정을 가장 많이  </a:t>
            </a:r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24종 중 10장은 감정이 드러나도록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6583680" y="5303520"/>
            <a:ext cx="5148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</a:t>
            </a:r>
            <a:pPr indent="0" marL="0">
              <a:buNone/>
            </a:pPr>
            <a:r>
              <a:rPr lang="en-US" sz="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시작은 등장 인사, 마지막 장은 작별 인사  </a:t>
            </a:r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매출 이모티콘 중 다수가 1~2번을 인사로 시작/종료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822960" y="5961888"/>
            <a:ext cx="10908792" cy="365760"/>
          </a:xfrm>
          <a:prstGeom prst="roundRect">
            <a:avLst>
              <a:gd name="adj" fmla="val 2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05840" y="59618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24종 이미지 구성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입장에서 어떤 용도로 어떻게 사용할지를 전략적으로 구상해 보세요.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 및 홍보 전략 세우기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인기 스트리머 방송 시간에 이모티콘 구매까지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예약 기능을 통해 주요 매출 발생 시간, 시즌에 맞춰 출시 예약을 설정할 수 있습니다. 전략적으로 이용해 보세요.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5852160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4884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시간대별 매출 비중 (%)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60120" y="4526280"/>
            <a:ext cx="5577840" cy="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4278" y="3368842"/>
            <a:ext cx="144094" cy="1157438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236688" y="3600330"/>
            <a:ext cx="144094" cy="925950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9253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469098" y="3849624"/>
            <a:ext cx="144094" cy="676656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2494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701508" y="4063305"/>
            <a:ext cx="144094" cy="462975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5735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1933918" y="4223565"/>
            <a:ext cx="144094" cy="302715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8976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2166328" y="4276986"/>
            <a:ext cx="144094" cy="249294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2217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2398738" y="4312599"/>
            <a:ext cx="144094" cy="213681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5458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2631148" y="4330406"/>
            <a:ext cx="144094" cy="195874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8699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495550" y="4184102"/>
            <a:ext cx="41529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2863558" y="4276986"/>
            <a:ext cx="144094" cy="249294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1940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095968" y="4241372"/>
            <a:ext cx="144094" cy="284908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05181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3328378" y="4152339"/>
            <a:ext cx="144094" cy="373941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8422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3560788" y="4081112"/>
            <a:ext cx="144094" cy="445168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51663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3793198" y="4009885"/>
            <a:ext cx="144094" cy="516395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4904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025608" y="3956464"/>
            <a:ext cx="144094" cy="569816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8145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258018" y="3867431"/>
            <a:ext cx="144094" cy="658849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1386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4490428" y="3814011"/>
            <a:ext cx="144094" cy="712269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627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4722838" y="3618136"/>
            <a:ext cx="144094" cy="908144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7868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955248" y="3653750"/>
            <a:ext cx="144094" cy="872530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1109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5187658" y="3511296"/>
            <a:ext cx="144094" cy="1014984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14350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420068" y="3262002"/>
            <a:ext cx="144094" cy="1264278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7591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5652478" y="3119548"/>
            <a:ext cx="144094" cy="1406732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60832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5884888" y="3066128"/>
            <a:ext cx="144094" cy="1460152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4073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6117298" y="3012707"/>
            <a:ext cx="144094" cy="1513573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07314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5981700" y="2866403"/>
            <a:ext cx="41529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6349708" y="3155161"/>
            <a:ext cx="144094" cy="1371119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5550" y="4544568"/>
            <a:ext cx="23241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5125212" y="2816352"/>
            <a:ext cx="1431036" cy="1728216"/>
          </a:xfrm>
          <a:prstGeom prst="roundRect">
            <a:avLst>
              <a:gd name="adj" fmla="val 3195"/>
            </a:avLst>
          </a:prstGeom>
          <a:ln w="12700">
            <a:solidFill>
              <a:srgbClr val="E0632F"/>
            </a:solidFill>
            <a:prstDash val="dash"/>
          </a:ln>
        </p:spPr>
      </p:sp>
      <p:sp>
        <p:nvSpPr>
          <p:cNvPr id="62" name="Text 60"/>
          <p:cNvSpPr/>
          <p:nvPr/>
        </p:nvSpPr>
        <p:spPr>
          <a:xfrm>
            <a:off x="3680460" y="2633472"/>
            <a:ext cx="28575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E06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18~23시 집중 구간 — 하루 매출의 45%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822960" y="4709160"/>
            <a:ext cx="2743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가로축: 시 (0~23시)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6839712" y="2148840"/>
            <a:ext cx="4892040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839712" y="2148840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요일별 매출 비중 (%)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7022592" y="4526280"/>
            <a:ext cx="4526280" cy="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151914" y="3219958"/>
            <a:ext cx="387967" cy="1306322"/>
          </a:xfrm>
          <a:prstGeom prst="rect">
            <a:avLst/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022592" y="3055366"/>
            <a:ext cx="6466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13.9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7022592" y="4544568"/>
            <a:ext cx="6466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798526" y="3210560"/>
            <a:ext cx="387967" cy="1315720"/>
          </a:xfrm>
          <a:prstGeom prst="rect">
            <a:avLst/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669203" y="3045968"/>
            <a:ext cx="6466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14.0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7669203" y="4544568"/>
            <a:ext cx="6466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8445137" y="3266948"/>
            <a:ext cx="387967" cy="1259332"/>
          </a:xfrm>
          <a:prstGeom prst="rect">
            <a:avLst/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315815" y="3102356"/>
            <a:ext cx="6466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13.4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8315815" y="4544568"/>
            <a:ext cx="6466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091749" y="3050794"/>
            <a:ext cx="387967" cy="1475486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962426" y="2886202"/>
            <a:ext cx="6466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15.7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8962426" y="4544568"/>
            <a:ext cx="6466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9738360" y="3031998"/>
            <a:ext cx="387967" cy="1494282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609038" y="2867406"/>
            <a:ext cx="6466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15.9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9609038" y="4544568"/>
            <a:ext cx="6466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10384971" y="3219958"/>
            <a:ext cx="387967" cy="1306322"/>
          </a:xfrm>
          <a:prstGeom prst="rect">
            <a:avLst/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0255649" y="3055366"/>
            <a:ext cx="6466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13.9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10255649" y="4544568"/>
            <a:ext cx="6466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11031583" y="3285744"/>
            <a:ext cx="387967" cy="1240536"/>
          </a:xfrm>
          <a:prstGeom prst="rect">
            <a:avLst/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0902261" y="3121152"/>
            <a:ext cx="6466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13.2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10902261" y="4544568"/>
            <a:ext cx="6466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6839712" y="4709160"/>
            <a:ext cx="4892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목·금 31.6%  ·  주말 27.1%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822960" y="49560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하반기 캘린더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822960" y="5193792"/>
            <a:ext cx="2606040" cy="658368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60120" y="522122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2011680" y="522122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E06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말 ~ 9월 초 등록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960120" y="540410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LCK 결승(9/13) · 추석(9/24~26) · 아시안게임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960120" y="5632704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응원·승리 리액션 · 명절 인사 · 국대 응원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3589934" y="5193792"/>
            <a:ext cx="2606040" cy="658368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727094" y="522122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10월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4778654" y="522122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E06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중순 등록</a:t>
            </a:r>
            <a:endParaRPr lang="en-US" sz="750" dirty="0"/>
          </a:p>
        </p:txBody>
      </p:sp>
      <p:sp>
        <p:nvSpPr>
          <p:cNvPr id="98" name="Text 96"/>
          <p:cNvSpPr/>
          <p:nvPr/>
        </p:nvSpPr>
        <p:spPr>
          <a:xfrm>
            <a:off x="3727094" y="540410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롤드컵 개막(10/15) · 할로윈 · 가을 신규 방송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3727094" y="5632704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LCK 응원 · 할로윈 리액션 · 첫 방송 인사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356909" y="5193792"/>
            <a:ext cx="2606040" cy="658368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494069" y="522122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11월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7545629" y="522122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E06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10월 중순 등록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6494069" y="540410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롤드컵 결승(11/14) · 수능(11/19) · 빼빼로데이</a:t>
            </a:r>
            <a:endParaRPr lang="en-US" sz="800" dirty="0"/>
          </a:p>
        </p:txBody>
      </p:sp>
      <p:sp>
        <p:nvSpPr>
          <p:cNvPr id="104" name="Text 102"/>
          <p:cNvSpPr/>
          <p:nvPr/>
        </p:nvSpPr>
        <p:spPr>
          <a:xfrm>
            <a:off x="6494069" y="5632704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우승 축하 리액션 · 수능 응원 · 고백·선물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9123883" y="5193792"/>
            <a:ext cx="2606040" cy="658368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9261043" y="522122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12월</a:t>
            </a:r>
            <a:endParaRPr lang="en-US" sz="1000" dirty="0"/>
          </a:p>
        </p:txBody>
      </p:sp>
      <p:sp>
        <p:nvSpPr>
          <p:cNvPr id="107" name="Text 105"/>
          <p:cNvSpPr/>
          <p:nvPr/>
        </p:nvSpPr>
        <p:spPr>
          <a:xfrm>
            <a:off x="10312603" y="522122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E06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11월 중순 등록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9261043" y="540410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스트리머 대상 시상식(12월 말) · 크리스마스</a:t>
            </a:r>
            <a:endParaRPr lang="en-US" sz="800" dirty="0"/>
          </a:p>
        </p:txBody>
      </p:sp>
      <p:sp>
        <p:nvSpPr>
          <p:cNvPr id="109" name="Text 107"/>
          <p:cNvSpPr/>
          <p:nvPr/>
        </p:nvSpPr>
        <p:spPr>
          <a:xfrm>
            <a:off x="9261043" y="5632704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수상 축하·감사 · 연말 결산 리액션 · 새해 인사</a:t>
            </a:r>
            <a:endParaRPr lang="en-US" sz="800" dirty="0"/>
          </a:p>
        </p:txBody>
      </p:sp>
      <p:sp>
        <p:nvSpPr>
          <p:cNvPr id="110" name="Shape 108"/>
          <p:cNvSpPr/>
          <p:nvPr/>
        </p:nvSpPr>
        <p:spPr>
          <a:xfrm>
            <a:off x="822960" y="5961888"/>
            <a:ext cx="10908792" cy="365760"/>
          </a:xfrm>
          <a:prstGeom prst="roundRect">
            <a:avLst>
              <a:gd name="adj" fmla="val 2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05840" y="59618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출시·홍보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예약 기능을 이용하여 전략적인 출시와 홍보를 도전해 보세요.</a:t>
            </a:r>
            <a:endParaRPr lang="en-US" sz="1050" dirty="0"/>
          </a:p>
        </p:txBody>
      </p:sp>
      <p:sp>
        <p:nvSpPr>
          <p:cNvPr id="112" name="Text 110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플레이북 핵심 내용 요약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플레이북 요약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플레이북으로 안내해 드린 방법을 참고해 주세요.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60804" y="2203704"/>
            <a:ext cx="8833104" cy="0"/>
          </a:xfrm>
          <a:prstGeom prst="line">
            <a:avLst/>
          </a:prstGeom>
          <a:noFill/>
          <a:ln w="19050">
            <a:solidFill>
              <a:srgbClr val="C5D6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78508" y="2121408"/>
            <a:ext cx="164592" cy="164592"/>
          </a:xfrm>
          <a:prstGeom prst="ellipse">
            <a:avLst/>
          </a:prstGeom>
          <a:solidFill>
            <a:srgbClr val="3C6E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331720"/>
            <a:ext cx="2075688" cy="3310128"/>
          </a:xfrm>
          <a:prstGeom prst="roundRect">
            <a:avLst>
              <a:gd name="adj" fmla="val 5286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331720"/>
            <a:ext cx="1801368" cy="45720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7552" y="24963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C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81328" y="2496312"/>
            <a:ext cx="886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331720" y="2459736"/>
            <a:ext cx="402336" cy="402336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2304" y="2560320"/>
            <a:ext cx="201168" cy="20116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60120" y="2971800"/>
            <a:ext cx="1801368" cy="566928"/>
          </a:xfrm>
          <a:prstGeom prst="roundRect">
            <a:avLst>
              <a:gd name="adj" fmla="val 9677"/>
            </a:avLst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05840" y="2971800"/>
            <a:ext cx="1709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매출 이모티콘 탐색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987552" y="3657600"/>
            <a:ext cx="1746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인기 이모티콘 큐레이션과 인기순 정렬로 실제 SOOP에서 인기 있는 콘텐츠를 확인해 보세요.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60120" y="45262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69848" y="46634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43584" y="45262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큐레이션 · 인기순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60120" y="49834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69848" y="51206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243584" y="49834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순위 기록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2916936" y="3904488"/>
            <a:ext cx="91440" cy="164592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986784" y="2121408"/>
            <a:ext cx="164592" cy="164592"/>
          </a:xfrm>
          <a:prstGeom prst="ellipse">
            <a:avLst/>
          </a:prstGeom>
          <a:solidFill>
            <a:srgbClr val="3C6E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031236" y="2331720"/>
            <a:ext cx="2075688" cy="3310128"/>
          </a:xfrm>
          <a:prstGeom prst="roundRect">
            <a:avLst>
              <a:gd name="adj" fmla="val 5286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168396" y="2331720"/>
            <a:ext cx="1801368" cy="45720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195828" y="24963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C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3689604" y="2496312"/>
            <a:ext cx="886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콘텐츠 분석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39996" y="2459736"/>
            <a:ext cx="402336" cy="402336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580" y="2560320"/>
            <a:ext cx="201168" cy="201168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3168396" y="2971800"/>
            <a:ext cx="1801368" cy="566928"/>
          </a:xfrm>
          <a:prstGeom prst="roundRect">
            <a:avLst>
              <a:gd name="adj" fmla="val 9677"/>
            </a:avLst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3214116" y="2971800"/>
            <a:ext cx="1709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상세 분석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195828" y="3657600"/>
            <a:ext cx="1746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매출 상위 콘텐츠를 분석하여 이모티콘 제작에 참고해 주세요.</a:t>
            </a:r>
            <a:endParaRPr lang="en-US" sz="950" dirty="0"/>
          </a:p>
        </p:txBody>
      </p:sp>
      <p:sp>
        <p:nvSpPr>
          <p:cNvPr id="36" name="Shape 32"/>
          <p:cNvSpPr/>
          <p:nvPr/>
        </p:nvSpPr>
        <p:spPr>
          <a:xfrm>
            <a:off x="3168396" y="45262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3278124" y="46634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3451860" y="45262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유형별 매출 확인</a:t>
            </a:r>
            <a:endParaRPr lang="en-US" sz="900" dirty="0"/>
          </a:p>
        </p:txBody>
      </p:sp>
      <p:sp>
        <p:nvSpPr>
          <p:cNvPr id="39" name="Shape 35"/>
          <p:cNvSpPr/>
          <p:nvPr/>
        </p:nvSpPr>
        <p:spPr>
          <a:xfrm>
            <a:off x="3168396" y="49834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3278124" y="51206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3451860" y="49834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속성별 데이터 확인</a:t>
            </a:r>
            <a:endParaRPr lang="en-US" sz="900" dirty="0"/>
          </a:p>
        </p:txBody>
      </p:sp>
      <p:sp>
        <p:nvSpPr>
          <p:cNvPr id="42" name="Shape 38"/>
          <p:cNvSpPr/>
          <p:nvPr/>
        </p:nvSpPr>
        <p:spPr>
          <a:xfrm>
            <a:off x="5125212" y="3904488"/>
            <a:ext cx="91440" cy="164592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6195060" y="2121408"/>
            <a:ext cx="164592" cy="164592"/>
          </a:xfrm>
          <a:prstGeom prst="ellipse">
            <a:avLst/>
          </a:prstGeom>
          <a:solidFill>
            <a:srgbClr val="3C6E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239512" y="2331720"/>
            <a:ext cx="2075688" cy="3310128"/>
          </a:xfrm>
          <a:prstGeom prst="roundRect">
            <a:avLst>
              <a:gd name="adj" fmla="val 5286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5376672" y="2331720"/>
            <a:ext cx="1801368" cy="45720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5404104" y="24963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C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47" name="Text 43"/>
          <p:cNvSpPr/>
          <p:nvPr/>
        </p:nvSpPr>
        <p:spPr>
          <a:xfrm>
            <a:off x="5897880" y="2496312"/>
            <a:ext cx="886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선정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6748272" y="2459736"/>
            <a:ext cx="402336" cy="402336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4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8856" y="2560320"/>
            <a:ext cx="201168" cy="201168"/>
          </a:xfrm>
          <a:prstGeom prst="rect">
            <a:avLst/>
          </a:prstGeom>
        </p:spPr>
      </p:pic>
      <p:sp>
        <p:nvSpPr>
          <p:cNvPr id="50" name="Shape 45"/>
          <p:cNvSpPr/>
          <p:nvPr/>
        </p:nvSpPr>
        <p:spPr>
          <a:xfrm>
            <a:off x="5376672" y="2971800"/>
            <a:ext cx="1801368" cy="566928"/>
          </a:xfrm>
          <a:prstGeom prst="roundRect">
            <a:avLst>
              <a:gd name="adj" fmla="val 9677"/>
            </a:avLst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422392" y="2971800"/>
            <a:ext cx="1709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스티커(이모티콘) 주제 탐색</a:t>
            </a:r>
            <a:endParaRPr lang="en-US" sz="1150" dirty="0"/>
          </a:p>
        </p:txBody>
      </p:sp>
      <p:sp>
        <p:nvSpPr>
          <p:cNvPr id="52" name="Text 47"/>
          <p:cNvSpPr/>
          <p:nvPr/>
        </p:nvSpPr>
        <p:spPr>
          <a:xfrm>
            <a:off x="5404104" y="3657600"/>
            <a:ext cx="1746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많이 사용하는 사용처의 트렌드를 참고하여 주제를 선정해 주세요.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5376672" y="45262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5486400" y="46634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5660136" y="45262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SOOP 트렌드</a:t>
            </a:r>
            <a:endParaRPr lang="en-US" sz="900" dirty="0"/>
          </a:p>
        </p:txBody>
      </p:sp>
      <p:sp>
        <p:nvSpPr>
          <p:cNvPr id="56" name="Shape 51"/>
          <p:cNvSpPr/>
          <p:nvPr/>
        </p:nvSpPr>
        <p:spPr>
          <a:xfrm>
            <a:off x="5376672" y="49834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5486400" y="51206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5660136" y="49834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SOOP 트렌드에 따른 이모티콘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7333488" y="3904488"/>
            <a:ext cx="91440" cy="164592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8403336" y="2121408"/>
            <a:ext cx="164592" cy="164592"/>
          </a:xfrm>
          <a:prstGeom prst="ellipse">
            <a:avLst/>
          </a:prstGeom>
          <a:solidFill>
            <a:srgbClr val="3C6E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Shape 56"/>
          <p:cNvSpPr/>
          <p:nvPr/>
        </p:nvSpPr>
        <p:spPr>
          <a:xfrm>
            <a:off x="7447788" y="2331720"/>
            <a:ext cx="2075688" cy="3310128"/>
          </a:xfrm>
          <a:prstGeom prst="roundRect">
            <a:avLst>
              <a:gd name="adj" fmla="val 5286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62" name="Shape 57"/>
          <p:cNvSpPr/>
          <p:nvPr/>
        </p:nvSpPr>
        <p:spPr>
          <a:xfrm>
            <a:off x="7584948" y="2331720"/>
            <a:ext cx="1801368" cy="45720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7612380" y="24963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C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64" name="Text 59"/>
          <p:cNvSpPr/>
          <p:nvPr/>
        </p:nvSpPr>
        <p:spPr>
          <a:xfrm>
            <a:off x="8106156" y="2496312"/>
            <a:ext cx="886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24종 구성</a:t>
            </a:r>
            <a:endParaRPr lang="en-US" sz="1100" dirty="0"/>
          </a:p>
        </p:txBody>
      </p:sp>
      <p:sp>
        <p:nvSpPr>
          <p:cNvPr id="65" name="Shape 60"/>
          <p:cNvSpPr/>
          <p:nvPr/>
        </p:nvSpPr>
        <p:spPr>
          <a:xfrm>
            <a:off x="8956548" y="2459736"/>
            <a:ext cx="402336" cy="402336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6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7132" y="2560320"/>
            <a:ext cx="201168" cy="201168"/>
          </a:xfrm>
          <a:prstGeom prst="rect">
            <a:avLst/>
          </a:prstGeom>
        </p:spPr>
      </p:pic>
      <p:sp>
        <p:nvSpPr>
          <p:cNvPr id="67" name="Shape 61"/>
          <p:cNvSpPr/>
          <p:nvPr/>
        </p:nvSpPr>
        <p:spPr>
          <a:xfrm>
            <a:off x="7584948" y="2971800"/>
            <a:ext cx="1801368" cy="566928"/>
          </a:xfrm>
          <a:prstGeom prst="roundRect">
            <a:avLst>
              <a:gd name="adj" fmla="val 9677"/>
            </a:avLst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68" name="Text 62"/>
          <p:cNvSpPr/>
          <p:nvPr/>
        </p:nvSpPr>
        <p:spPr>
          <a:xfrm>
            <a:off x="7630668" y="2971800"/>
            <a:ext cx="1709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환경과 구성</a:t>
            </a:r>
            <a:endParaRPr lang="en-US" sz="1150" dirty="0"/>
          </a:p>
        </p:txBody>
      </p:sp>
      <p:sp>
        <p:nvSpPr>
          <p:cNvPr id="69" name="Text 63"/>
          <p:cNvSpPr/>
          <p:nvPr/>
        </p:nvSpPr>
        <p:spPr>
          <a:xfrm>
            <a:off x="7612380" y="3657600"/>
            <a:ext cx="1746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입장에서 어떤 용도로 어떻게 사용할지를 전략적으로 구상해 보세요.</a:t>
            </a:r>
            <a:endParaRPr lang="en-US" sz="950" dirty="0"/>
          </a:p>
        </p:txBody>
      </p:sp>
      <p:sp>
        <p:nvSpPr>
          <p:cNvPr id="70" name="Shape 64"/>
          <p:cNvSpPr/>
          <p:nvPr/>
        </p:nvSpPr>
        <p:spPr>
          <a:xfrm>
            <a:off x="7584948" y="45262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71" name="Shape 65"/>
          <p:cNvSpPr/>
          <p:nvPr/>
        </p:nvSpPr>
        <p:spPr>
          <a:xfrm>
            <a:off x="7694676" y="46634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72" name="Text 66"/>
          <p:cNvSpPr/>
          <p:nvPr/>
        </p:nvSpPr>
        <p:spPr>
          <a:xfrm>
            <a:off x="7868412" y="45262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 흐름에 따른 배치</a:t>
            </a:r>
            <a:endParaRPr lang="en-US" sz="900" dirty="0"/>
          </a:p>
        </p:txBody>
      </p:sp>
      <p:sp>
        <p:nvSpPr>
          <p:cNvPr id="73" name="Shape 67"/>
          <p:cNvSpPr/>
          <p:nvPr/>
        </p:nvSpPr>
        <p:spPr>
          <a:xfrm>
            <a:off x="7584948" y="49834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74" name="Shape 68"/>
          <p:cNvSpPr/>
          <p:nvPr/>
        </p:nvSpPr>
        <p:spPr>
          <a:xfrm>
            <a:off x="7694676" y="51206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75" name="Text 69"/>
          <p:cNvSpPr/>
          <p:nvPr/>
        </p:nvSpPr>
        <p:spPr>
          <a:xfrm>
            <a:off x="7868412" y="49834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24칸 배치도</a:t>
            </a:r>
            <a:endParaRPr lang="en-US" sz="900" dirty="0"/>
          </a:p>
        </p:txBody>
      </p:sp>
      <p:sp>
        <p:nvSpPr>
          <p:cNvPr id="76" name="Shape 70"/>
          <p:cNvSpPr/>
          <p:nvPr/>
        </p:nvSpPr>
        <p:spPr>
          <a:xfrm>
            <a:off x="9541764" y="3904488"/>
            <a:ext cx="91440" cy="164592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77" name="Shape 71"/>
          <p:cNvSpPr/>
          <p:nvPr/>
        </p:nvSpPr>
        <p:spPr>
          <a:xfrm>
            <a:off x="10611612" y="2121408"/>
            <a:ext cx="164592" cy="164592"/>
          </a:xfrm>
          <a:prstGeom prst="ellipse">
            <a:avLst/>
          </a:prstGeom>
          <a:solidFill>
            <a:srgbClr val="3C6E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8" name="Shape 72"/>
          <p:cNvSpPr/>
          <p:nvPr/>
        </p:nvSpPr>
        <p:spPr>
          <a:xfrm>
            <a:off x="9656064" y="2331720"/>
            <a:ext cx="2075688" cy="3310128"/>
          </a:xfrm>
          <a:prstGeom prst="roundRect">
            <a:avLst>
              <a:gd name="adj" fmla="val 5286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79" name="Shape 73"/>
          <p:cNvSpPr/>
          <p:nvPr/>
        </p:nvSpPr>
        <p:spPr>
          <a:xfrm>
            <a:off x="9793224" y="2331720"/>
            <a:ext cx="1801368" cy="45720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80" name="Text 74"/>
          <p:cNvSpPr/>
          <p:nvPr/>
        </p:nvSpPr>
        <p:spPr>
          <a:xfrm>
            <a:off x="9820656" y="24963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C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81" name="Text 75"/>
          <p:cNvSpPr/>
          <p:nvPr/>
        </p:nvSpPr>
        <p:spPr>
          <a:xfrm>
            <a:off x="10314432" y="2496312"/>
            <a:ext cx="886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출시·홍보</a:t>
            </a:r>
            <a:endParaRPr lang="en-US" sz="1100" dirty="0"/>
          </a:p>
        </p:txBody>
      </p:sp>
      <p:sp>
        <p:nvSpPr>
          <p:cNvPr id="82" name="Shape 76"/>
          <p:cNvSpPr/>
          <p:nvPr/>
        </p:nvSpPr>
        <p:spPr>
          <a:xfrm>
            <a:off x="11164824" y="2459736"/>
            <a:ext cx="402336" cy="402336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560320"/>
            <a:ext cx="201168" cy="201168"/>
          </a:xfrm>
          <a:prstGeom prst="rect">
            <a:avLst/>
          </a:prstGeom>
        </p:spPr>
      </p:pic>
      <p:sp>
        <p:nvSpPr>
          <p:cNvPr id="84" name="Shape 77"/>
          <p:cNvSpPr/>
          <p:nvPr/>
        </p:nvSpPr>
        <p:spPr>
          <a:xfrm>
            <a:off x="9793224" y="2971800"/>
            <a:ext cx="1801368" cy="566928"/>
          </a:xfrm>
          <a:prstGeom prst="roundRect">
            <a:avLst>
              <a:gd name="adj" fmla="val 9677"/>
            </a:avLst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85" name="Text 78"/>
          <p:cNvSpPr/>
          <p:nvPr/>
        </p:nvSpPr>
        <p:spPr>
          <a:xfrm>
            <a:off x="9838944" y="2971800"/>
            <a:ext cx="1709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이용자 패턴과 시즌</a:t>
            </a:r>
            <a:endParaRPr lang="en-US" sz="1150" dirty="0"/>
          </a:p>
        </p:txBody>
      </p:sp>
      <p:sp>
        <p:nvSpPr>
          <p:cNvPr id="86" name="Text 79"/>
          <p:cNvSpPr/>
          <p:nvPr/>
        </p:nvSpPr>
        <p:spPr>
          <a:xfrm>
            <a:off x="9820656" y="3657600"/>
            <a:ext cx="1746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예약 기능을 이용하여 전략적인 출시와 홍보를 도전해 보세요.</a:t>
            </a:r>
            <a:endParaRPr lang="en-US" sz="950" dirty="0"/>
          </a:p>
        </p:txBody>
      </p:sp>
      <p:sp>
        <p:nvSpPr>
          <p:cNvPr id="87" name="Shape 80"/>
          <p:cNvSpPr/>
          <p:nvPr/>
        </p:nvSpPr>
        <p:spPr>
          <a:xfrm>
            <a:off x="9793224" y="45262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88" name="Shape 81"/>
          <p:cNvSpPr/>
          <p:nvPr/>
        </p:nvSpPr>
        <p:spPr>
          <a:xfrm>
            <a:off x="9902952" y="46634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89" name="Text 82"/>
          <p:cNvSpPr/>
          <p:nvPr/>
        </p:nvSpPr>
        <p:spPr>
          <a:xfrm>
            <a:off x="10076688" y="45262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시간대, 요일별 매출 비율</a:t>
            </a:r>
            <a:endParaRPr lang="en-US" sz="900" dirty="0"/>
          </a:p>
        </p:txBody>
      </p:sp>
      <p:sp>
        <p:nvSpPr>
          <p:cNvPr id="90" name="Shape 83"/>
          <p:cNvSpPr/>
          <p:nvPr/>
        </p:nvSpPr>
        <p:spPr>
          <a:xfrm>
            <a:off x="9793224" y="49834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91" name="Shape 84"/>
          <p:cNvSpPr/>
          <p:nvPr/>
        </p:nvSpPr>
        <p:spPr>
          <a:xfrm>
            <a:off x="9902952" y="51206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92" name="Text 85"/>
          <p:cNvSpPr/>
          <p:nvPr/>
        </p:nvSpPr>
        <p:spPr>
          <a:xfrm>
            <a:off x="10076688" y="49834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시즌별 캘린더</a:t>
            </a:r>
            <a:endParaRPr lang="en-US" sz="900" dirty="0"/>
          </a:p>
        </p:txBody>
      </p:sp>
      <p:sp>
        <p:nvSpPr>
          <p:cNvPr id="93" name="Shape 86"/>
          <p:cNvSpPr/>
          <p:nvPr/>
        </p:nvSpPr>
        <p:spPr>
          <a:xfrm>
            <a:off x="822960" y="5815584"/>
            <a:ext cx="10908792" cy="457200"/>
          </a:xfrm>
          <a:prstGeom prst="roundRect">
            <a:avLst>
              <a:gd name="adj" fmla="val 16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94" name="Text 87"/>
          <p:cNvSpPr/>
          <p:nvPr/>
        </p:nvSpPr>
        <p:spPr>
          <a:xfrm>
            <a:off x="1005840" y="58155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플레이북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자료는 크리에이터 님들의 OGQ 콘텐츠 제작에 참고가 되도록 데이터를 정리한 것입니다. 정답이 아닌 출발점이니, 나만의 스타일과 아이디어에 맞게 자유롭게 활용해 주세요.</a:t>
            </a:r>
            <a:endParaRPr lang="en-US" sz="1050" dirty="0"/>
          </a:p>
        </p:txBody>
      </p:sp>
      <p:sp>
        <p:nvSpPr>
          <p:cNvPr id="95" name="Text 88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F4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w="12700">
            <a:solidFill>
              <a:srgbClr val="2A5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w="12700">
            <a:solidFill>
              <a:srgbClr val="356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w="12700">
            <a:solidFill>
              <a:srgbClr val="2A5A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 PLAYBOOK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채팅+ OGQ마켓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매출 스티커(이모티콘) 탐색 방법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인기차트를 실시간으로 확인하는 방법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인기 차트를 통하여 현재 마켓 트렌드를 확인해 보세요.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3200400" cy="15885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pic>
      <p:sp>
        <p:nvSpPr>
          <p:cNvPr id="9" name="Shape 6"/>
          <p:cNvSpPr/>
          <p:nvPr/>
        </p:nvSpPr>
        <p:spPr>
          <a:xfrm>
            <a:off x="2331720" y="2286000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331720" y="228600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메인 ‘인기차트’ 큐레이션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911096"/>
            <a:ext cx="3200400" cy="201423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pic>
      <p:sp>
        <p:nvSpPr>
          <p:cNvPr id="12" name="Shape 8"/>
          <p:cNvSpPr/>
          <p:nvPr/>
        </p:nvSpPr>
        <p:spPr>
          <a:xfrm>
            <a:off x="2423160" y="3984248"/>
            <a:ext cx="1508760" cy="237744"/>
          </a:xfrm>
          <a:prstGeom prst="roundRect">
            <a:avLst>
              <a:gd name="adj" fmla="val 5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423160" y="3984248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인기 탭 · 실시간 순위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822960" y="6016773"/>
            <a:ext cx="3200400" cy="274320"/>
          </a:xfrm>
          <a:prstGeom prst="roundRect">
            <a:avLst>
              <a:gd name="adj" fmla="val 5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601677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채팅+ OGQ마켓 › 홈 ‘인기차트’ / ‘인기’ 탭  </a:t>
            </a:r>
            <a:pPr algn="ctr" indent="0" marL="0">
              <a:buNone/>
            </a:pPr>
            <a:r>
              <a:rPr lang="en-US" sz="850" u="sng" dirty="0">
                <a:solidFill>
                  <a:srgbClr val="9FD3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(바로가기)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4251960" y="2212848"/>
            <a:ext cx="7479792" cy="1042416"/>
          </a:xfrm>
          <a:prstGeom prst="roundRect">
            <a:avLst>
              <a:gd name="adj" fmla="val 877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416552" y="2505456"/>
            <a:ext cx="457200" cy="45720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16552" y="2505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5029200" y="2414016"/>
            <a:ext cx="6519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‘인기차트’ 큐레이션 확인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5029200" y="2706624"/>
            <a:ext cx="6519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상단 인기차트 1~10. 실시간 집계라 자주 바뀝니다 — 순위 옆 ▲▼ 변동 표시로 새로 올라오는 콘텐츠를 잡으세요.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251960" y="3364992"/>
            <a:ext cx="7479792" cy="1042416"/>
          </a:xfrm>
          <a:prstGeom prst="roundRect">
            <a:avLst>
              <a:gd name="adj" fmla="val 877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416552" y="3657600"/>
            <a:ext cx="457200" cy="45720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416552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5029200" y="3566160"/>
            <a:ext cx="6519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‘인기’ 탭에서 전체 순위 확인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5029200" y="3858768"/>
            <a:ext cx="6519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전체보기 › 인기 탭이 전체 실시간 순위. 손글씨·인사·감사·캐릭터 등 어떤 유형이 상위인지, 신규 탭에서 새 진입 콘텐츠도 함께 봅니다.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4251960" y="4517136"/>
            <a:ext cx="7479792" cy="1042416"/>
          </a:xfrm>
          <a:prstGeom prst="roundRect">
            <a:avLst>
              <a:gd name="adj" fmla="val 877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416552" y="4809744"/>
            <a:ext cx="457200" cy="45720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416552" y="4809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5029200" y="4718304"/>
            <a:ext cx="6519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실시간이므로 기록하며, 시즌은 미리 역산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5029200" y="5010912"/>
            <a:ext cx="6519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차트가 없으니 주 2~3회 캡처해 변동을 비교. 채팅+는 설날이 있는 2월에 명절 테마가 그 달 매출의 39.2% — 다가올 명절·기념일을 먼저 준비하세요.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4251960" y="5779008"/>
            <a:ext cx="7479792" cy="384048"/>
          </a:xfrm>
          <a:prstGeom prst="roundRect">
            <a:avLst>
              <a:gd name="adj" fmla="val 19048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4434840" y="5779008"/>
            <a:ext cx="7114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인기차트 실시간 순위 + 시즌 캘린더를 함께 확인 — 인사·감사·명절 문구가 핵심 키워드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콘텐츠 분석하기 (TOP 25)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25 상세 분석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상반기 월별 TOP 25 매출액 기준 데이터입니다.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2560320" cy="777240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2219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2606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움직이는(GIF) 이모티콘 비중 (콘텐츠 수 기준)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547872" y="2148840"/>
            <a:ext cx="2560320" cy="777240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7872" y="22219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99.4%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47872" y="2606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포함 콘텐츠 비중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72784" y="2148840"/>
            <a:ext cx="2560320" cy="777240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2784" y="22219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79.0%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272784" y="2606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표준어 비중 — 신조어는 10%뿐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997696" y="2148840"/>
            <a:ext cx="2560320" cy="777240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97696" y="22219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90.6%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997696" y="2606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파스텔 톤 매출 비중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22960" y="3108960"/>
            <a:ext cx="4572000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1089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유형별 매출 비중 (%)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356616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인사·감사형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40280" y="3566160"/>
            <a:ext cx="2697480" cy="201168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92624" y="356616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" y="384962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리액션 캐릭터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240280" y="3849624"/>
            <a:ext cx="2508485" cy="201168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3629" y="38496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2960" y="413308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시즌·기념일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240280" y="4133088"/>
            <a:ext cx="2113312" cy="201168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08456" y="413308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24.6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22960" y="441655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연애·애정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240280" y="4416552"/>
            <a:ext cx="824707" cy="201168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119851" y="44165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" y="470001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손글씨·문구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240280" y="4700016"/>
            <a:ext cx="446716" cy="201168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1860" y="470001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240280" y="3520440"/>
            <a:ext cx="0" cy="1426464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2960" y="49377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인사·감사형  </a:t>
            </a:r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안녕하세요·감사합니다 — 4~5월엔 매출의 62~70%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22960" y="51663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리액션 캐릭터  </a:t>
            </a:r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귀여운 파스텔 캐릭터의 공감·응원 리액션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22960" y="53949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시즌·기념일  </a:t>
            </a:r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설날·명절 인사 — 1~2월 매출의 36~41%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" y="56235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연애·애정 / 손글씨·문구  </a:t>
            </a:r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연인·가족 애정 표현 · 캘리는 소수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23560" y="3108960"/>
            <a:ext cx="6108192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23560" y="3108960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콘텐츠 속성별 데이터 (매출액 기준)</a:t>
            </a:r>
            <a:endParaRPr lang="en-US" sz="11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3474720"/>
          <a:ext cx="610819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371600"/>
                <a:gridCol w="1042416"/>
                <a:gridCol w="1371600"/>
                <a:gridCol w="1042416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속성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1위 값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매출 비중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2위 값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매출 비중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C6E3D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콘텐츠 유형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GIF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72.0%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정지형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28.0%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텍스트 비중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61.2%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32.4%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텍스트 종류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79.0%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신조어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10.0%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기반 분류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추상적 캐릭터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85.1%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8.1%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콘텐츠 도메인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일상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84.3%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10.3%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 성격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귀여운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90.4%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힐링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색상 스타일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파스텔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90.6%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원색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라인 스타일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굵은 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96.9%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2.0%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배경 유형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투명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95.6%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배경 꽉 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BD9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맥락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60.8%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축하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11.0%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Shape 42"/>
          <p:cNvSpPr/>
          <p:nvPr/>
        </p:nvSpPr>
        <p:spPr>
          <a:xfrm>
            <a:off x="822960" y="5961888"/>
            <a:ext cx="10908792" cy="365760"/>
          </a:xfrm>
          <a:prstGeom prst="roundRect">
            <a:avLst>
              <a:gd name="adj" fmla="val 2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005840" y="59618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콘텐츠 분석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매출 상위 콘텐츠를 분석하여 이모티콘 제작에 참고해 주세요.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팔리는 주제 선정하기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문자를 보내는 ‘상대’와 ‘순간’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채팅+(RCS 문자) 대화의 흐름을 참고하여 스티커(이모티콘)로 표현해 보세요.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121408"/>
            <a:ext cx="4114800" cy="310896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2140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채팅+ 메시지는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94960" y="2121408"/>
            <a:ext cx="6336792" cy="310896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94960" y="2121408"/>
            <a:ext cx="6336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메시지에 이런 이모티콘을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2505456"/>
            <a:ext cx="41148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0976" y="2624328"/>
            <a:ext cx="365760" cy="36576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715768"/>
            <a:ext cx="182880" cy="1828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1444752" y="2587752"/>
            <a:ext cx="114300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444752" y="258775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인사·감사 31%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444752" y="277977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문자는 예의 바르게 — 인사·감사 세트가 매출 1위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4~5월(가정의 달)엔 매출의 62~70%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038344" y="2706624"/>
            <a:ext cx="256032" cy="201168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394960" y="2505456"/>
            <a:ext cx="6336792" cy="603504"/>
          </a:xfrm>
          <a:prstGeom prst="roundRect">
            <a:avLst>
              <a:gd name="adj" fmla="val 12121"/>
            </a:avLst>
          </a:prstGeom>
          <a:solidFill>
            <a:srgbClr val="F2F8F3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04688" y="258775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504688" y="25877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6035040" y="25603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공손한 인사·감사 세트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504688" y="28072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가족·어른·거래처에게 보내도 되는 말투. 아침·저녁 인사와 감사 표현을 한 세트에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9601200" y="2578608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601200" y="257860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10680192" y="2578608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80192" y="257860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9601200" y="2834640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601200" y="283464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10680192" y="2834640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680192" y="283464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부탁드립니다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822960" y="3172968"/>
            <a:ext cx="41148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50976" y="3291840"/>
            <a:ext cx="365760" cy="36576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3383280"/>
            <a:ext cx="182880" cy="182880"/>
          </a:xfrm>
          <a:prstGeom prst="rect">
            <a:avLst/>
          </a:prstGeom>
        </p:spPr>
      </p:pic>
      <p:sp>
        <p:nvSpPr>
          <p:cNvPr id="35" name="Shape 31"/>
          <p:cNvSpPr/>
          <p:nvPr/>
        </p:nvSpPr>
        <p:spPr>
          <a:xfrm>
            <a:off x="1444752" y="3255264"/>
            <a:ext cx="114300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1444752" y="3255264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표준어 79%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1444752" y="344728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신조어보다 표준어 — 받는 사람이 넓다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포함 99%, 신조어는 10%뿐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5038344" y="3374136"/>
            <a:ext cx="256032" cy="201168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394960" y="3172968"/>
            <a:ext cx="6336792" cy="603504"/>
          </a:xfrm>
          <a:prstGeom prst="roundRect">
            <a:avLst>
              <a:gd name="adj" fmla="val 12121"/>
            </a:avLst>
          </a:prstGeom>
          <a:solidFill>
            <a:srgbClr val="F2F8F3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504688" y="3255264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504688" y="325526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750" dirty="0"/>
          </a:p>
        </p:txBody>
      </p:sp>
      <p:sp>
        <p:nvSpPr>
          <p:cNvPr id="42" name="Text 38"/>
          <p:cNvSpPr/>
          <p:nvPr/>
        </p:nvSpPr>
        <p:spPr>
          <a:xfrm>
            <a:off x="6035040" y="32278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사회생활 리액션 세트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5504688" y="347472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직장·단체방에서 쓰는 확인·사과·요청. 귀여운 캐릭터로 딱딱함을 덜어내기</a:t>
            </a:r>
            <a:endParaRPr lang="en-US" sz="800" dirty="0"/>
          </a:p>
        </p:txBody>
      </p:sp>
      <p:sp>
        <p:nvSpPr>
          <p:cNvPr id="44" name="Shape 40"/>
          <p:cNvSpPr/>
          <p:nvPr/>
        </p:nvSpPr>
        <p:spPr>
          <a:xfrm>
            <a:off x="9601200" y="3246120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9601200" y="324612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알겠습니다</a:t>
            </a:r>
            <a:endParaRPr lang="en-US" sz="750" dirty="0"/>
          </a:p>
        </p:txBody>
      </p:sp>
      <p:sp>
        <p:nvSpPr>
          <p:cNvPr id="46" name="Shape 42"/>
          <p:cNvSpPr/>
          <p:nvPr/>
        </p:nvSpPr>
        <p:spPr>
          <a:xfrm>
            <a:off x="10680192" y="3246120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10680192" y="324612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확인했습니다</a:t>
            </a:r>
            <a:endParaRPr lang="en-US" sz="750" dirty="0"/>
          </a:p>
        </p:txBody>
      </p:sp>
      <p:sp>
        <p:nvSpPr>
          <p:cNvPr id="48" name="Shape 44"/>
          <p:cNvSpPr/>
          <p:nvPr/>
        </p:nvSpPr>
        <p:spPr>
          <a:xfrm>
            <a:off x="9601200" y="3502152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9601200" y="3502152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죄송합니다</a:t>
            </a:r>
            <a:endParaRPr lang="en-US" sz="750" dirty="0"/>
          </a:p>
        </p:txBody>
      </p:sp>
      <p:sp>
        <p:nvSpPr>
          <p:cNvPr id="50" name="Shape 46"/>
          <p:cNvSpPr/>
          <p:nvPr/>
        </p:nvSpPr>
        <p:spPr>
          <a:xfrm>
            <a:off x="10680192" y="3502152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10680192" y="3502152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잠시만요</a:t>
            </a:r>
            <a:endParaRPr lang="en-US" sz="750" dirty="0"/>
          </a:p>
        </p:txBody>
      </p:sp>
      <p:sp>
        <p:nvSpPr>
          <p:cNvPr id="52" name="Shape 48"/>
          <p:cNvSpPr/>
          <p:nvPr/>
        </p:nvSpPr>
        <p:spPr>
          <a:xfrm>
            <a:off x="822960" y="3840480"/>
            <a:ext cx="41148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950976" y="3959352"/>
            <a:ext cx="365760" cy="36576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5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4050792"/>
            <a:ext cx="182880" cy="182880"/>
          </a:xfrm>
          <a:prstGeom prst="rect">
            <a:avLst/>
          </a:prstGeom>
        </p:spPr>
      </p:pic>
      <p:sp>
        <p:nvSpPr>
          <p:cNvPr id="55" name="Shape 50"/>
          <p:cNvSpPr/>
          <p:nvPr/>
        </p:nvSpPr>
        <p:spPr>
          <a:xfrm>
            <a:off x="1444752" y="3922776"/>
            <a:ext cx="114300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1444752" y="39227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시즌 25%</a:t>
            </a:r>
            <a:endParaRPr lang="en-US" sz="750" dirty="0"/>
          </a:p>
        </p:txBody>
      </p:sp>
      <p:sp>
        <p:nvSpPr>
          <p:cNvPr id="57" name="Text 52"/>
          <p:cNvSpPr/>
          <p:nvPr/>
        </p:nvSpPr>
        <p:spPr>
          <a:xfrm>
            <a:off x="1444752" y="4114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명절·기념일에 매출 집중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1~2월 설날 세트 36~41% · 5월 감사 세트 급증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5038344" y="4041648"/>
            <a:ext cx="256032" cy="201168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5394960" y="3840480"/>
            <a:ext cx="6336792" cy="603504"/>
          </a:xfrm>
          <a:prstGeom prst="roundRect">
            <a:avLst>
              <a:gd name="adj" fmla="val 12121"/>
            </a:avLst>
          </a:prstGeom>
          <a:solidFill>
            <a:srgbClr val="F2F8F3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5504688" y="3922776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5504688" y="39227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750" dirty="0"/>
          </a:p>
        </p:txBody>
      </p:sp>
      <p:sp>
        <p:nvSpPr>
          <p:cNvPr id="62" name="Text 57"/>
          <p:cNvSpPr/>
          <p:nvPr/>
        </p:nvSpPr>
        <p:spPr>
          <a:xfrm>
            <a:off x="6035040" y="38953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시즌·기념일 인사 세트</a:t>
            </a:r>
            <a:endParaRPr lang="en-US" sz="1100" dirty="0"/>
          </a:p>
        </p:txBody>
      </p:sp>
      <p:sp>
        <p:nvSpPr>
          <p:cNvPr id="63" name="Text 58"/>
          <p:cNvSpPr/>
          <p:nvPr/>
        </p:nvSpPr>
        <p:spPr>
          <a:xfrm>
            <a:off x="5504688" y="41422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설·추석·새해·어버이날·생일. 시즌 3~4주 전 등록, 캐릭터 하나로 시즌마다 변형</a:t>
            </a:r>
            <a:endParaRPr lang="en-US" sz="800" dirty="0"/>
          </a:p>
        </p:txBody>
      </p:sp>
      <p:sp>
        <p:nvSpPr>
          <p:cNvPr id="64" name="Shape 59"/>
          <p:cNvSpPr/>
          <p:nvPr/>
        </p:nvSpPr>
        <p:spPr>
          <a:xfrm>
            <a:off x="9601200" y="3913632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9601200" y="3913632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새해 복 많이</a:t>
            </a:r>
            <a:endParaRPr lang="en-US" sz="750" dirty="0"/>
          </a:p>
        </p:txBody>
      </p:sp>
      <p:sp>
        <p:nvSpPr>
          <p:cNvPr id="66" name="Shape 61"/>
          <p:cNvSpPr/>
          <p:nvPr/>
        </p:nvSpPr>
        <p:spPr>
          <a:xfrm>
            <a:off x="10680192" y="3913632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10680192" y="3913632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즐거운 명절</a:t>
            </a:r>
            <a:endParaRPr lang="en-US" sz="750" dirty="0"/>
          </a:p>
        </p:txBody>
      </p:sp>
      <p:sp>
        <p:nvSpPr>
          <p:cNvPr id="68" name="Shape 63"/>
          <p:cNvSpPr/>
          <p:nvPr/>
        </p:nvSpPr>
        <p:spPr>
          <a:xfrm>
            <a:off x="9601200" y="4169664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9601200" y="4169664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생일 축하해요</a:t>
            </a:r>
            <a:endParaRPr lang="en-US" sz="750" dirty="0"/>
          </a:p>
        </p:txBody>
      </p:sp>
      <p:sp>
        <p:nvSpPr>
          <p:cNvPr id="70" name="Shape 65"/>
          <p:cNvSpPr/>
          <p:nvPr/>
        </p:nvSpPr>
        <p:spPr>
          <a:xfrm>
            <a:off x="10680192" y="4169664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71" name="Text 66"/>
          <p:cNvSpPr/>
          <p:nvPr/>
        </p:nvSpPr>
        <p:spPr>
          <a:xfrm>
            <a:off x="10680192" y="4169664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750" dirty="0"/>
          </a:p>
        </p:txBody>
      </p:sp>
      <p:sp>
        <p:nvSpPr>
          <p:cNvPr id="72" name="Shape 67"/>
          <p:cNvSpPr/>
          <p:nvPr/>
        </p:nvSpPr>
        <p:spPr>
          <a:xfrm>
            <a:off x="822960" y="4507992"/>
            <a:ext cx="41148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73" name="Shape 68"/>
          <p:cNvSpPr/>
          <p:nvPr/>
        </p:nvSpPr>
        <p:spPr>
          <a:xfrm>
            <a:off x="950976" y="4626864"/>
            <a:ext cx="365760" cy="36576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7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" y="4718304"/>
            <a:ext cx="182880" cy="182880"/>
          </a:xfrm>
          <a:prstGeom prst="rect">
            <a:avLst/>
          </a:prstGeom>
        </p:spPr>
      </p:pic>
      <p:sp>
        <p:nvSpPr>
          <p:cNvPr id="75" name="Shape 69"/>
          <p:cNvSpPr/>
          <p:nvPr/>
        </p:nvSpPr>
        <p:spPr>
          <a:xfrm>
            <a:off x="1444752" y="4590288"/>
            <a:ext cx="114300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76" name="Text 70"/>
          <p:cNvSpPr/>
          <p:nvPr/>
        </p:nvSpPr>
        <p:spPr>
          <a:xfrm>
            <a:off x="1444752" y="4590288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 72%</a:t>
            </a:r>
            <a:endParaRPr lang="en-US" sz="750" dirty="0"/>
          </a:p>
        </p:txBody>
      </p:sp>
      <p:sp>
        <p:nvSpPr>
          <p:cNvPr id="77" name="Text 71"/>
          <p:cNvSpPr/>
          <p:nvPr/>
        </p:nvSpPr>
        <p:spPr>
          <a:xfrm>
            <a:off x="1444752" y="478231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움직이는 파스텔 캐릭터가 기본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파스텔 91% · 귀여운 90% · 굵은 선 97%</a:t>
            </a:r>
            <a:endParaRPr lang="en-US" sz="900" dirty="0"/>
          </a:p>
        </p:txBody>
      </p:sp>
      <p:sp>
        <p:nvSpPr>
          <p:cNvPr id="78" name="Shape 72"/>
          <p:cNvSpPr/>
          <p:nvPr/>
        </p:nvSpPr>
        <p:spPr>
          <a:xfrm>
            <a:off x="5038344" y="4709160"/>
            <a:ext cx="256032" cy="201168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79" name="Shape 73"/>
          <p:cNvSpPr/>
          <p:nvPr/>
        </p:nvSpPr>
        <p:spPr>
          <a:xfrm>
            <a:off x="5394960" y="4507992"/>
            <a:ext cx="6336792" cy="603504"/>
          </a:xfrm>
          <a:prstGeom prst="roundRect">
            <a:avLst>
              <a:gd name="adj" fmla="val 12121"/>
            </a:avLst>
          </a:prstGeom>
          <a:solidFill>
            <a:srgbClr val="F2F8F3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80" name="Shape 74"/>
          <p:cNvSpPr/>
          <p:nvPr/>
        </p:nvSpPr>
        <p:spPr>
          <a:xfrm>
            <a:off x="5504688" y="4590288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81" name="Text 75"/>
          <p:cNvSpPr/>
          <p:nvPr/>
        </p:nvSpPr>
        <p:spPr>
          <a:xfrm>
            <a:off x="5504688" y="459028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750" dirty="0"/>
          </a:p>
        </p:txBody>
      </p:sp>
      <p:sp>
        <p:nvSpPr>
          <p:cNvPr id="82" name="Text 76"/>
          <p:cNvSpPr/>
          <p:nvPr/>
        </p:nvSpPr>
        <p:spPr>
          <a:xfrm>
            <a:off x="6035040" y="45628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귀여운 캐릭터 감정 리액션</a:t>
            </a:r>
            <a:endParaRPr lang="en-US" sz="1100" dirty="0"/>
          </a:p>
        </p:txBody>
      </p:sp>
      <p:sp>
        <p:nvSpPr>
          <p:cNvPr id="83" name="Text 77"/>
          <p:cNvSpPr/>
          <p:nvPr/>
        </p:nvSpPr>
        <p:spPr>
          <a:xfrm>
            <a:off x="5504688" y="480974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공감·응원·놀람 같은 일상 감정을 짧은 루프로. 문자 답장 한 번에 마음이 전달되게</a:t>
            </a:r>
            <a:endParaRPr lang="en-US" sz="800" dirty="0"/>
          </a:p>
        </p:txBody>
      </p:sp>
      <p:sp>
        <p:nvSpPr>
          <p:cNvPr id="84" name="Shape 78"/>
          <p:cNvSpPr/>
          <p:nvPr/>
        </p:nvSpPr>
        <p:spPr>
          <a:xfrm>
            <a:off x="9601200" y="4581144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85" name="Text 79"/>
          <p:cNvSpPr/>
          <p:nvPr/>
        </p:nvSpPr>
        <p:spPr>
          <a:xfrm>
            <a:off x="9601200" y="4581144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</a:t>
            </a:r>
            <a:endParaRPr lang="en-US" sz="750" dirty="0"/>
          </a:p>
        </p:txBody>
      </p:sp>
      <p:sp>
        <p:nvSpPr>
          <p:cNvPr id="86" name="Shape 80"/>
          <p:cNvSpPr/>
          <p:nvPr/>
        </p:nvSpPr>
        <p:spPr>
          <a:xfrm>
            <a:off x="10680192" y="4581144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87" name="Text 81"/>
          <p:cNvSpPr/>
          <p:nvPr/>
        </p:nvSpPr>
        <p:spPr>
          <a:xfrm>
            <a:off x="10680192" y="4581144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endParaRPr lang="en-US" sz="750" dirty="0"/>
          </a:p>
        </p:txBody>
      </p:sp>
      <p:sp>
        <p:nvSpPr>
          <p:cNvPr id="88" name="Shape 82"/>
          <p:cNvSpPr/>
          <p:nvPr/>
        </p:nvSpPr>
        <p:spPr>
          <a:xfrm>
            <a:off x="9601200" y="4837176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89" name="Text 83"/>
          <p:cNvSpPr/>
          <p:nvPr/>
        </p:nvSpPr>
        <p:spPr>
          <a:xfrm>
            <a:off x="9601200" y="4837176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헉</a:t>
            </a:r>
            <a:endParaRPr lang="en-US" sz="750" dirty="0"/>
          </a:p>
        </p:txBody>
      </p:sp>
      <p:sp>
        <p:nvSpPr>
          <p:cNvPr id="90" name="Shape 84"/>
          <p:cNvSpPr/>
          <p:nvPr/>
        </p:nvSpPr>
        <p:spPr>
          <a:xfrm>
            <a:off x="10680192" y="4837176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91" name="Text 85"/>
          <p:cNvSpPr/>
          <p:nvPr/>
        </p:nvSpPr>
        <p:spPr>
          <a:xfrm>
            <a:off x="10680192" y="4837176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힝</a:t>
            </a:r>
            <a:endParaRPr lang="en-US" sz="750" dirty="0"/>
          </a:p>
        </p:txBody>
      </p:sp>
      <p:sp>
        <p:nvSpPr>
          <p:cNvPr id="92" name="Shape 86"/>
          <p:cNvSpPr/>
          <p:nvPr/>
        </p:nvSpPr>
        <p:spPr>
          <a:xfrm>
            <a:off x="822960" y="5175504"/>
            <a:ext cx="41148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93" name="Shape 87"/>
          <p:cNvSpPr/>
          <p:nvPr/>
        </p:nvSpPr>
        <p:spPr>
          <a:xfrm>
            <a:off x="950976" y="5294376"/>
            <a:ext cx="365760" cy="36576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9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5385816"/>
            <a:ext cx="182880" cy="182880"/>
          </a:xfrm>
          <a:prstGeom prst="rect">
            <a:avLst/>
          </a:prstGeom>
        </p:spPr>
      </p:pic>
      <p:sp>
        <p:nvSpPr>
          <p:cNvPr id="95" name="Shape 88"/>
          <p:cNvSpPr/>
          <p:nvPr/>
        </p:nvSpPr>
        <p:spPr>
          <a:xfrm>
            <a:off x="1444752" y="5257800"/>
            <a:ext cx="114300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96" name="Text 89"/>
          <p:cNvSpPr/>
          <p:nvPr/>
        </p:nvSpPr>
        <p:spPr>
          <a:xfrm>
            <a:off x="1444752" y="525780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연애·애정 10%</a:t>
            </a:r>
            <a:endParaRPr lang="en-US" sz="750" dirty="0"/>
          </a:p>
        </p:txBody>
      </p:sp>
      <p:sp>
        <p:nvSpPr>
          <p:cNvPr id="97" name="Text 90"/>
          <p:cNvSpPr/>
          <p:nvPr/>
        </p:nvSpPr>
        <p:spPr>
          <a:xfrm>
            <a:off x="1444752" y="544982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연인·가족 간 애정 표현은 꾸준한 수요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84% · 연애 10%</a:t>
            </a:r>
            <a:endParaRPr lang="en-US" sz="900" dirty="0"/>
          </a:p>
        </p:txBody>
      </p:sp>
      <p:sp>
        <p:nvSpPr>
          <p:cNvPr id="98" name="Shape 91"/>
          <p:cNvSpPr/>
          <p:nvPr/>
        </p:nvSpPr>
        <p:spPr>
          <a:xfrm>
            <a:off x="5038344" y="5376672"/>
            <a:ext cx="256032" cy="201168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99" name="Shape 92"/>
          <p:cNvSpPr/>
          <p:nvPr/>
        </p:nvSpPr>
        <p:spPr>
          <a:xfrm>
            <a:off x="5394960" y="5175504"/>
            <a:ext cx="6336792" cy="603504"/>
          </a:xfrm>
          <a:prstGeom prst="roundRect">
            <a:avLst>
              <a:gd name="adj" fmla="val 12121"/>
            </a:avLst>
          </a:prstGeom>
          <a:solidFill>
            <a:srgbClr val="F2F8F3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100" name="Shape 93"/>
          <p:cNvSpPr/>
          <p:nvPr/>
        </p:nvSpPr>
        <p:spPr>
          <a:xfrm>
            <a:off x="5504688" y="5257800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01" name="Text 94"/>
          <p:cNvSpPr/>
          <p:nvPr/>
        </p:nvSpPr>
        <p:spPr>
          <a:xfrm>
            <a:off x="5504688" y="52578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750" dirty="0"/>
          </a:p>
        </p:txBody>
      </p:sp>
      <p:sp>
        <p:nvSpPr>
          <p:cNvPr id="102" name="Text 95"/>
          <p:cNvSpPr/>
          <p:nvPr/>
        </p:nvSpPr>
        <p:spPr>
          <a:xfrm>
            <a:off x="6035040" y="52303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애정·응원 세트</a:t>
            </a:r>
            <a:endParaRPr lang="en-US" sz="1100" dirty="0"/>
          </a:p>
        </p:txBody>
      </p:sp>
      <p:sp>
        <p:nvSpPr>
          <p:cNvPr id="103" name="Text 96"/>
          <p:cNvSpPr/>
          <p:nvPr/>
        </p:nvSpPr>
        <p:spPr>
          <a:xfrm>
            <a:off x="5504688" y="547725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주고받는 짧은 애정 메시지. 아침·밤 인사와 묶으면 활용도 상승</a:t>
            </a:r>
            <a:endParaRPr lang="en-US" sz="800" dirty="0"/>
          </a:p>
        </p:txBody>
      </p:sp>
      <p:sp>
        <p:nvSpPr>
          <p:cNvPr id="104" name="Shape 97"/>
          <p:cNvSpPr/>
          <p:nvPr/>
        </p:nvSpPr>
        <p:spPr>
          <a:xfrm>
            <a:off x="9601200" y="5248656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105" name="Text 98"/>
          <p:cNvSpPr/>
          <p:nvPr/>
        </p:nvSpPr>
        <p:spPr>
          <a:xfrm>
            <a:off x="9601200" y="5248656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사랑해</a:t>
            </a:r>
            <a:endParaRPr lang="en-US" sz="750" dirty="0"/>
          </a:p>
        </p:txBody>
      </p:sp>
      <p:sp>
        <p:nvSpPr>
          <p:cNvPr id="106" name="Shape 99"/>
          <p:cNvSpPr/>
          <p:nvPr/>
        </p:nvSpPr>
        <p:spPr>
          <a:xfrm>
            <a:off x="10680192" y="5248656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107" name="Text 100"/>
          <p:cNvSpPr/>
          <p:nvPr/>
        </p:nvSpPr>
        <p:spPr>
          <a:xfrm>
            <a:off x="10680192" y="5248656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싶어</a:t>
            </a:r>
            <a:endParaRPr lang="en-US" sz="750" dirty="0"/>
          </a:p>
        </p:txBody>
      </p:sp>
      <p:sp>
        <p:nvSpPr>
          <p:cNvPr id="108" name="Shape 101"/>
          <p:cNvSpPr/>
          <p:nvPr/>
        </p:nvSpPr>
        <p:spPr>
          <a:xfrm>
            <a:off x="9601200" y="5504688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109" name="Text 102"/>
          <p:cNvSpPr/>
          <p:nvPr/>
        </p:nvSpPr>
        <p:spPr>
          <a:xfrm>
            <a:off x="9601200" y="5504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오늘도 화이팅</a:t>
            </a:r>
            <a:endParaRPr lang="en-US" sz="750" dirty="0"/>
          </a:p>
        </p:txBody>
      </p:sp>
      <p:sp>
        <p:nvSpPr>
          <p:cNvPr id="110" name="Shape 103"/>
          <p:cNvSpPr/>
          <p:nvPr/>
        </p:nvSpPr>
        <p:spPr>
          <a:xfrm>
            <a:off x="10680192" y="5504688"/>
            <a:ext cx="10241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8C6"/>
            </a:solidFill>
            <a:prstDash val="solid"/>
          </a:ln>
        </p:spPr>
      </p:sp>
      <p:sp>
        <p:nvSpPr>
          <p:cNvPr id="111" name="Text 104"/>
          <p:cNvSpPr/>
          <p:nvPr/>
        </p:nvSpPr>
        <p:spPr>
          <a:xfrm>
            <a:off x="10680192" y="5504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자요</a:t>
            </a:r>
            <a:endParaRPr lang="en-US" sz="750" dirty="0"/>
          </a:p>
        </p:txBody>
      </p:sp>
      <p:sp>
        <p:nvSpPr>
          <p:cNvPr id="112" name="Shape 105"/>
          <p:cNvSpPr/>
          <p:nvPr/>
        </p:nvSpPr>
        <p:spPr>
          <a:xfrm>
            <a:off x="822960" y="5961888"/>
            <a:ext cx="10908792" cy="365760"/>
          </a:xfrm>
          <a:prstGeom prst="roundRect">
            <a:avLst>
              <a:gd name="adj" fmla="val 2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13" name="Text 106"/>
          <p:cNvSpPr/>
          <p:nvPr/>
        </p:nvSpPr>
        <p:spPr>
          <a:xfrm>
            <a:off x="1005840" y="59618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선정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많이 사용하는 사용처의 트렌드를 참고하여 주제를 선정해 주세요.</a:t>
            </a:r>
            <a:endParaRPr lang="en-US" sz="1050" dirty="0"/>
          </a:p>
        </p:txBody>
      </p:sp>
      <p:sp>
        <p:nvSpPr>
          <p:cNvPr id="114" name="Text 107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24종 이미지 구성하기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24장의 순서는 ‘문자 대화 한 번’의 순서입니다.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채팅+ 상위 콘텐츠의 사용 맥락(감정 33% · 일상 24% · 리액션 19% · 인사 14% · 메시지 10%)을 24장으로 환산해 인사 → 감정 → 리액션 → 일상 → 메시지·마무리 순으로 배치합니다.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5486400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4884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흐름 = 배치 순서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2569464"/>
            <a:ext cx="54864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" y="2660904"/>
            <a:ext cx="1051560" cy="420624"/>
          </a:xfrm>
          <a:prstGeom prst="roundRect">
            <a:avLst>
              <a:gd name="adj" fmla="val 17391"/>
            </a:avLst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266090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인사</a:t>
            </a:r>
            <a:pPr algn="ctr" indent="0" marL="0">
              <a:lnSpc>
                <a:spcPct val="105000"/>
              </a:lnSpc>
              <a:buNone/>
            </a:pP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1~3번 · 3장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03120" y="26334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대화를 여는 장면. 미리보기에 먼저 보이는 자리 — 공손하고 밝게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103120" y="2916936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안녕하세요 · 좋은 아침 · 잘 지내셨어요?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371600" y="3154680"/>
            <a:ext cx="164592" cy="109728"/>
          </a:xfrm>
          <a:prstGeom prst="down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3246120"/>
            <a:ext cx="54864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2688" y="3337560"/>
            <a:ext cx="1051560" cy="420624"/>
          </a:xfrm>
          <a:prstGeom prst="roundRect">
            <a:avLst>
              <a:gd name="adj" fmla="val 17391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33375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표현</a:t>
            </a:r>
            <a:pPr algn="ctr" indent="0" marL="0">
              <a:lnSpc>
                <a:spcPct val="105000"/>
              </a:lnSpc>
              <a:buNone/>
            </a:pP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4~11번 · 8장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103120" y="331012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맥락 1위(33%). 기쁨·감동·놀람·미안함 — 긍정 5 : 부정 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103120" y="359359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좋아요 · 감동 · 헉 · 힝 · 죄송해요 · 뿌듯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371600" y="3831336"/>
            <a:ext cx="164592" cy="109728"/>
          </a:xfrm>
          <a:prstGeom prst="down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3922776"/>
            <a:ext cx="54864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32688" y="4014216"/>
            <a:ext cx="1051560" cy="420624"/>
          </a:xfrm>
          <a:prstGeom prst="roundRect">
            <a:avLst>
              <a:gd name="adj" fmla="val 17391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2688" y="401421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리액션</a:t>
            </a:r>
            <a:pPr algn="ctr" indent="0" marL="0">
              <a:lnSpc>
                <a:spcPct val="105000"/>
              </a:lnSpc>
              <a:buNone/>
            </a:pP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12~15번 · 4장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103120" y="3986784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 말에 바로 답하는 짧은 반응. 확인·동의·응원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103120" y="4270248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네! · 알겠습니다 · 화이팅 · 최고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371600" y="4507992"/>
            <a:ext cx="164592" cy="109728"/>
          </a:xfrm>
          <a:prstGeom prst="down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2960" y="4599432"/>
            <a:ext cx="54864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32688" y="4690872"/>
            <a:ext cx="1051560" cy="420624"/>
          </a:xfrm>
          <a:prstGeom prst="roundRect">
            <a:avLst>
              <a:gd name="adj" fmla="val 17391"/>
            </a:avLst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2688" y="469087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일상·상황</a:t>
            </a:r>
            <a:pPr algn="ctr" indent="0" marL="0">
              <a:lnSpc>
                <a:spcPct val="105000"/>
              </a:lnSpc>
              <a:buNone/>
            </a:pP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16~21번 · 6장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103120" y="46634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출근·식사·이동·휴식 등 하루 중 보내는 상황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103120" y="4946904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출근 중 · 밥 먹자 · 가는 중 · 잠깐만 · 퇴근 · 쉬는 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371600" y="5184648"/>
            <a:ext cx="164592" cy="109728"/>
          </a:xfrm>
          <a:prstGeom prst="down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" y="5276088"/>
            <a:ext cx="5486400" cy="603504"/>
          </a:xfrm>
          <a:prstGeom prst="roundRect">
            <a:avLst>
              <a:gd name="adj" fmla="val 1212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32688" y="5367528"/>
            <a:ext cx="1051560" cy="420624"/>
          </a:xfrm>
          <a:prstGeom prst="roundRect">
            <a:avLst>
              <a:gd name="adj" fmla="val 17391"/>
            </a:avLst>
          </a:prstGeom>
          <a:solidFill>
            <a:srgbClr val="EAF0E8"/>
          </a:solidFill>
          <a:ln w="12700">
            <a:solidFill>
              <a:srgbClr val="EAF0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2688" y="536752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메시지·마무리</a:t>
            </a:r>
            <a:pPr algn="ctr" indent="0" marL="0">
              <a:lnSpc>
                <a:spcPct val="105000"/>
              </a:lnSpc>
              <a:buNone/>
            </a:pP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22~24번 · 3장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103120" y="534009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부탁·감사·인사로 대화를 닫는 장면. 마지막 장은 항상 인사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103120" y="562356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부탁드려요 · 감사합니다 · 잘 자요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583680" y="2148840"/>
            <a:ext cx="5148072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83680" y="2148840"/>
            <a:ext cx="5148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24칸 배치도 (마켓 노출 순서 = 등록 순서)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675120" y="2569464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5120" y="256946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인사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379208" y="2569464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79208" y="256946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083296" y="2569464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256946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8787384" y="2569464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787384" y="256946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표현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491472" y="2569464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91472" y="256946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0195560" y="2569464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195560" y="256946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675120" y="2999232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75120" y="299923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379208" y="2999232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379208" y="299923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8083296" y="2999232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083296" y="299923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8787384" y="2999232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787384" y="299923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9491472" y="2999232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6E9A6A"/>
          </a:solidFill>
          <a:ln w="12700">
            <a:solidFill>
              <a:srgbClr val="6E9A6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491472" y="299923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195560" y="2999232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195560" y="299923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6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리액션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675120" y="3429000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675120" y="34290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379208" y="3429000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79208" y="34290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8083296" y="3429000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083296" y="34290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787384" y="3429000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787384" y="34290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6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일상·상황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491472" y="3429000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491472" y="34290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10195560" y="3429000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195560" y="34290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6675120" y="3858768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675120" y="385876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7379208" y="3858768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79208" y="385876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8083296" y="3858768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D0DFCD"/>
          </a:solidFill>
          <a:ln w="12700">
            <a:solidFill>
              <a:srgbClr val="D0DFC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083296" y="385876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8787384" y="3858768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EAF0E8"/>
          </a:solidFill>
          <a:ln w="12700">
            <a:solidFill>
              <a:srgbClr val="EAF0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787384" y="385876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6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메시지·마무리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9491472" y="3858768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EAF0E8"/>
          </a:solidFill>
          <a:ln w="12700">
            <a:solidFill>
              <a:srgbClr val="EAF0E8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491472" y="385876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10195560" y="3858768"/>
            <a:ext cx="658368" cy="384048"/>
          </a:xfrm>
          <a:prstGeom prst="roundRect">
            <a:avLst>
              <a:gd name="adj" fmla="val 11905"/>
            </a:avLst>
          </a:prstGeom>
          <a:solidFill>
            <a:srgbClr val="EAF0E8"/>
          </a:solidFill>
          <a:ln w="12700">
            <a:solidFill>
              <a:srgbClr val="EAF0E8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0195560" y="385876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pPr algn="ctr" indent="0" marL="0">
              <a:lnSpc>
                <a:spcPct val="95000"/>
              </a:lnSpc>
              <a:buNone/>
            </a:pP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6638544" y="2532888"/>
            <a:ext cx="2139696" cy="457200"/>
          </a:xfrm>
          <a:prstGeom prst="roundRect">
            <a:avLst>
              <a:gd name="adj" fmla="val 12000"/>
            </a:avLst>
          </a:prstGeom>
          <a:ln w="19050">
            <a:solidFill>
              <a:srgbClr val="E0632F"/>
            </a:solidFill>
            <a:prstDash val="dash"/>
          </a:ln>
        </p:spPr>
      </p:sp>
      <p:sp>
        <p:nvSpPr>
          <p:cNvPr id="90" name="Text 88"/>
          <p:cNvSpPr/>
          <p:nvPr/>
        </p:nvSpPr>
        <p:spPr>
          <a:xfrm>
            <a:off x="10917936" y="255117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E06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◀ 1~3번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E06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미리보기 첫인상</a:t>
            </a:r>
            <a:endParaRPr lang="en-US" sz="750" dirty="0"/>
          </a:p>
        </p:txBody>
      </p:sp>
      <p:sp>
        <p:nvSpPr>
          <p:cNvPr id="91" name="Text 89"/>
          <p:cNvSpPr/>
          <p:nvPr/>
        </p:nvSpPr>
        <p:spPr>
          <a:xfrm>
            <a:off x="6583680" y="4398264"/>
            <a:ext cx="5148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규칙 5가지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6583680" y="4617720"/>
            <a:ext cx="5148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</a:t>
            </a:r>
            <a:pPr indent="0" marL="0">
              <a:buNone/>
            </a:pPr>
            <a:r>
              <a:rPr lang="en-US" sz="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1~3번에 가장 잘 팔릴 장면  </a:t>
            </a:r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미리보기에 먼저 보이는 자리. 채팅+는 인사·감사가 1위 — 인사를 앞에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6583680" y="4846320"/>
            <a:ext cx="5148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</a:t>
            </a:r>
            <a:pPr indent="0" marL="0">
              <a:buNone/>
            </a:pPr>
            <a:r>
              <a:rPr lang="en-US" sz="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구간은 붙여서  </a:t>
            </a:r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감정끼리, 상황끼리 모여 있어야 답장하다가 바로 찾음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6583680" y="5074920"/>
            <a:ext cx="5148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</a:t>
            </a:r>
            <a:pPr indent="0" marL="0">
              <a:buNone/>
            </a:pPr>
            <a:r>
              <a:rPr lang="en-US" sz="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긍정·부정은 짝으로 나란히  </a:t>
            </a:r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‘좋아요’ 옆에 ‘죄송해요’, ‘네!’ 옆에 ‘잠깐만’ — 선택지가 한 화면에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6583680" y="5303520"/>
            <a:ext cx="5148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</a:t>
            </a:r>
            <a:pPr indent="0" marL="0">
              <a:buNone/>
            </a:pPr>
            <a:r>
              <a:rPr lang="en-US" sz="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장은 항상 인사  </a:t>
            </a:r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24번 = 대화 닫는 문구. ‘잘 자요·감사합니다’가 가장 자주 재사용됨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6583680" y="5532120"/>
            <a:ext cx="5148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</a:t>
            </a:r>
            <a:pPr indent="0" marL="0">
              <a:buNone/>
            </a:pPr>
            <a:r>
              <a:rPr lang="en-US" sz="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말투는 24장 모두 존댓말로 통일  </a:t>
            </a:r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받는 사람이 넓은 시장 — 표준어 79%. 반말 세트는 별도로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822960" y="5961888"/>
            <a:ext cx="10908792" cy="365760"/>
          </a:xfrm>
          <a:prstGeom prst="roundRect">
            <a:avLst>
              <a:gd name="adj" fmla="val 2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005840" y="59618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원칙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대화의 처음부터 끝까지 순서대로 — 인사로 열고(1~3), 감정을 전하고(4~11), 반응하고(12~15), 상황을 알리고(16~21), 감사·인사로 닫는다(22~24).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 및 홍보 전략 세우기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시간보다 시즌 — 명절 등에 이모티콘 구매 ▲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예약 기능을 통해 주요 매출 발생 시간, 시즌에 맞춰 출시 예약을 설정할 수 있습니다.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5852160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4884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매출 비중 (%) — 2026년 상반기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97280" y="4526280"/>
            <a:ext cx="5303520" cy="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96162" y="4071652"/>
            <a:ext cx="486156" cy="454628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888772"/>
            <a:ext cx="88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097280" y="4553712"/>
            <a:ext cx="88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1월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80082" y="3056668"/>
            <a:ext cx="486156" cy="1469612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81200" y="2873788"/>
            <a:ext cx="88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27.8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981200" y="4553712"/>
            <a:ext cx="88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2월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64002" y="3469005"/>
            <a:ext cx="486156" cy="1057275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65120" y="3286125"/>
            <a:ext cx="88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865120" y="4553712"/>
            <a:ext cx="88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947922" y="3691033"/>
            <a:ext cx="486156" cy="835247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49040" y="3508153"/>
            <a:ext cx="88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15.8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749040" y="4553712"/>
            <a:ext cx="88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4월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31842" y="3796760"/>
            <a:ext cx="486156" cy="729520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32960" y="3613880"/>
            <a:ext cx="88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13.8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632960" y="4553712"/>
            <a:ext cx="88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5월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715762" y="3780901"/>
            <a:ext cx="486156" cy="745379"/>
          </a:xfrm>
          <a:prstGeom prst="rect">
            <a:avLst/>
          </a:prstGeom>
          <a:solidFill>
            <a:srgbClr val="A9C4A5"/>
          </a:solidFill>
          <a:ln w="12700">
            <a:solidFill>
              <a:srgbClr val="A9C4A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16880" y="3598021"/>
            <a:ext cx="88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14.1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516880" y="4553712"/>
            <a:ext cx="88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6월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62912" y="2816352"/>
            <a:ext cx="920496" cy="1728216"/>
          </a:xfrm>
          <a:prstGeom prst="roundRect">
            <a:avLst>
              <a:gd name="adj" fmla="val 4967"/>
            </a:avLst>
          </a:prstGeom>
          <a:ln w="12700">
            <a:solidFill>
              <a:srgbClr val="E0632F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981200" y="261518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6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설날 시즌 — 1월의 3.2배 · 명절 테마가 그 달 매출의 39.2%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22960" y="4754880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1~2월 설날 · 4~5월 가정의 달(인사·감사)이 두 번의 성수기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839712" y="2148840"/>
            <a:ext cx="4892040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39712" y="2148840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TOP25 중 시즌·인사 세트 매출 비중 (%)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068312" y="4526280"/>
            <a:ext cx="4434840" cy="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245157" y="3714293"/>
            <a:ext cx="248351" cy="811987"/>
          </a:xfrm>
          <a:prstGeom prst="rect">
            <a:avLst/>
          </a:prstGeom>
          <a:solidFill>
            <a:srgbClr val="E0632F"/>
          </a:solidFill>
          <a:ln w="12700">
            <a:solidFill>
              <a:srgbClr val="E0632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53717" y="3558845"/>
            <a:ext cx="431231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06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530084" y="3915034"/>
            <a:ext cx="248351" cy="611246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38644" y="3759586"/>
            <a:ext cx="431231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7068312" y="4553712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1월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132125" y="3599261"/>
            <a:ext cx="248351" cy="927019"/>
          </a:xfrm>
          <a:prstGeom prst="rect">
            <a:avLst/>
          </a:prstGeom>
          <a:solidFill>
            <a:srgbClr val="E0632F"/>
          </a:solidFill>
          <a:ln w="12700">
            <a:solidFill>
              <a:srgbClr val="E0632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040685" y="3443813"/>
            <a:ext cx="431231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06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8417052" y="4118031"/>
            <a:ext cx="248351" cy="408249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25612" y="3962583"/>
            <a:ext cx="431231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955280" y="4553712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2월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304020" y="3930823"/>
            <a:ext cx="248351" cy="595457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212580" y="3775375"/>
            <a:ext cx="431231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8842248" y="4553712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10190988" y="2958694"/>
            <a:ext cx="248351" cy="1567586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099548" y="2803246"/>
            <a:ext cx="431231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9729216" y="4553712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4월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1077956" y="3130113"/>
            <a:ext cx="248351" cy="1396167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986516" y="2974665"/>
            <a:ext cx="431231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10616184" y="4553712"/>
            <a:ext cx="88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5월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7068312" y="2551176"/>
            <a:ext cx="109728" cy="109728"/>
          </a:xfrm>
          <a:prstGeom prst="rect">
            <a:avLst/>
          </a:prstGeom>
          <a:solidFill>
            <a:srgbClr val="E0632F"/>
          </a:solidFill>
          <a:ln w="12700">
            <a:solidFill>
              <a:srgbClr val="E0632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205472" y="251460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시즌·기념일(설날)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8531352" y="2551176"/>
            <a:ext cx="109728" cy="109728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668512" y="25146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인사·감사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6839712" y="4754880"/>
            <a:ext cx="4892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설날이 지나면 인사·감사 세트가 그 자리를 채움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822960" y="49560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하반기 시즌 캘린더 — 그 달에 보내는 인사  /  등록 권장 시점 (6~8주 전)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822960" y="5193792"/>
            <a:ext cx="2606040" cy="658368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60120" y="522122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2011680" y="522122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E06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초 등록 (마감 임박)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960120" y="540410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추석 연휴(9/24~26) · 개학 · 가을 안부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960120" y="5632704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명절 인사 · 건강 안부 · 감사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3589934" y="5193792"/>
            <a:ext cx="2606040" cy="658368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727094" y="522122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10월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4778654" y="522122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E06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중순 등록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3727094" y="540410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한글날 · 가을 나들이 · 할로윈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3727094" y="5632704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가을 안부 · 나들이 · 할로윈 인사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6356909" y="5193792"/>
            <a:ext cx="2606040" cy="658368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494069" y="522122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11월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7545629" y="522122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E06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말 등록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494069" y="540410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수능(11/19) · 빼빼로데이 · 첫눈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6494069" y="5632704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응원 · 고백·선물 · 날씨 안부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9123883" y="5193792"/>
            <a:ext cx="2606040" cy="658368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261043" y="522122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12월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12603" y="522122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E06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10월 중순 등록</a:t>
            </a:r>
            <a:endParaRPr lang="en-US" sz="750" dirty="0"/>
          </a:p>
        </p:txBody>
      </p:sp>
      <p:sp>
        <p:nvSpPr>
          <p:cNvPr id="78" name="Text 76"/>
          <p:cNvSpPr/>
          <p:nvPr/>
        </p:nvSpPr>
        <p:spPr>
          <a:xfrm>
            <a:off x="9261043" y="540410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크리스마스 · 연말 감사 · 새해 인사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9261043" y="5632704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송년·감사 · 새해 복 · 설날 인사 예약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822960" y="5961888"/>
            <a:ext cx="10908792" cy="365760"/>
          </a:xfrm>
          <a:prstGeom prst="roundRect">
            <a:avLst>
              <a:gd name="adj" fmla="val 2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05840" y="59618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출시·홍보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예약 기능을 이용하여 전략적인 출시와 홍보를 도전해 보세요.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플레이북 핵심 내용 요약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플레이북 요약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플레이북으로 안내해 드린 방법을 참고해 주세요.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60804" y="2203704"/>
            <a:ext cx="8833104" cy="0"/>
          </a:xfrm>
          <a:prstGeom prst="line">
            <a:avLst/>
          </a:prstGeom>
          <a:noFill/>
          <a:ln w="19050">
            <a:solidFill>
              <a:srgbClr val="C5D6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78508" y="2121408"/>
            <a:ext cx="164592" cy="164592"/>
          </a:xfrm>
          <a:prstGeom prst="ellipse">
            <a:avLst/>
          </a:prstGeom>
          <a:solidFill>
            <a:srgbClr val="3C6E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331720"/>
            <a:ext cx="2075688" cy="3310128"/>
          </a:xfrm>
          <a:prstGeom prst="roundRect">
            <a:avLst>
              <a:gd name="adj" fmla="val 5286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331720"/>
            <a:ext cx="1801368" cy="45720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7552" y="24963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C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81328" y="2496312"/>
            <a:ext cx="886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331720" y="2459736"/>
            <a:ext cx="402336" cy="402336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2304" y="2560320"/>
            <a:ext cx="201168" cy="20116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60120" y="2971800"/>
            <a:ext cx="1801368" cy="566928"/>
          </a:xfrm>
          <a:prstGeom prst="roundRect">
            <a:avLst>
              <a:gd name="adj" fmla="val 9677"/>
            </a:avLst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05840" y="2971800"/>
            <a:ext cx="1709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매출 스티커(이모티콘) 탐색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987552" y="3657600"/>
            <a:ext cx="1746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인기 탭과 테마 큐레이션으로 지금 인기 있는 콘텐츠를, 시즌 캘린더로 다가올 수요를 확인해 보세요.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60120" y="45262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69848" y="46634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43584" y="45262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인기 탭 · 테마 큐레이션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60120" y="49834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69848" y="51206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243584" y="49834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시즌 캘린더 역산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2916936" y="3904488"/>
            <a:ext cx="91440" cy="164592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986784" y="2121408"/>
            <a:ext cx="164592" cy="164592"/>
          </a:xfrm>
          <a:prstGeom prst="ellipse">
            <a:avLst/>
          </a:prstGeom>
          <a:solidFill>
            <a:srgbClr val="3C6E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031236" y="2331720"/>
            <a:ext cx="2075688" cy="3310128"/>
          </a:xfrm>
          <a:prstGeom prst="roundRect">
            <a:avLst>
              <a:gd name="adj" fmla="val 5286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168396" y="2331720"/>
            <a:ext cx="1801368" cy="45720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195828" y="24963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C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3689604" y="2496312"/>
            <a:ext cx="886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콘텐츠 분석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39996" y="2459736"/>
            <a:ext cx="402336" cy="402336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580" y="2560320"/>
            <a:ext cx="201168" cy="201168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3168396" y="2971800"/>
            <a:ext cx="1801368" cy="566928"/>
          </a:xfrm>
          <a:prstGeom prst="roundRect">
            <a:avLst>
              <a:gd name="adj" fmla="val 9677"/>
            </a:avLst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3214116" y="2971800"/>
            <a:ext cx="1709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상세 분석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195828" y="3657600"/>
            <a:ext cx="1746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매출 상위 콘텐츠를 분석하여 이모티콘 제작에 참고해 주세요.</a:t>
            </a:r>
            <a:endParaRPr lang="en-US" sz="950" dirty="0"/>
          </a:p>
        </p:txBody>
      </p:sp>
      <p:sp>
        <p:nvSpPr>
          <p:cNvPr id="36" name="Shape 32"/>
          <p:cNvSpPr/>
          <p:nvPr/>
        </p:nvSpPr>
        <p:spPr>
          <a:xfrm>
            <a:off x="3168396" y="45262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3278124" y="46634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3451860" y="45262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유형별 매출 확인</a:t>
            </a:r>
            <a:endParaRPr lang="en-US" sz="900" dirty="0"/>
          </a:p>
        </p:txBody>
      </p:sp>
      <p:sp>
        <p:nvSpPr>
          <p:cNvPr id="39" name="Shape 35"/>
          <p:cNvSpPr/>
          <p:nvPr/>
        </p:nvSpPr>
        <p:spPr>
          <a:xfrm>
            <a:off x="3168396" y="49834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3278124" y="51206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3451860" y="49834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속성별 데이터 확인</a:t>
            </a:r>
            <a:endParaRPr lang="en-US" sz="900" dirty="0"/>
          </a:p>
        </p:txBody>
      </p:sp>
      <p:sp>
        <p:nvSpPr>
          <p:cNvPr id="42" name="Shape 38"/>
          <p:cNvSpPr/>
          <p:nvPr/>
        </p:nvSpPr>
        <p:spPr>
          <a:xfrm>
            <a:off x="5125212" y="3904488"/>
            <a:ext cx="91440" cy="164592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6195060" y="2121408"/>
            <a:ext cx="164592" cy="164592"/>
          </a:xfrm>
          <a:prstGeom prst="ellipse">
            <a:avLst/>
          </a:prstGeom>
          <a:solidFill>
            <a:srgbClr val="3C6E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239512" y="2331720"/>
            <a:ext cx="2075688" cy="3310128"/>
          </a:xfrm>
          <a:prstGeom prst="roundRect">
            <a:avLst>
              <a:gd name="adj" fmla="val 5286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5376672" y="2331720"/>
            <a:ext cx="1801368" cy="45720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5404104" y="24963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C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47" name="Text 43"/>
          <p:cNvSpPr/>
          <p:nvPr/>
        </p:nvSpPr>
        <p:spPr>
          <a:xfrm>
            <a:off x="5897880" y="2496312"/>
            <a:ext cx="886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선정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6748272" y="2459736"/>
            <a:ext cx="402336" cy="402336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4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8856" y="2560320"/>
            <a:ext cx="201168" cy="201168"/>
          </a:xfrm>
          <a:prstGeom prst="rect">
            <a:avLst/>
          </a:prstGeom>
        </p:spPr>
      </p:pic>
      <p:sp>
        <p:nvSpPr>
          <p:cNvPr id="50" name="Shape 45"/>
          <p:cNvSpPr/>
          <p:nvPr/>
        </p:nvSpPr>
        <p:spPr>
          <a:xfrm>
            <a:off x="5376672" y="2971800"/>
            <a:ext cx="1801368" cy="566928"/>
          </a:xfrm>
          <a:prstGeom prst="roundRect">
            <a:avLst>
              <a:gd name="adj" fmla="val 9677"/>
            </a:avLst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422392" y="2971800"/>
            <a:ext cx="1709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스티커(이모티콘) 주제 탐색</a:t>
            </a:r>
            <a:endParaRPr lang="en-US" sz="1150" dirty="0"/>
          </a:p>
        </p:txBody>
      </p:sp>
      <p:sp>
        <p:nvSpPr>
          <p:cNvPr id="52" name="Text 47"/>
          <p:cNvSpPr/>
          <p:nvPr/>
        </p:nvSpPr>
        <p:spPr>
          <a:xfrm>
            <a:off x="5404104" y="3657600"/>
            <a:ext cx="1746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많이 사용하는 사용처의 트렌드를 참고하여 주제를 선정해 주세요.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5376672" y="45262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5486400" y="46634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5660136" y="45262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채팅+ 메시지 트렌드</a:t>
            </a:r>
            <a:endParaRPr lang="en-US" sz="900" dirty="0"/>
          </a:p>
        </p:txBody>
      </p:sp>
      <p:sp>
        <p:nvSpPr>
          <p:cNvPr id="56" name="Shape 51"/>
          <p:cNvSpPr/>
          <p:nvPr/>
        </p:nvSpPr>
        <p:spPr>
          <a:xfrm>
            <a:off x="5376672" y="49834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5486400" y="51206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5660136" y="49834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트렌드에 따른 스티커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7333488" y="3904488"/>
            <a:ext cx="91440" cy="164592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8403336" y="2121408"/>
            <a:ext cx="164592" cy="164592"/>
          </a:xfrm>
          <a:prstGeom prst="ellipse">
            <a:avLst/>
          </a:prstGeom>
          <a:solidFill>
            <a:srgbClr val="3C6E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Shape 56"/>
          <p:cNvSpPr/>
          <p:nvPr/>
        </p:nvSpPr>
        <p:spPr>
          <a:xfrm>
            <a:off x="7447788" y="2331720"/>
            <a:ext cx="2075688" cy="3310128"/>
          </a:xfrm>
          <a:prstGeom prst="roundRect">
            <a:avLst>
              <a:gd name="adj" fmla="val 5286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62" name="Shape 57"/>
          <p:cNvSpPr/>
          <p:nvPr/>
        </p:nvSpPr>
        <p:spPr>
          <a:xfrm>
            <a:off x="7584948" y="2331720"/>
            <a:ext cx="1801368" cy="45720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7612380" y="24963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C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64" name="Text 59"/>
          <p:cNvSpPr/>
          <p:nvPr/>
        </p:nvSpPr>
        <p:spPr>
          <a:xfrm>
            <a:off x="8106156" y="2496312"/>
            <a:ext cx="886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24종 구성</a:t>
            </a:r>
            <a:endParaRPr lang="en-US" sz="1100" dirty="0"/>
          </a:p>
        </p:txBody>
      </p:sp>
      <p:sp>
        <p:nvSpPr>
          <p:cNvPr id="65" name="Shape 60"/>
          <p:cNvSpPr/>
          <p:nvPr/>
        </p:nvSpPr>
        <p:spPr>
          <a:xfrm>
            <a:off x="8956548" y="2459736"/>
            <a:ext cx="402336" cy="402336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6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7132" y="2560320"/>
            <a:ext cx="201168" cy="201168"/>
          </a:xfrm>
          <a:prstGeom prst="rect">
            <a:avLst/>
          </a:prstGeom>
        </p:spPr>
      </p:pic>
      <p:sp>
        <p:nvSpPr>
          <p:cNvPr id="67" name="Shape 61"/>
          <p:cNvSpPr/>
          <p:nvPr/>
        </p:nvSpPr>
        <p:spPr>
          <a:xfrm>
            <a:off x="7584948" y="2971800"/>
            <a:ext cx="1801368" cy="566928"/>
          </a:xfrm>
          <a:prstGeom prst="roundRect">
            <a:avLst>
              <a:gd name="adj" fmla="val 9677"/>
            </a:avLst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68" name="Text 62"/>
          <p:cNvSpPr/>
          <p:nvPr/>
        </p:nvSpPr>
        <p:spPr>
          <a:xfrm>
            <a:off x="7630668" y="2971800"/>
            <a:ext cx="1709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환경과 구성</a:t>
            </a:r>
            <a:endParaRPr lang="en-US" sz="1150" dirty="0"/>
          </a:p>
        </p:txBody>
      </p:sp>
      <p:sp>
        <p:nvSpPr>
          <p:cNvPr id="69" name="Text 63"/>
          <p:cNvSpPr/>
          <p:nvPr/>
        </p:nvSpPr>
        <p:spPr>
          <a:xfrm>
            <a:off x="7612380" y="3657600"/>
            <a:ext cx="1746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입장에서 어떤 용도로 어떻게 사용할지를 전략적으로 구상해 보세요.</a:t>
            </a:r>
            <a:endParaRPr lang="en-US" sz="950" dirty="0"/>
          </a:p>
        </p:txBody>
      </p:sp>
      <p:sp>
        <p:nvSpPr>
          <p:cNvPr id="70" name="Shape 64"/>
          <p:cNvSpPr/>
          <p:nvPr/>
        </p:nvSpPr>
        <p:spPr>
          <a:xfrm>
            <a:off x="7584948" y="45262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71" name="Shape 65"/>
          <p:cNvSpPr/>
          <p:nvPr/>
        </p:nvSpPr>
        <p:spPr>
          <a:xfrm>
            <a:off x="7694676" y="46634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72" name="Text 66"/>
          <p:cNvSpPr/>
          <p:nvPr/>
        </p:nvSpPr>
        <p:spPr>
          <a:xfrm>
            <a:off x="7868412" y="45262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흐름에 따른 배치</a:t>
            </a:r>
            <a:endParaRPr lang="en-US" sz="900" dirty="0"/>
          </a:p>
        </p:txBody>
      </p:sp>
      <p:sp>
        <p:nvSpPr>
          <p:cNvPr id="73" name="Shape 67"/>
          <p:cNvSpPr/>
          <p:nvPr/>
        </p:nvSpPr>
        <p:spPr>
          <a:xfrm>
            <a:off x="7584948" y="49834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74" name="Shape 68"/>
          <p:cNvSpPr/>
          <p:nvPr/>
        </p:nvSpPr>
        <p:spPr>
          <a:xfrm>
            <a:off x="7694676" y="51206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75" name="Text 69"/>
          <p:cNvSpPr/>
          <p:nvPr/>
        </p:nvSpPr>
        <p:spPr>
          <a:xfrm>
            <a:off x="7868412" y="49834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24칸 배치도</a:t>
            </a:r>
            <a:endParaRPr lang="en-US" sz="900" dirty="0"/>
          </a:p>
        </p:txBody>
      </p:sp>
      <p:sp>
        <p:nvSpPr>
          <p:cNvPr id="76" name="Shape 70"/>
          <p:cNvSpPr/>
          <p:nvPr/>
        </p:nvSpPr>
        <p:spPr>
          <a:xfrm>
            <a:off x="9541764" y="3904488"/>
            <a:ext cx="91440" cy="164592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77" name="Shape 71"/>
          <p:cNvSpPr/>
          <p:nvPr/>
        </p:nvSpPr>
        <p:spPr>
          <a:xfrm>
            <a:off x="10611612" y="2121408"/>
            <a:ext cx="164592" cy="164592"/>
          </a:xfrm>
          <a:prstGeom prst="ellipse">
            <a:avLst/>
          </a:prstGeom>
          <a:solidFill>
            <a:srgbClr val="3C6E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8" name="Shape 72"/>
          <p:cNvSpPr/>
          <p:nvPr/>
        </p:nvSpPr>
        <p:spPr>
          <a:xfrm>
            <a:off x="9656064" y="2331720"/>
            <a:ext cx="2075688" cy="3310128"/>
          </a:xfrm>
          <a:prstGeom prst="roundRect">
            <a:avLst>
              <a:gd name="adj" fmla="val 5286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79" name="Shape 73"/>
          <p:cNvSpPr/>
          <p:nvPr/>
        </p:nvSpPr>
        <p:spPr>
          <a:xfrm>
            <a:off x="9793224" y="2331720"/>
            <a:ext cx="1801368" cy="45720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80" name="Text 74"/>
          <p:cNvSpPr/>
          <p:nvPr/>
        </p:nvSpPr>
        <p:spPr>
          <a:xfrm>
            <a:off x="9820656" y="24963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C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81" name="Text 75"/>
          <p:cNvSpPr/>
          <p:nvPr/>
        </p:nvSpPr>
        <p:spPr>
          <a:xfrm>
            <a:off x="10314432" y="2496312"/>
            <a:ext cx="886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출시·홍보</a:t>
            </a:r>
            <a:endParaRPr lang="en-US" sz="1100" dirty="0"/>
          </a:p>
        </p:txBody>
      </p:sp>
      <p:sp>
        <p:nvSpPr>
          <p:cNvPr id="82" name="Shape 76"/>
          <p:cNvSpPr/>
          <p:nvPr/>
        </p:nvSpPr>
        <p:spPr>
          <a:xfrm>
            <a:off x="11164824" y="2459736"/>
            <a:ext cx="402336" cy="402336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560320"/>
            <a:ext cx="201168" cy="201168"/>
          </a:xfrm>
          <a:prstGeom prst="rect">
            <a:avLst/>
          </a:prstGeom>
        </p:spPr>
      </p:pic>
      <p:sp>
        <p:nvSpPr>
          <p:cNvPr id="84" name="Shape 77"/>
          <p:cNvSpPr/>
          <p:nvPr/>
        </p:nvSpPr>
        <p:spPr>
          <a:xfrm>
            <a:off x="9793224" y="2971800"/>
            <a:ext cx="1801368" cy="566928"/>
          </a:xfrm>
          <a:prstGeom prst="roundRect">
            <a:avLst>
              <a:gd name="adj" fmla="val 9677"/>
            </a:avLst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85" name="Text 78"/>
          <p:cNvSpPr/>
          <p:nvPr/>
        </p:nvSpPr>
        <p:spPr>
          <a:xfrm>
            <a:off x="9838944" y="2971800"/>
            <a:ext cx="1709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이용자 패턴과 시즌</a:t>
            </a:r>
            <a:endParaRPr lang="en-US" sz="1150" dirty="0"/>
          </a:p>
        </p:txBody>
      </p:sp>
      <p:sp>
        <p:nvSpPr>
          <p:cNvPr id="86" name="Text 79"/>
          <p:cNvSpPr/>
          <p:nvPr/>
        </p:nvSpPr>
        <p:spPr>
          <a:xfrm>
            <a:off x="9820656" y="3657600"/>
            <a:ext cx="1746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예약 기능을 이용하여 전략적인 출시와 홍보를 도전해 보세요.</a:t>
            </a:r>
            <a:endParaRPr lang="en-US" sz="950" dirty="0"/>
          </a:p>
        </p:txBody>
      </p:sp>
      <p:sp>
        <p:nvSpPr>
          <p:cNvPr id="87" name="Shape 80"/>
          <p:cNvSpPr/>
          <p:nvPr/>
        </p:nvSpPr>
        <p:spPr>
          <a:xfrm>
            <a:off x="9793224" y="45262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88" name="Shape 81"/>
          <p:cNvSpPr/>
          <p:nvPr/>
        </p:nvSpPr>
        <p:spPr>
          <a:xfrm>
            <a:off x="9902952" y="46634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89" name="Text 82"/>
          <p:cNvSpPr/>
          <p:nvPr/>
        </p:nvSpPr>
        <p:spPr>
          <a:xfrm>
            <a:off x="10076688" y="45262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매출 비율 · 시즌 성수기</a:t>
            </a:r>
            <a:endParaRPr lang="en-US" sz="900" dirty="0"/>
          </a:p>
        </p:txBody>
      </p:sp>
      <p:sp>
        <p:nvSpPr>
          <p:cNvPr id="90" name="Shape 83"/>
          <p:cNvSpPr/>
          <p:nvPr/>
        </p:nvSpPr>
        <p:spPr>
          <a:xfrm>
            <a:off x="9793224" y="4983480"/>
            <a:ext cx="180136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91" name="Shape 84"/>
          <p:cNvSpPr/>
          <p:nvPr/>
        </p:nvSpPr>
        <p:spPr>
          <a:xfrm>
            <a:off x="9902952" y="5120640"/>
            <a:ext cx="109728" cy="109728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92" name="Text 85"/>
          <p:cNvSpPr/>
          <p:nvPr/>
        </p:nvSpPr>
        <p:spPr>
          <a:xfrm>
            <a:off x="10076688" y="498348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시즌별 캘린더</a:t>
            </a:r>
            <a:endParaRPr lang="en-US" sz="900" dirty="0"/>
          </a:p>
        </p:txBody>
      </p:sp>
      <p:sp>
        <p:nvSpPr>
          <p:cNvPr id="93" name="Shape 86"/>
          <p:cNvSpPr/>
          <p:nvPr/>
        </p:nvSpPr>
        <p:spPr>
          <a:xfrm>
            <a:off x="822960" y="5815584"/>
            <a:ext cx="10908792" cy="457200"/>
          </a:xfrm>
          <a:prstGeom prst="roundRect">
            <a:avLst>
              <a:gd name="adj" fmla="val 16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94" name="Text 87"/>
          <p:cNvSpPr/>
          <p:nvPr/>
        </p:nvSpPr>
        <p:spPr>
          <a:xfrm>
            <a:off x="1005840" y="58155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플레이북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자료는 크리에이터 님들의 OGQ 콘텐츠 제작에 참고가 되도록 데이터를 정리한 것입니다. 정답이 아닌 출발점이니, 나만의 스타일과 아이디어에 맞게 자유롭게 활용해 주세요.</a:t>
            </a:r>
            <a:endParaRPr lang="en-US" sz="1050" dirty="0"/>
          </a:p>
        </p:txBody>
      </p:sp>
      <p:sp>
        <p:nvSpPr>
          <p:cNvPr id="95" name="Text 88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4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w="12700">
            <a:solidFill>
              <a:srgbClr val="2A5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w="12700">
            <a:solidFill>
              <a:srgbClr val="356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w="12700">
            <a:solidFill>
              <a:srgbClr val="2A5A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· 등록 · 심사 가이드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스티커(이모티콘) 제작 가이드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규격만 지켜도 반려 사유의 상당수를 피할 수 있습니다.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전 파일 종류 · 크기 · 배경 처리를 한 번 더 확인해 주세요.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2148840"/>
            <a:ext cx="5394960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14884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규격 · 종류 및 개수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256032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651760"/>
            <a:ext cx="1316736" cy="7315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2377440" y="265176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이미지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2377440" y="288950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· PNG · 투명 배경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377440" y="3108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마켓에서 보여질 대표 이미지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572000" y="2816352"/>
            <a:ext cx="1508760" cy="402336"/>
          </a:xfrm>
          <a:prstGeom prst="roundRect">
            <a:avLst>
              <a:gd name="adj" fmla="val 13636"/>
            </a:avLst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72000" y="2816352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 × 240 px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22960" y="3547872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639312"/>
            <a:ext cx="1316736" cy="73152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2377440" y="36393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스티커(이모티콘) 이미지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2377440" y="38770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24장 · PNG · 투명 배경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2377440" y="40965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스티커(이모티콘) 이미지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4572000" y="3803904"/>
            <a:ext cx="1508760" cy="402336"/>
          </a:xfrm>
          <a:prstGeom prst="roundRect">
            <a:avLst>
              <a:gd name="adj" fmla="val 13636"/>
            </a:avLst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572000" y="3803904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740 × 640 px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22960" y="4535424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4626864"/>
            <a:ext cx="1316736" cy="73152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2377440" y="462686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이미지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2377440" y="48646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· PNG · 투명 배경</a:t>
            </a:r>
            <a:endParaRPr lang="en-US" sz="850" dirty="0"/>
          </a:p>
        </p:txBody>
      </p:sp>
      <p:sp>
        <p:nvSpPr>
          <p:cNvPr id="29" name="Text 24"/>
          <p:cNvSpPr/>
          <p:nvPr/>
        </p:nvSpPr>
        <p:spPr>
          <a:xfrm>
            <a:off x="2377440" y="50840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스티커(이모티콘) 선택 시 보여질 작은 이미지</a:t>
            </a:r>
            <a:endParaRPr lang="en-US" sz="850" dirty="0"/>
          </a:p>
        </p:txBody>
      </p:sp>
      <p:sp>
        <p:nvSpPr>
          <p:cNvPr id="30" name="Shape 25"/>
          <p:cNvSpPr/>
          <p:nvPr/>
        </p:nvSpPr>
        <p:spPr>
          <a:xfrm>
            <a:off x="4572000" y="4791456"/>
            <a:ext cx="1508760" cy="402336"/>
          </a:xfrm>
          <a:prstGeom prst="roundRect">
            <a:avLst>
              <a:gd name="adj" fmla="val 13636"/>
            </a:avLst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4572000" y="4791456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× 74 px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822960" y="5532120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960120" y="5532120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규격  </a:t>
            </a:r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72dpi · RGB · 1MB 이하 · 24장 크기·비율·정렬 통일</a:t>
            </a:r>
            <a:endParaRPr lang="en-US" sz="900" dirty="0"/>
          </a:p>
        </p:txBody>
      </p:sp>
      <p:sp>
        <p:nvSpPr>
          <p:cNvPr id="34" name="Shape 29"/>
          <p:cNvSpPr/>
          <p:nvPr/>
        </p:nvSpPr>
        <p:spPr>
          <a:xfrm>
            <a:off x="6400800" y="2148840"/>
            <a:ext cx="5330952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6400800" y="2148840"/>
            <a:ext cx="5330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주의사항 — 놓치기 쉬운 4가지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400800" y="2560320"/>
            <a:ext cx="2615184" cy="1627632"/>
          </a:xfrm>
          <a:prstGeom prst="roundRect">
            <a:avLst>
              <a:gd name="adj" fmla="val 4494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510528" y="2615184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 배경 적용</a:t>
            </a:r>
            <a:endParaRPr lang="en-US" sz="1000" dirty="0"/>
          </a:p>
        </p:txBody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2852928"/>
            <a:ext cx="2395728" cy="960120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6510528" y="3822192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메인·탭·24장 모두 투명 PNG. 흰 배경은 반려</a:t>
            </a:r>
            <a:endParaRPr lang="en-US" sz="800" dirty="0"/>
          </a:p>
        </p:txBody>
      </p:sp>
      <p:sp>
        <p:nvSpPr>
          <p:cNvPr id="40" name="Shape 34"/>
          <p:cNvSpPr/>
          <p:nvPr/>
        </p:nvSpPr>
        <p:spPr>
          <a:xfrm>
            <a:off x="9116568" y="2560320"/>
            <a:ext cx="2615184" cy="1627632"/>
          </a:xfrm>
          <a:prstGeom prst="roundRect">
            <a:avLst>
              <a:gd name="adj" fmla="val 4494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9226296" y="2615184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가독성 고려</a:t>
            </a:r>
            <a:endParaRPr lang="en-US" sz="1000" dirty="0"/>
          </a:p>
        </p:txBody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6296" y="2852928"/>
            <a:ext cx="2395728" cy="960120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9226296" y="3822192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텍스트는 크게·적게. 유료협찬 문구는 색상·크기 강조</a:t>
            </a:r>
            <a:endParaRPr lang="en-US" sz="800" dirty="0"/>
          </a:p>
        </p:txBody>
      </p:sp>
      <p:sp>
        <p:nvSpPr>
          <p:cNvPr id="44" name="Shape 37"/>
          <p:cNvSpPr/>
          <p:nvPr/>
        </p:nvSpPr>
        <p:spPr>
          <a:xfrm>
            <a:off x="6400800" y="4288536"/>
            <a:ext cx="2615184" cy="1627632"/>
          </a:xfrm>
          <a:prstGeom prst="roundRect">
            <a:avLst>
              <a:gd name="adj" fmla="val 4494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6510528" y="4343400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다크모드 설정</a:t>
            </a:r>
            <a:endParaRPr lang="en-US" sz="1000" dirty="0"/>
          </a:p>
        </p:txBody>
      </p:sp>
      <p:pic>
        <p:nvPicPr>
          <p:cNvPr id="4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4581144"/>
            <a:ext cx="2395728" cy="960120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6510528" y="5550408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어두운 배경에서 묻히면 흰색 테두리를 추가</a:t>
            </a:r>
            <a:endParaRPr lang="en-US" sz="800" dirty="0"/>
          </a:p>
        </p:txBody>
      </p:sp>
      <p:sp>
        <p:nvSpPr>
          <p:cNvPr id="48" name="Shape 40"/>
          <p:cNvSpPr/>
          <p:nvPr/>
        </p:nvSpPr>
        <p:spPr>
          <a:xfrm>
            <a:off x="9116568" y="4288536"/>
            <a:ext cx="2615184" cy="1627632"/>
          </a:xfrm>
          <a:prstGeom prst="roundRect">
            <a:avLst>
              <a:gd name="adj" fmla="val 4494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49" name="Text 41"/>
          <p:cNvSpPr/>
          <p:nvPr/>
        </p:nvSpPr>
        <p:spPr>
          <a:xfrm>
            <a:off x="9226296" y="4343400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태그 입력</a:t>
            </a:r>
            <a:endParaRPr lang="en-US" sz="1000" dirty="0"/>
          </a:p>
        </p:txBody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6296" y="4581144"/>
            <a:ext cx="2395728" cy="753267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9226296" y="5550408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명확한 명사로 3~20개 (강아지·고양이·구분선)</a:t>
            </a:r>
            <a:endParaRPr lang="en-US" sz="800" dirty="0"/>
          </a:p>
        </p:txBody>
      </p:sp>
      <p:sp>
        <p:nvSpPr>
          <p:cNvPr id="52" name="Shape 43"/>
          <p:cNvSpPr/>
          <p:nvPr/>
        </p:nvSpPr>
        <p:spPr>
          <a:xfrm>
            <a:off x="822960" y="5961888"/>
            <a:ext cx="10908792" cy="365760"/>
          </a:xfrm>
          <a:prstGeom prst="roundRect">
            <a:avLst>
              <a:gd name="adj" fmla="val 2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53" name="Text 44"/>
          <p:cNvSpPr/>
          <p:nvPr/>
        </p:nvSpPr>
        <p:spPr>
          <a:xfrm>
            <a:off x="1005840" y="59618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가이드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정지형 스티커(이모티콘)는 PNG 24장 + 메인 1장 + 탭 1장 — 세 가지 모두 투명 배경이어야 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애니메이션 스티커(이모티콘) 제작 가이드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움직이는 스티커(이모티콘)는 프레임 규칙이 하나 더 있습니다.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정지형 규격에 더해 프레임 수와 시작·마지막 프레임 일치를 확인해 주세요.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2148840"/>
            <a:ext cx="5394960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14884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규격 · 종류 및 개수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256032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651760"/>
            <a:ext cx="1316736" cy="7315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2377440" y="265176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이미지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2377440" y="288950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· PNG · 투명 배경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377440" y="3108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마켓에서 보여질 대표 이미지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572000" y="2816352"/>
            <a:ext cx="1508760" cy="402336"/>
          </a:xfrm>
          <a:prstGeom prst="roundRect">
            <a:avLst>
              <a:gd name="adj" fmla="val 13636"/>
            </a:avLst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72000" y="2816352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 × 240 px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22960" y="3547872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639312"/>
            <a:ext cx="1316736" cy="73152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2377440" y="36393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스티커(이모티콘) 이미지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2377440" y="38770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24장 · GIF · 투명 배경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2377440" y="40965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스티커(이모티콘) 애니메이션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4572000" y="3803904"/>
            <a:ext cx="1508760" cy="402336"/>
          </a:xfrm>
          <a:prstGeom prst="roundRect">
            <a:avLst>
              <a:gd name="adj" fmla="val 13636"/>
            </a:avLst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572000" y="3803904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740 × 640 px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22960" y="4535424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4626864"/>
            <a:ext cx="1316736" cy="73152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2377440" y="462686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이미지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2377440" y="48646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· PNG · 투명 배경</a:t>
            </a:r>
            <a:endParaRPr lang="en-US" sz="850" dirty="0"/>
          </a:p>
        </p:txBody>
      </p:sp>
      <p:sp>
        <p:nvSpPr>
          <p:cNvPr id="29" name="Text 24"/>
          <p:cNvSpPr/>
          <p:nvPr/>
        </p:nvSpPr>
        <p:spPr>
          <a:xfrm>
            <a:off x="2377440" y="50840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스티커(이모티콘) 선택 시 보여질 작은 이미지</a:t>
            </a:r>
            <a:endParaRPr lang="en-US" sz="850" dirty="0"/>
          </a:p>
        </p:txBody>
      </p:sp>
      <p:sp>
        <p:nvSpPr>
          <p:cNvPr id="30" name="Shape 25"/>
          <p:cNvSpPr/>
          <p:nvPr/>
        </p:nvSpPr>
        <p:spPr>
          <a:xfrm>
            <a:off x="4572000" y="4791456"/>
            <a:ext cx="1508760" cy="402336"/>
          </a:xfrm>
          <a:prstGeom prst="roundRect">
            <a:avLst>
              <a:gd name="adj" fmla="val 13636"/>
            </a:avLst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4572000" y="4791456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× 74 px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822960" y="5532120"/>
            <a:ext cx="5394960" cy="347472"/>
          </a:xfrm>
          <a:prstGeom prst="roundRect">
            <a:avLst>
              <a:gd name="adj" fmla="val 15789"/>
            </a:avLst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960120" y="5532120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규격  </a:t>
            </a:r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72dpi 이상 · RGB · 1MB 이하 · 프레임 수 각 100 이하</a:t>
            </a:r>
            <a:endParaRPr lang="en-US" sz="900" dirty="0"/>
          </a:p>
        </p:txBody>
      </p:sp>
      <p:sp>
        <p:nvSpPr>
          <p:cNvPr id="34" name="Shape 29"/>
          <p:cNvSpPr/>
          <p:nvPr/>
        </p:nvSpPr>
        <p:spPr>
          <a:xfrm>
            <a:off x="6400800" y="2148840"/>
            <a:ext cx="5330952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6400800" y="2148840"/>
            <a:ext cx="5330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애니메이션 스티커(이모티콘) 주의사항</a:t>
            </a:r>
            <a:endParaRPr lang="en-US" sz="1100" dirty="0"/>
          </a:p>
        </p:txBody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2560320"/>
            <a:ext cx="5330952" cy="1524218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6400800" y="4194266"/>
            <a:ext cx="5330952" cy="366468"/>
          </a:xfrm>
          <a:prstGeom prst="roundRect">
            <a:avLst>
              <a:gd name="adj" fmla="val 1497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6510528" y="4267772"/>
            <a:ext cx="219456" cy="219456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6510528" y="42677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Text 34"/>
          <p:cNvSpPr/>
          <p:nvPr/>
        </p:nvSpPr>
        <p:spPr>
          <a:xfrm>
            <a:off x="6812280" y="4194266"/>
            <a:ext cx="4846320" cy="36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= 마지막 프레임  </a:t>
            </a:r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프레임이 다르면 마켓 상세 페이지에서 빈칸으로 보일 수 있음</a:t>
            </a:r>
            <a:endParaRPr lang="en-US" sz="950" dirty="0"/>
          </a:p>
        </p:txBody>
      </p:sp>
      <p:sp>
        <p:nvSpPr>
          <p:cNvPr id="41" name="Shape 35"/>
          <p:cNvSpPr/>
          <p:nvPr/>
        </p:nvSpPr>
        <p:spPr>
          <a:xfrm>
            <a:off x="6400800" y="4633885"/>
            <a:ext cx="5330952" cy="366468"/>
          </a:xfrm>
          <a:prstGeom prst="roundRect">
            <a:avLst>
              <a:gd name="adj" fmla="val 1497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42" name="Shape 36"/>
          <p:cNvSpPr/>
          <p:nvPr/>
        </p:nvSpPr>
        <p:spPr>
          <a:xfrm>
            <a:off x="6510528" y="4707391"/>
            <a:ext cx="219456" cy="219456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510528" y="470739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44" name="Text 38"/>
          <p:cNvSpPr/>
          <p:nvPr/>
        </p:nvSpPr>
        <p:spPr>
          <a:xfrm>
            <a:off x="6812280" y="4633885"/>
            <a:ext cx="4846320" cy="36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매끄러운 움직임  </a:t>
            </a:r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프레임이 튀거나 끊기면 반려. 루프 지점이 자연스러운지 확인</a:t>
            </a:r>
            <a:endParaRPr lang="en-US" sz="950" dirty="0"/>
          </a:p>
        </p:txBody>
      </p:sp>
      <p:sp>
        <p:nvSpPr>
          <p:cNvPr id="45" name="Shape 39"/>
          <p:cNvSpPr/>
          <p:nvPr/>
        </p:nvSpPr>
        <p:spPr>
          <a:xfrm>
            <a:off x="6400800" y="5073505"/>
            <a:ext cx="5330952" cy="366468"/>
          </a:xfrm>
          <a:prstGeom prst="roundRect">
            <a:avLst>
              <a:gd name="adj" fmla="val 1497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510528" y="5147011"/>
            <a:ext cx="219456" cy="219456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6510528" y="514701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48" name="Text 42"/>
          <p:cNvSpPr/>
          <p:nvPr/>
        </p:nvSpPr>
        <p:spPr>
          <a:xfrm>
            <a:off x="6812280" y="5073505"/>
            <a:ext cx="4846320" cy="36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 전반 통일  </a:t>
            </a:r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텍스트·배경·오브젝트가 모든 프레임에서 동일하게 유지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6400800" y="5513124"/>
            <a:ext cx="5330952" cy="366468"/>
          </a:xfrm>
          <a:prstGeom prst="roundRect">
            <a:avLst>
              <a:gd name="adj" fmla="val 14971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6510528" y="5586630"/>
            <a:ext cx="219456" cy="219456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51" name="Text 45"/>
          <p:cNvSpPr/>
          <p:nvPr/>
        </p:nvSpPr>
        <p:spPr>
          <a:xfrm>
            <a:off x="6510528" y="558663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52" name="Text 46"/>
          <p:cNvSpPr/>
          <p:nvPr/>
        </p:nvSpPr>
        <p:spPr>
          <a:xfrm>
            <a:off x="6812280" y="5513124"/>
            <a:ext cx="4846320" cy="36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채색·투명도  </a:t>
            </a:r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 채색 누락이나 반투명 영역은 다크모드에서 색이 변해 반려</a:t>
            </a:r>
            <a:endParaRPr lang="en-US" sz="950" dirty="0"/>
          </a:p>
        </p:txBody>
      </p:sp>
      <p:sp>
        <p:nvSpPr>
          <p:cNvPr id="53" name="Shape 47"/>
          <p:cNvSpPr/>
          <p:nvPr/>
        </p:nvSpPr>
        <p:spPr>
          <a:xfrm>
            <a:off x="822960" y="5961888"/>
            <a:ext cx="10908792" cy="365760"/>
          </a:xfrm>
          <a:prstGeom prst="roundRect">
            <a:avLst>
              <a:gd name="adj" fmla="val 2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54" name="Text 48"/>
          <p:cNvSpPr/>
          <p:nvPr/>
        </p:nvSpPr>
        <p:spPr>
          <a:xfrm>
            <a:off x="1005840" y="59618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가이드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GIF의 시작 프레임과 마지막 프레임이 반드시 동일해야 합니다. 정지형 주의사항(투명 배경·가독성·다크모드·태그)도 함께 적용됩니다.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등록 가이드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제작이 끝났다면 OGQ 크리에이터 스튜디오에서 등록과 심사를 진행합니다.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단계에서 입력하는 정보가 검색 노출과 심사 결과에 함께 영향을 줍니다.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2148840"/>
            <a:ext cx="10908792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148840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절차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26060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2743200"/>
            <a:ext cx="457200" cy="45720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60120" y="32644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크리에이터 가입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60120" y="353872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OGQ 크리에이터 스튜디오에 가입하고 정산 정보를 등록합니다.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907792" y="3319272"/>
            <a:ext cx="100584" cy="164592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35808" y="26060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72968" y="2743200"/>
            <a:ext cx="457200" cy="45720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72968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172968" y="32644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등록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172968" y="353872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1장 · 스티커(이모티콘) 24장 · 탭 1장을 규격에 맞춰 올립니다.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120640" y="3319272"/>
            <a:ext cx="100584" cy="164592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48656" y="26060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85816" y="2743200"/>
            <a:ext cx="457200" cy="45720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85816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85816" y="32644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정보 입력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385816" y="353872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 · 설명 · 태그 입력. AI 사용 여부를 체크합니다.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333488" y="3319272"/>
            <a:ext cx="100584" cy="164592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61504" y="26060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98664" y="2743200"/>
            <a:ext cx="457200" cy="45720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98664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598664" y="32644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 요청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598664" y="353872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제출하면 심사가 시작되고, 결과는 OGQ 크리에이터 스튜디오와 이메일로 안내됩니다.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546336" y="3319272"/>
            <a:ext cx="100584" cy="164592"/>
          </a:xfrm>
          <a:prstGeom prst="rightArrow">
            <a:avLst/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674352" y="26060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811512" y="2743200"/>
            <a:ext cx="457200" cy="45720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811512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811512" y="32644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후 판매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9811512" y="353872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승인된 콘텐츠가 마켓에 노출되고 판매가 시작됩니다.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22960" y="4297680"/>
            <a:ext cx="10908792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2960" y="4297680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단계에서 자주 놓치는 것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22960" y="4681728"/>
            <a:ext cx="3566160" cy="512064"/>
          </a:xfrm>
          <a:prstGeom prst="roundRect">
            <a:avLst>
              <a:gd name="adj" fmla="val 14286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32688" y="4800600"/>
            <a:ext cx="274320" cy="27432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32688" y="4800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298448" y="4727448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태그는 명확한 명사로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1298448" y="4928616"/>
            <a:ext cx="2999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‘강아지 · 구분선’처럼 입력. 문장형 태그는 검색에 잡히지 않음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494276" y="4681728"/>
            <a:ext cx="3566160" cy="512064"/>
          </a:xfrm>
          <a:prstGeom prst="roundRect">
            <a:avLst>
              <a:gd name="adj" fmla="val 14286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604004" y="4800600"/>
            <a:ext cx="274320" cy="27432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04004" y="4800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969764" y="4727448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제목과 24종 내용 일치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969764" y="4928616"/>
            <a:ext cx="2999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제목과 다른 소재가 섞이거나 1장만 디자인이 다르면 반려될 수 있음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165592" y="4681728"/>
            <a:ext cx="3566160" cy="512064"/>
          </a:xfrm>
          <a:prstGeom prst="roundRect">
            <a:avLst>
              <a:gd name="adj" fmla="val 14286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75320" y="4800600"/>
            <a:ext cx="274320" cy="274320"/>
          </a:xfrm>
          <a:prstGeom prst="ellipse">
            <a:avLst/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75320" y="4800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641080" y="4727448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업로드 금지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8641080" y="4928616"/>
            <a:ext cx="2999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콘텐츠를 두 번 올리거나 마켓에 이미 있는 콘텐츠와 동일하면 반려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822960" y="5285232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심사 소요 기간과 재심사 정책은 크리에이터 스튜디오 공지 기준을 따릅니다.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22960" y="5961888"/>
            <a:ext cx="10908792" cy="365760"/>
          </a:xfrm>
          <a:prstGeom prst="roundRect">
            <a:avLst>
              <a:gd name="adj" fmla="val 2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05840" y="59618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가이드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· 탭 이미지의 투명 배경과 AI 사용 여부 체크는 제출 직전에 한 번 더 확인하세요.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심사 반려 현황 — 반려 사유 TOP 3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반려의 62.5%는 ‘내부 심사 규정’, 그다음은 다크모드와 중복입니다.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6월 OGQ 크리에이터 스튜디오 반려 데이터 5,980건 기준 · 사유 문구를 12개 항목으로 묶어 집계했습니다.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2148840"/>
            <a:ext cx="2560320" cy="777240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219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62.5%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" y="2606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심사 규정 — 완성도·표현 중복·컨셉 일관성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547872" y="2148840"/>
            <a:ext cx="2560320" cy="777240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47872" y="22219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10.5%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547872" y="2606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다크모드 대응 — 흰 테두리 누락·흐림·배경 흰 점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272784" y="2148840"/>
            <a:ext cx="2560320" cy="777240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72784" y="22219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6.5%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272784" y="2606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콘텐츠 — 중복 업로드·마켓 내 동일·세트 내 유사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997696" y="2148840"/>
            <a:ext cx="2560320" cy="777240"/>
          </a:xfrm>
          <a:prstGeom prst="rect">
            <a:avLst/>
          </a:prstGeom>
          <a:solidFill>
            <a:srgbClr val="D9E8D6"/>
          </a:solidFill>
          <a:ln w="12700">
            <a:solidFill>
              <a:srgbClr val="D9E8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97696" y="22219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C6E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5.2%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997696" y="2606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사진·화질 — 노이즈·저해상도 탭·초점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22960" y="3108960"/>
            <a:ext cx="5120640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310896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 사유 비중 (%)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" y="352958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심사 규정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240280" y="3529584"/>
            <a:ext cx="3108960" cy="164592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85816" y="352958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62.5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" y="374446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다크모드 대응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240280" y="3744468"/>
            <a:ext cx="522305" cy="164592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99161" y="374446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2960" y="395935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콘텐츠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240280" y="3959352"/>
            <a:ext cx="323332" cy="164592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00188" y="39593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2960" y="4174236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사진·화질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240280" y="4174236"/>
            <a:ext cx="258665" cy="164592"/>
          </a:xfrm>
          <a:prstGeom prst="rect">
            <a:avLst/>
          </a:prstGeom>
          <a:solidFill>
            <a:srgbClr val="9DB89B"/>
          </a:solidFill>
          <a:ln w="12700">
            <a:solidFill>
              <a:srgbClr val="9DB89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35521" y="417423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" y="438912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 배경(PNG)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240280" y="4389120"/>
            <a:ext cx="189025" cy="164592"/>
          </a:xfrm>
          <a:prstGeom prst="rect">
            <a:avLst/>
          </a:prstGeom>
          <a:solidFill>
            <a:srgbClr val="9DB89B"/>
          </a:solidFill>
          <a:ln w="12700">
            <a:solidFill>
              <a:srgbClr val="9DB89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65881" y="438912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22960" y="460400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가독성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240280" y="4604004"/>
            <a:ext cx="159179" cy="164592"/>
          </a:xfrm>
          <a:prstGeom prst="rect">
            <a:avLst/>
          </a:prstGeom>
          <a:solidFill>
            <a:srgbClr val="9DB89B"/>
          </a:solidFill>
          <a:ln w="12700">
            <a:solidFill>
              <a:srgbClr val="9DB89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36035" y="46040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822960" y="481888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크기·정렬 통일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240280" y="4818888"/>
            <a:ext cx="94512" cy="164592"/>
          </a:xfrm>
          <a:prstGeom prst="rect">
            <a:avLst/>
          </a:prstGeom>
          <a:solidFill>
            <a:srgbClr val="9DB89B"/>
          </a:solidFill>
          <a:ln w="12700">
            <a:solidFill>
              <a:srgbClr val="9DB89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371368" y="481888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822960" y="503377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저작권·권리 침해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2240280" y="5033772"/>
            <a:ext cx="89538" cy="164592"/>
          </a:xfrm>
          <a:prstGeom prst="rect">
            <a:avLst/>
          </a:prstGeom>
          <a:solidFill>
            <a:srgbClr val="9DB89B"/>
          </a:solidFill>
          <a:ln w="12700">
            <a:solidFill>
              <a:srgbClr val="9DB89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366394" y="503377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822960" y="5248656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완성도(채색·모션)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240280" y="5248656"/>
            <a:ext cx="59692" cy="164592"/>
          </a:xfrm>
          <a:prstGeom prst="rect">
            <a:avLst/>
          </a:prstGeom>
          <a:solidFill>
            <a:srgbClr val="9DB89B"/>
          </a:solidFill>
          <a:ln w="12700">
            <a:solidFill>
              <a:srgbClr val="9DB89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336548" y="524865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822960" y="546354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부적절 표현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2240280" y="5463540"/>
            <a:ext cx="54718" cy="164592"/>
          </a:xfrm>
          <a:prstGeom prst="rect">
            <a:avLst/>
          </a:prstGeom>
          <a:solidFill>
            <a:srgbClr val="9DB89B"/>
          </a:solidFill>
          <a:ln w="12700">
            <a:solidFill>
              <a:srgbClr val="9DB89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331574" y="546354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822960" y="567842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사용 의심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2240280" y="5678424"/>
            <a:ext cx="49743" cy="164592"/>
          </a:xfrm>
          <a:prstGeom prst="rect">
            <a:avLst/>
          </a:prstGeom>
          <a:solidFill>
            <a:srgbClr val="9DB89B"/>
          </a:solidFill>
          <a:ln w="12700">
            <a:solidFill>
              <a:srgbClr val="9DB89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326599" y="567842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2240280" y="3493008"/>
            <a:ext cx="0" cy="240030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126480" y="3108960"/>
            <a:ext cx="5605272" cy="329184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26480" y="3108960"/>
            <a:ext cx="5605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3 상세 — 심사 문구 기준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6126480" y="3529584"/>
            <a:ext cx="5605272" cy="731520"/>
          </a:xfrm>
          <a:prstGeom prst="roundRect">
            <a:avLst>
              <a:gd name="adj" fmla="val 10000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254496" y="3730752"/>
            <a:ext cx="329184" cy="329184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254496" y="3730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693408" y="35844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심사 규정 (3,735건)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6693408" y="3803904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표정·표현의 중복성, 제목과 내용의 일관성, 세트 컨셉의 통일 등 종합 완성도를 검토합니다. 한 가지 사유로 특정되지 않는 만큼, 제출 전 세트 전체를 한 화면에 놓고 보세요.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0" y="4325112"/>
            <a:ext cx="5605272" cy="731520"/>
          </a:xfrm>
          <a:prstGeom prst="roundRect">
            <a:avLst>
              <a:gd name="adj" fmla="val 10000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254496" y="4526280"/>
            <a:ext cx="329184" cy="329184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254496" y="4526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693408" y="437997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다크모드 대응 (628건)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6693408" y="4599432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흰색 테두리 누락 467건이 대부분. 테두리가 너무 얇거나 흐린 경우(30건), 다크모드에서 배경에 흰 점·선이 남는 경우(약 60건)도 같은 항목입니다.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6126480" y="5120640"/>
            <a:ext cx="5605272" cy="731520"/>
          </a:xfrm>
          <a:prstGeom prst="roundRect">
            <a:avLst>
              <a:gd name="adj" fmla="val 10000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254496" y="5321808"/>
            <a:ext cx="329184" cy="329184"/>
          </a:xfrm>
          <a:prstGeom prst="ellipse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54496" y="5321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6693408" y="51755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콘텐츠 (390건)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6693408" y="539496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업로드 171건 · 마켓 내 동일 콘텐츠 149건 · 세트 내 구도·연출이 상당수 일치 53건 · 세트 내 중복 이미지 16건.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822960" y="5961888"/>
            <a:ext cx="10908792" cy="365760"/>
          </a:xfrm>
          <a:prstGeom prst="roundRect">
            <a:avLst>
              <a:gd name="adj" fmla="val 2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05840" y="59618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 현황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다크모드 · 중복 · 투명 배경 · 화질 · 가독성 — 규격성 사유만 챙겨도 반려의 약 30%를 사전에 제거할 수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5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411480"/>
            <a:ext cx="0" cy="54864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 사유 대응 방안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E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가지만 지키면 대부분 통과합니다.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외에도 제작 가이드상의 주의사항과 캐릭터의 완성도 및 시장성을 종합적으로 검토합니다.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214884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2148840"/>
            <a:ext cx="3246120" cy="45720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25856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다크모드 대응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74720" y="2276856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227685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 10.5%</a:t>
            </a:r>
            <a:endParaRPr lang="en-US" sz="7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06040"/>
            <a:ext cx="3246120" cy="1456407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960120" y="4153887"/>
            <a:ext cx="3246120" cy="41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캐릭터·글씨가 어두운 색이면 흰색 테두리를 추가하세요. 굵고 선명하게, 24장 동일 굵기로. 별도 대응 없이도 어두운 배경에서 잘 보이면 통과합니다.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517136" y="214884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654296" y="2148840"/>
            <a:ext cx="3246120" cy="45720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54296" y="225856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텍스트 가독성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168896" y="2276856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68896" y="227685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 3.2%</a:t>
            </a:r>
            <a:endParaRPr lang="en-US" sz="75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2606040"/>
            <a:ext cx="3246120" cy="1492051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654296" y="4189531"/>
            <a:ext cx="3246120" cy="382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문장이 길거나 글씨가 작아 첫눈에 읽히지 않으면 반려. 공정위·포스팅 문구는 ‘유료협찬’ 부분을 색상 강조하거나 폰트를 키우세요.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8211312" y="214884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348472" y="2148840"/>
            <a:ext cx="3246120" cy="45720"/>
          </a:xfrm>
          <a:prstGeom prst="rect">
            <a:avLst/>
          </a:prstGeom>
          <a:solidFill>
            <a:srgbClr val="3C6E3D"/>
          </a:solidFill>
          <a:ln w="12700">
            <a:solidFill>
              <a:srgbClr val="3C6E3D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348472" y="225856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이미지 투명화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10863072" y="2276856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10863072" y="227685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 3.8%</a:t>
            </a:r>
            <a:endParaRPr lang="en-US" sz="75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472" y="2606040"/>
            <a:ext cx="3246120" cy="1394407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8348472" y="4091887"/>
            <a:ext cx="3246120" cy="48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24장 + 메인·탭 모두 투명 PNG. 확장자만 바꾼 파일은 투명이 아닙니다. 이미지 안에 배경을 의도적으로 디자인한 경우는 제외됩니다.</a:t>
            </a:r>
            <a:endParaRPr lang="en-US" sz="850" dirty="0"/>
          </a:p>
        </p:txBody>
      </p:sp>
      <p:sp>
        <p:nvSpPr>
          <p:cNvPr id="30" name="Shape 25"/>
          <p:cNvSpPr/>
          <p:nvPr/>
        </p:nvSpPr>
        <p:spPr>
          <a:xfrm>
            <a:off x="822960" y="4773168"/>
            <a:ext cx="5367528" cy="1078992"/>
          </a:xfrm>
          <a:prstGeom prst="roundRect">
            <a:avLst>
              <a:gd name="adj" fmla="val 8475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960120" y="4846320"/>
            <a:ext cx="4270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중복 콘텐츠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5321808" y="4864608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5321808" y="486460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 6.5%</a:t>
            </a:r>
            <a:endParaRPr lang="en-US" sz="750" dirty="0"/>
          </a:p>
        </p:txBody>
      </p:sp>
      <p:sp>
        <p:nvSpPr>
          <p:cNvPr id="34" name="Text 29"/>
          <p:cNvSpPr/>
          <p:nvPr/>
        </p:nvSpPr>
        <p:spPr>
          <a:xfrm>
            <a:off x="960120" y="5138928"/>
            <a:ext cx="50932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파일을 두 번 올리지 않기. 마켓에 이미 있는 콘텐츠와 동일하거나, 세트 안에서 구도·연출이 상당수 겹치면 반려됩니다. 24장을 한 화면에 놓고 비슷한 장면이 3장 이상이면 교체하세요.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6364224" y="4773168"/>
            <a:ext cx="5367528" cy="1078992"/>
          </a:xfrm>
          <a:prstGeom prst="roundRect">
            <a:avLst>
              <a:gd name="adj" fmla="val 8475"/>
            </a:avLst>
          </a:prstGeom>
          <a:solidFill>
            <a:srgbClr val="F6F8FA"/>
          </a:solidFill>
          <a:ln w="9525">
            <a:solidFill>
              <a:srgbClr val="E5E9EE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6501384" y="4846320"/>
            <a:ext cx="4270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권리 · AI 표기</a:t>
            </a:r>
            <a:endParaRPr lang="en-US" sz="1150" dirty="0"/>
          </a:p>
        </p:txBody>
      </p:sp>
      <p:sp>
        <p:nvSpPr>
          <p:cNvPr id="37" name="Shape 32"/>
          <p:cNvSpPr/>
          <p:nvPr/>
        </p:nvSpPr>
        <p:spPr>
          <a:xfrm>
            <a:off x="10863072" y="4864608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E4EFEA"/>
          </a:solidFill>
          <a:ln w="12700">
            <a:solidFill>
              <a:srgbClr val="E4EFEA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10863072" y="486460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C6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 2.8%</a:t>
            </a:r>
            <a:endParaRPr lang="en-US" sz="750" dirty="0"/>
          </a:p>
        </p:txBody>
      </p:sp>
      <p:sp>
        <p:nvSpPr>
          <p:cNvPr id="39" name="Text 34"/>
          <p:cNvSpPr/>
          <p:nvPr/>
        </p:nvSpPr>
        <p:spPr>
          <a:xfrm>
            <a:off x="6501384" y="5138928"/>
            <a:ext cx="50932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스트리머명 포함 시 퍼블리시티권 등록, 기존 캐릭터 연상 요소·앨범 아트·상업 불가 폰트 제거. AI 사용 시 업로드에서 체크, 미사용 시 증빙 자료로 소명. 생성형 AI로만 제작한 스티커(이모티콘)는 등록할 수 없습니다.</a:t>
            </a:r>
            <a:endParaRPr lang="en-US" sz="850" dirty="0"/>
          </a:p>
        </p:txBody>
      </p:sp>
      <p:sp>
        <p:nvSpPr>
          <p:cNvPr id="40" name="Shape 35"/>
          <p:cNvSpPr/>
          <p:nvPr/>
        </p:nvSpPr>
        <p:spPr>
          <a:xfrm>
            <a:off x="822960" y="5961888"/>
            <a:ext cx="10908792" cy="365760"/>
          </a:xfrm>
          <a:prstGeom prst="roundRect">
            <a:avLst>
              <a:gd name="adj" fmla="val 20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1005840" y="59618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D5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 핵심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다크모드 · 가독성 · 투명 배경 · 중복 · 권리 표기 — 제출 전 체크리스트로 한 번씩 확인하세요.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4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w="12700">
            <a:solidFill>
              <a:srgbClr val="2A5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w="12700">
            <a:solidFill>
              <a:srgbClr val="356B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w="12700">
            <a:solidFill>
              <a:srgbClr val="2A5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플레이북에 대한 다양한 의견 및 개선 사항을 전달해 주세요.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크리에이터분들의 작은 아이디어나 개선 사항은 큰 힘이 됩니다.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074920" y="35661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74920" y="3566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5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 남기기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6080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Copyright ⓒ 2026 OGQ All Rights Reserved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2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OGQ 플레이북 활용 안내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11274552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691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플레이북은 OGQ에서 제작 및 제공하는 문서입니다.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문서를 활용 시에는 아래 사항을 꼭 유의해 주시기 바랍니다.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" y="2651760"/>
            <a:ext cx="10515600" cy="2377440"/>
          </a:xfrm>
          <a:prstGeom prst="roundRect">
            <a:avLst>
              <a:gd name="adj" fmla="val 3846"/>
            </a:avLst>
          </a:prstGeom>
          <a:solidFill>
            <a:srgbClr val="FDF4F1"/>
          </a:solidFill>
          <a:ln w="9525">
            <a:solidFill>
              <a:srgbClr val="F0C9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788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플레이북 활용 시 유의 사항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97280" y="3337560"/>
            <a:ext cx="329184" cy="32918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3337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54480" y="3291840"/>
            <a:ext cx="9509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플레이북 내 내용을 임의로 가공해서 별도 공유 또는 재인용 하는 것을 금지합니다.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97280" y="3977640"/>
            <a:ext cx="329184" cy="32918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54480" y="3931920"/>
            <a:ext cx="9509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플레이북 전문을 웹에 게시하거나 상업적으로 활용하는 것을 금지합니다.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Copyright ⓒ 2026 OGQ All Rights Reserved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spc="200" kern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OGQ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2026-08-25T09:43:47Z</dcterms:created>
  <dcterms:modified xsi:type="dcterms:W3CDTF">2026-08-25T09:43:47Z</dcterms:modified>
</cp:coreProperties>
</file>