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80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EBD00CC-FC0A-4C85-B4EB-CBDBD9B740B2}">
  <a:tblStyle styleId="{AEBD00CC-FC0A-4C85-B4EB-CBDBD9B740B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800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20" Type="http://schemas.openxmlformats.org/officeDocument/2006/relationships/slide" Target="slides/slide1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22" Type="http://schemas.openxmlformats.org/officeDocument/2006/relationships/slide" Target="slides/slide16.xml"/><Relationship Id="rId44" Type="http://schemas.openxmlformats.org/officeDocument/2006/relationships/slide" Target="slides/slide38.xml"/><Relationship Id="rId21" Type="http://schemas.openxmlformats.org/officeDocument/2006/relationships/slide" Target="slides/slide15.xml"/><Relationship Id="rId43" Type="http://schemas.openxmlformats.org/officeDocument/2006/relationships/slide" Target="slides/slide37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45" Type="http://schemas.openxmlformats.org/officeDocument/2006/relationships/slide" Target="slides/slide39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slide" Target="slides/slide31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39" Type="http://schemas.openxmlformats.org/officeDocument/2006/relationships/slide" Target="slides/slide33.xml"/><Relationship Id="rId16" Type="http://schemas.openxmlformats.org/officeDocument/2006/relationships/slide" Target="slides/slide10.xml"/><Relationship Id="rId38" Type="http://schemas.openxmlformats.org/officeDocument/2006/relationships/slide" Target="slides/slide32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" name="Google Shape;1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" name="Google Shape;1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" name="Google Shape;31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" name="Google Shape;32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" name="Google Shape;78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9" name="Google Shape;79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2" name="Google Shape;92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6" name="Google Shape;12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7" name="Google Shape;127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6" name="Google Shape;156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7" name="Google Shape;157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9" name="Google Shape;169;p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0" name="Google Shape;170;p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1" name="Google Shape;23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2" name="Google Shape;232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1" name="Google Shape;29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92" name="Google Shape;292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5" name="Google Shape;35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56" name="Google Shape;356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9" name="Google Shape;419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20" name="Google Shape;420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2" name="Google Shape;432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33" name="Google Shape;43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2" name="Google Shape;462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63" name="Google Shape;463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0" name="Google Shape;510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11" name="Google Shape;511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8" name="Google Shape;628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29" name="Google Shape;629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31" name="Google Shape;731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0" name="Shape 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Google Shape;841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2" name="Google Shape;842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43" name="Google Shape;843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9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1" name="Google Shape;94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42" name="Google Shape;942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2" name="Shape 9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Google Shape;953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4" name="Google Shape;95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55" name="Google Shape;955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7" name="Shape 9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8" name="Google Shape;98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9" name="Google Shape;989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90" name="Google Shape;990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5" name="Shape 1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Google Shape;103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7" name="Google Shape;1037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38" name="Google Shape;1038;p2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3" name="Shape 1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4" name="Google Shape;1154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5" name="Google Shape;1155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56" name="Google Shape;1156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5" name="Shape 1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7" name="Google Shape;1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58" name="Google Shape;1258;p2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7" name="Shape 1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8" name="Google Shape;1368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69" name="Google Shape;1369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70" name="Google Shape;1370;p2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6" name="Shape 1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7" name="Google Shape;1467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8" name="Google Shape;1468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69" name="Google Shape;1469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9" name="Shape 1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0" name="Google Shape;1480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1" name="Google Shape;1481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82" name="Google Shape;1482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4" name="Shape 1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" name="Google Shape;1515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6" name="Google Shape;151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17" name="Google Shape;1517;p2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4" name="Shape 1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5" name="Google Shape;1565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66" name="Google Shape;1566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67" name="Google Shape;1567;p2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2" name="Shape 1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3" name="Google Shape;1683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84" name="Google Shape;1684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85" name="Google Shape;1685;p2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4" name="Shape 1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5" name="Google Shape;178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86" name="Google Shape;1786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87" name="Google Shape;1787;p3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6" name="Shape 1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7" name="Google Shape;1867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68" name="Google Shape;1868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69" name="Google Shape;1869;p3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5" name="Shape 1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6" name="Google Shape;1966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67" name="Google Shape;196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68" name="Google Shape;1968;p3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8" name="Shape 1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9" name="Google Shape;1979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0" name="Google Shape;1980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81" name="Google Shape;1981;p3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5" name="Shape 2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6" name="Google Shape;2036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37" name="Google Shape;2037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38" name="Google Shape;2038;p3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3" name="Shape 2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4" name="Google Shape;2094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95" name="Google Shape;209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96" name="Google Shape;2096;p3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5" name="Shape 2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6" name="Google Shape;2156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57" name="Google Shape;2157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58" name="Google Shape;2158;p3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4" name="Shape 2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5" name="Google Shape;2235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36" name="Google Shape;2236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37" name="Google Shape;2237;p3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9" name="Shape 2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0" name="Google Shape;2280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1" name="Google Shape;2281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82" name="Google Shape;2282;p3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3" name="Shape 2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4" name="Google Shape;2294;p39:notes"/>
          <p:cNvSpPr/>
          <p:nvPr>
            <p:ph idx="2" type="sldImg"/>
          </p:nvPr>
        </p:nvSpPr>
        <p:spPr>
          <a:xfrm>
            <a:off x="685800" y="1524000"/>
            <a:ext cx="54864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95" name="Google Shape;2295;p39:notes"/>
          <p:cNvSpPr txBox="1"/>
          <p:nvPr>
            <p:ph idx="1" type="body"/>
          </p:nvPr>
        </p:nvSpPr>
        <p:spPr>
          <a:xfrm>
            <a:off x="685800" y="5867400"/>
            <a:ext cx="5486400" cy="4800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96" name="Google Shape;2296;p39:notes"/>
          <p:cNvSpPr txBox="1"/>
          <p:nvPr>
            <p:ph idx="12" type="sldNum"/>
          </p:nvPr>
        </p:nvSpPr>
        <p:spPr>
          <a:xfrm>
            <a:off x="3884613" y="11580284"/>
            <a:ext cx="2971800" cy="611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3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1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ogqmarket.naver.com/" TargetMode="External"/><Relationship Id="rId4" Type="http://schemas.openxmlformats.org/officeDocument/2006/relationships/hyperlink" Target="https://ogqmarket.naver.com/" TargetMode="External"/><Relationship Id="rId11" Type="http://schemas.openxmlformats.org/officeDocument/2006/relationships/image" Target="../media/image7.png"/><Relationship Id="rId10" Type="http://schemas.openxmlformats.org/officeDocument/2006/relationships/hyperlink" Target="https://chattingplus.ogq.me/" TargetMode="External"/><Relationship Id="rId9" Type="http://schemas.openxmlformats.org/officeDocument/2006/relationships/hyperlink" Target="https://chattingplus.ogq.me/" TargetMode="External"/><Relationship Id="rId5" Type="http://schemas.openxmlformats.org/officeDocument/2006/relationships/image" Target="../media/image1.png"/><Relationship Id="rId6" Type="http://schemas.openxmlformats.org/officeDocument/2006/relationships/hyperlink" Target="https://ogqmarket.sooplive.com/emoticon" TargetMode="External"/><Relationship Id="rId7" Type="http://schemas.openxmlformats.org/officeDocument/2006/relationships/hyperlink" Target="https://ogqmarket.sooplive.com/emoticon" TargetMode="External"/><Relationship Id="rId8" Type="http://schemas.openxmlformats.org/officeDocument/2006/relationships/image" Target="../media/image1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png"/><Relationship Id="rId4" Type="http://schemas.openxmlformats.org/officeDocument/2006/relationships/image" Target="../media/image6.png"/><Relationship Id="rId5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Relationship Id="rId4" Type="http://schemas.openxmlformats.org/officeDocument/2006/relationships/hyperlink" Target="https://ogqmarket.naver.com/chart" TargetMode="External"/><Relationship Id="rId5" Type="http://schemas.openxmlformats.org/officeDocument/2006/relationships/hyperlink" Target="https://ogqmarket.naver.com/chart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2.png"/><Relationship Id="rId4" Type="http://schemas.openxmlformats.org/officeDocument/2006/relationships/image" Target="../media/image2.png"/><Relationship Id="rId5" Type="http://schemas.openxmlformats.org/officeDocument/2006/relationships/image" Target="../media/image8.png"/><Relationship Id="rId6" Type="http://schemas.openxmlformats.org/officeDocument/2006/relationships/image" Target="../media/image17.png"/><Relationship Id="rId7" Type="http://schemas.openxmlformats.org/officeDocument/2006/relationships/image" Target="../media/image10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11.png"/><Relationship Id="rId7" Type="http://schemas.openxmlformats.org/officeDocument/2006/relationships/image" Target="../media/image2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Relationship Id="rId4" Type="http://schemas.openxmlformats.org/officeDocument/2006/relationships/image" Target="../media/image24.png"/><Relationship Id="rId5" Type="http://schemas.openxmlformats.org/officeDocument/2006/relationships/hyperlink" Target="https://ogqmarket.sooplive.com/emoticon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8.png"/><Relationship Id="rId4" Type="http://schemas.openxmlformats.org/officeDocument/2006/relationships/image" Target="../media/image28.png"/><Relationship Id="rId5" Type="http://schemas.openxmlformats.org/officeDocument/2006/relationships/image" Target="../media/image25.png"/><Relationship Id="rId6" Type="http://schemas.openxmlformats.org/officeDocument/2006/relationships/image" Target="../media/image10.png"/><Relationship Id="rId7" Type="http://schemas.openxmlformats.org/officeDocument/2006/relationships/image" Target="../media/image3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11.png"/><Relationship Id="rId7" Type="http://schemas.openxmlformats.org/officeDocument/2006/relationships/image" Target="../media/image21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1.png"/><Relationship Id="rId4" Type="http://schemas.openxmlformats.org/officeDocument/2006/relationships/image" Target="../media/image29.png"/><Relationship Id="rId5" Type="http://schemas.openxmlformats.org/officeDocument/2006/relationships/hyperlink" Target="https://chattingplus.ogq.me/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3.png"/><Relationship Id="rId4" Type="http://schemas.openxmlformats.org/officeDocument/2006/relationships/image" Target="../media/image35.png"/><Relationship Id="rId5" Type="http://schemas.openxmlformats.org/officeDocument/2006/relationships/image" Target="../media/image26.png"/><Relationship Id="rId6" Type="http://schemas.openxmlformats.org/officeDocument/2006/relationships/image" Target="../media/image17.png"/><Relationship Id="rId7" Type="http://schemas.openxmlformats.org/officeDocument/2006/relationships/image" Target="../media/image2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9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11.png"/><Relationship Id="rId7" Type="http://schemas.openxmlformats.org/officeDocument/2006/relationships/image" Target="../media/image21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4.png"/><Relationship Id="rId4" Type="http://schemas.openxmlformats.org/officeDocument/2006/relationships/image" Target="../media/image38.png"/><Relationship Id="rId9" Type="http://schemas.openxmlformats.org/officeDocument/2006/relationships/image" Target="../media/image30.png"/><Relationship Id="rId5" Type="http://schemas.openxmlformats.org/officeDocument/2006/relationships/image" Target="../media/image39.png"/><Relationship Id="rId6" Type="http://schemas.openxmlformats.org/officeDocument/2006/relationships/image" Target="../media/image32.png"/><Relationship Id="rId7" Type="http://schemas.openxmlformats.org/officeDocument/2006/relationships/image" Target="../media/image40.png"/><Relationship Id="rId8" Type="http://schemas.openxmlformats.org/officeDocument/2006/relationships/image" Target="../media/image36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4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37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6.png"/><Relationship Id="rId4" Type="http://schemas.openxmlformats.org/officeDocument/2006/relationships/image" Target="../media/image40.png"/><Relationship Id="rId5" Type="http://schemas.openxmlformats.org/officeDocument/2006/relationships/image" Target="../media/image3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form.naver.com/response/Dde51Bon31cOcS_3Utfcgg" TargetMode="Externa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538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4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cap="flat" cmpd="sng" w="12700">
            <a:solidFill>
              <a:srgbClr val="356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4"/>
          <p:cNvSpPr/>
          <p:nvPr/>
        </p:nvSpPr>
        <p:spPr>
          <a:xfrm flipH="1" rot="10800000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"/>
          <p:cNvSpPr/>
          <p:nvPr/>
        </p:nvSpPr>
        <p:spPr>
          <a:xfrm>
            <a:off x="822960" y="1280160"/>
            <a:ext cx="82296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0"/>
              <a:buFont typeface="Arial"/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 PLAYBOOK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822960" y="2331720"/>
            <a:ext cx="822960" cy="329184"/>
          </a:xfrm>
          <a:prstGeom prst="roundRect">
            <a:avLst>
              <a:gd fmla="val 50000" name="adj"/>
            </a:avLst>
          </a:prstGeom>
          <a:solidFill>
            <a:srgbClr val="B7D5C6"/>
          </a:solidFill>
          <a:ln cap="flat" cmpd="sng" w="12700">
            <a:solidFill>
              <a:srgbClr val="B7D5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"/>
          <p:cNvSpPr/>
          <p:nvPr/>
        </p:nvSpPr>
        <p:spPr>
          <a:xfrm>
            <a:off x="822960" y="2331720"/>
            <a:ext cx="8229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4538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F4538"/>
                </a:solidFill>
                <a:latin typeface="Arial"/>
                <a:ea typeface="Arial"/>
                <a:cs typeface="Arial"/>
                <a:sym typeface="Arial"/>
              </a:rPr>
              <a:t>Vol.2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/>
          <p:nvPr/>
        </p:nvSpPr>
        <p:spPr>
          <a:xfrm>
            <a:off x="822960" y="283464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2026년 상반기 데이터 기반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4"/>
          <p:cNvSpPr/>
          <p:nvPr/>
        </p:nvSpPr>
        <p:spPr>
          <a:xfrm>
            <a:off x="822960" y="338328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300"/>
              <a:buFont typeface="Malgun Gothic"/>
              <a:buNone/>
            </a:pPr>
            <a:r>
              <a:rPr b="0" i="0" lang="en-US" sz="130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NAVER OGQ마켓 · SOOP OGQ이모티콘 · 채팅+ OGQ마켓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4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F4538"/>
          </a:solidFill>
          <a:ln cap="flat" cmpd="sng" w="12700">
            <a:solidFill>
              <a:srgbClr val="1F453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/>
        </p:nvSpPr>
        <p:spPr>
          <a:xfrm>
            <a:off x="731520" y="2377440"/>
            <a:ext cx="32004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INDEX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5"/>
          <p:cNvSpPr/>
          <p:nvPr/>
        </p:nvSpPr>
        <p:spPr>
          <a:xfrm>
            <a:off x="731520" y="320040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200"/>
              <a:buFont typeface="Malgun Gothic"/>
              <a:buNone/>
            </a:pPr>
            <a:r>
              <a:rPr b="0" i="0" lang="en-US" sz="120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플레이북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5"/>
          <p:cNvSpPr/>
          <p:nvPr/>
        </p:nvSpPr>
        <p:spPr>
          <a:xfrm>
            <a:off x="731520" y="603504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/>
          <p:nvPr/>
        </p:nvSpPr>
        <p:spPr>
          <a:xfrm>
            <a:off x="4846320" y="640080"/>
            <a:ext cx="548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B7D5C6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5"/>
          <p:cNvSpPr/>
          <p:nvPr/>
        </p:nvSpPr>
        <p:spPr>
          <a:xfrm>
            <a:off x="5349240" y="640080"/>
            <a:ext cx="1371600" cy="310896"/>
          </a:xfrm>
          <a:prstGeom prst="roundRect">
            <a:avLst>
              <a:gd fmla="val 50000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5"/>
          <p:cNvSpPr/>
          <p:nvPr/>
        </p:nvSpPr>
        <p:spPr>
          <a:xfrm>
            <a:off x="5349240" y="640080"/>
            <a:ext cx="13716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SUMMARY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5"/>
          <p:cNvSpPr/>
          <p:nvPr/>
        </p:nvSpPr>
        <p:spPr>
          <a:xfrm>
            <a:off x="4937760" y="1197864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5"/>
          <p:cNvSpPr/>
          <p:nvPr/>
        </p:nvSpPr>
        <p:spPr>
          <a:xfrm>
            <a:off x="5120640" y="1078992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소개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5"/>
          <p:cNvSpPr/>
          <p:nvPr/>
        </p:nvSpPr>
        <p:spPr>
          <a:xfrm>
            <a:off x="4937760" y="1527048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5"/>
          <p:cNvSpPr/>
          <p:nvPr/>
        </p:nvSpPr>
        <p:spPr>
          <a:xfrm>
            <a:off x="5120640" y="1408176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주요 마켓 소개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5"/>
          <p:cNvSpPr/>
          <p:nvPr/>
        </p:nvSpPr>
        <p:spPr>
          <a:xfrm>
            <a:off x="4846320" y="2057400"/>
            <a:ext cx="548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B7D5C6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5"/>
          <p:cNvSpPr/>
          <p:nvPr/>
        </p:nvSpPr>
        <p:spPr>
          <a:xfrm>
            <a:off x="5349240" y="2057400"/>
            <a:ext cx="1371600" cy="310896"/>
          </a:xfrm>
          <a:prstGeom prst="roundRect">
            <a:avLst>
              <a:gd fmla="val 50000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5"/>
          <p:cNvSpPr/>
          <p:nvPr/>
        </p:nvSpPr>
        <p:spPr>
          <a:xfrm>
            <a:off x="5349240" y="2057400"/>
            <a:ext cx="13716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INSIGHT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"/>
          <p:cNvSpPr/>
          <p:nvPr/>
        </p:nvSpPr>
        <p:spPr>
          <a:xfrm>
            <a:off x="4937760" y="2615184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5"/>
          <p:cNvSpPr/>
          <p:nvPr/>
        </p:nvSpPr>
        <p:spPr>
          <a:xfrm>
            <a:off x="5120640" y="2496312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마켓별 구매자 인사이트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5"/>
          <p:cNvSpPr/>
          <p:nvPr/>
        </p:nvSpPr>
        <p:spPr>
          <a:xfrm>
            <a:off x="4937760" y="2944368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5"/>
          <p:cNvSpPr/>
          <p:nvPr/>
        </p:nvSpPr>
        <p:spPr>
          <a:xfrm>
            <a:off x="5120640" y="2825496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마켓별 구매자 세부 데이터 분석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5"/>
          <p:cNvSpPr/>
          <p:nvPr/>
        </p:nvSpPr>
        <p:spPr>
          <a:xfrm>
            <a:off x="4846320" y="3474720"/>
            <a:ext cx="548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B7D5C6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5"/>
          <p:cNvSpPr/>
          <p:nvPr/>
        </p:nvSpPr>
        <p:spPr>
          <a:xfrm>
            <a:off x="5349240" y="3474720"/>
            <a:ext cx="1371600" cy="310896"/>
          </a:xfrm>
          <a:prstGeom prst="roundRect">
            <a:avLst>
              <a:gd fmla="val 50000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5"/>
          <p:cNvSpPr/>
          <p:nvPr/>
        </p:nvSpPr>
        <p:spPr>
          <a:xfrm>
            <a:off x="5349240" y="3474720"/>
            <a:ext cx="13716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GUIDE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4937760" y="4032504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5"/>
          <p:cNvSpPr/>
          <p:nvPr/>
        </p:nvSpPr>
        <p:spPr>
          <a:xfrm>
            <a:off x="5120655" y="3913625"/>
            <a:ext cx="48078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/ 애니메이션 스티커(이모티콘)</a:t>
            </a:r>
            <a:r>
              <a:rPr lang="en-US" sz="105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 가이드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4937760" y="4361688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5120640" y="4242816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등록 가이드 · 기타 가이드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5"/>
          <p:cNvSpPr/>
          <p:nvPr/>
        </p:nvSpPr>
        <p:spPr>
          <a:xfrm>
            <a:off x="4937760" y="4690872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5"/>
          <p:cNvSpPr/>
          <p:nvPr/>
        </p:nvSpPr>
        <p:spPr>
          <a:xfrm>
            <a:off x="5120640" y="4572000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심사 반려 현황 및 대응 방안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5"/>
          <p:cNvSpPr/>
          <p:nvPr/>
        </p:nvSpPr>
        <p:spPr>
          <a:xfrm>
            <a:off x="8549640" y="640080"/>
            <a:ext cx="548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B7D5C6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"/>
          <p:cNvSpPr/>
          <p:nvPr/>
        </p:nvSpPr>
        <p:spPr>
          <a:xfrm>
            <a:off x="9052560" y="640080"/>
            <a:ext cx="1371600" cy="310896"/>
          </a:xfrm>
          <a:prstGeom prst="roundRect">
            <a:avLst>
              <a:gd fmla="val 50000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5"/>
          <p:cNvSpPr/>
          <p:nvPr/>
        </p:nvSpPr>
        <p:spPr>
          <a:xfrm>
            <a:off x="9052560" y="640080"/>
            <a:ext cx="13716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PLAYBOOK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5"/>
          <p:cNvSpPr/>
          <p:nvPr/>
        </p:nvSpPr>
        <p:spPr>
          <a:xfrm>
            <a:off x="8641080" y="1197864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5"/>
          <p:cNvSpPr/>
          <p:nvPr/>
        </p:nvSpPr>
        <p:spPr>
          <a:xfrm>
            <a:off x="8823960" y="1078992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마켓 상위 매출 탐색 방법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8641080" y="1527048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8823960" y="1408176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</a:t>
            </a:r>
            <a:r>
              <a:rPr lang="en-US" sz="105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</a:t>
            </a: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분석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5"/>
          <p:cNvSpPr/>
          <p:nvPr/>
        </p:nvSpPr>
        <p:spPr>
          <a:xfrm>
            <a:off x="8641080" y="1856232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5"/>
          <p:cNvSpPr/>
          <p:nvPr/>
        </p:nvSpPr>
        <p:spPr>
          <a:xfrm>
            <a:off x="8823960" y="1737360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잘 팔리는 주제 선정하기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5"/>
          <p:cNvSpPr/>
          <p:nvPr/>
        </p:nvSpPr>
        <p:spPr>
          <a:xfrm>
            <a:off x="8641080" y="2185416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5"/>
          <p:cNvSpPr/>
          <p:nvPr/>
        </p:nvSpPr>
        <p:spPr>
          <a:xfrm>
            <a:off x="8823960" y="2066544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이미지 구성하기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5"/>
          <p:cNvSpPr/>
          <p:nvPr/>
        </p:nvSpPr>
        <p:spPr>
          <a:xfrm>
            <a:off x="8641080" y="2514600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8823960" y="2395728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 전략 세우기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5"/>
          <p:cNvSpPr/>
          <p:nvPr/>
        </p:nvSpPr>
        <p:spPr>
          <a:xfrm>
            <a:off x="8641080" y="2843784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5"/>
          <p:cNvSpPr/>
          <p:nvPr/>
        </p:nvSpPr>
        <p:spPr>
          <a:xfrm>
            <a:off x="8823960" y="2724912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성공 공식 요약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538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6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6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cap="flat" cmpd="sng" w="12700">
            <a:solidFill>
              <a:srgbClr val="356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6"/>
          <p:cNvSpPr/>
          <p:nvPr/>
        </p:nvSpPr>
        <p:spPr>
          <a:xfrm flipH="1" rot="10800000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6"/>
          <p:cNvSpPr/>
          <p:nvPr/>
        </p:nvSpPr>
        <p:spPr>
          <a:xfrm>
            <a:off x="731520" y="640080"/>
            <a:ext cx="640080" cy="640080"/>
          </a:xfrm>
          <a:prstGeom prst="ellipse">
            <a:avLst/>
          </a:prstGeom>
          <a:noFill/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6"/>
          <p:cNvSpPr/>
          <p:nvPr/>
        </p:nvSpPr>
        <p:spPr>
          <a:xfrm>
            <a:off x="731520" y="64008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6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SUMMARY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6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600"/>
              <a:buFont typeface="Malgun Gothic"/>
              <a:buNone/>
            </a:pPr>
            <a:r>
              <a:rPr b="0" i="0" lang="en-US" sz="160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개요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6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7"/>
          <p:cNvSpPr/>
          <p:nvPr/>
        </p:nvSpPr>
        <p:spPr>
          <a:xfrm>
            <a:off x="457200" y="1188720"/>
            <a:ext cx="11274600" cy="521220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5" name="Google Shape;95;p7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6" name="Google Shape;96;p7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400"/>
              <a:buFont typeface="Malgun Gothic"/>
              <a:buNone/>
            </a:pPr>
            <a:r>
              <a:rPr b="1" i="0" lang="en-US" sz="24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누구나 크리에이터가 되는 세상 — 크리에이터 콘텐츠 마켓 플랫폼, OGQ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7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Malgun Gothic"/>
              <a:buNone/>
            </a:pPr>
            <a:r>
              <a:rPr b="0" i="0" lang="en-US" sz="13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크리에이터가 콘텐츠를 만들고, OGQ에 등록하여 여러 플랫폼의 OGQ마켓에서 판매할 수 있습니다.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7"/>
          <p:cNvSpPr/>
          <p:nvPr/>
        </p:nvSpPr>
        <p:spPr>
          <a:xfrm>
            <a:off x="822960" y="2148840"/>
            <a:ext cx="3270504" cy="3721608"/>
          </a:xfrm>
          <a:prstGeom prst="roundRect">
            <a:avLst>
              <a:gd fmla="val 4225" name="adj"/>
            </a:avLst>
          </a:prstGeom>
          <a:solidFill>
            <a:srgbClr val="F6F8FA"/>
          </a:solidFill>
          <a:ln cap="flat" cmpd="sng" w="12700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7"/>
          <p:cNvSpPr/>
          <p:nvPr/>
        </p:nvSpPr>
        <p:spPr>
          <a:xfrm>
            <a:off x="1097280" y="2423160"/>
            <a:ext cx="1097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7"/>
          <p:cNvSpPr/>
          <p:nvPr/>
        </p:nvSpPr>
        <p:spPr>
          <a:xfrm>
            <a:off x="3224784" y="2423160"/>
            <a:ext cx="594300" cy="5943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01" name="Google Shape;101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66516" y="256489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7"/>
          <p:cNvSpPr/>
          <p:nvPr/>
        </p:nvSpPr>
        <p:spPr>
          <a:xfrm>
            <a:off x="1097280" y="3017520"/>
            <a:ext cx="272186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CREATE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7"/>
          <p:cNvSpPr/>
          <p:nvPr/>
        </p:nvSpPr>
        <p:spPr>
          <a:xfrm>
            <a:off x="1097280" y="3474720"/>
            <a:ext cx="2721864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크리에이터가 만든다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7"/>
          <p:cNvSpPr/>
          <p:nvPr/>
        </p:nvSpPr>
        <p:spPr>
          <a:xfrm>
            <a:off x="1097280" y="3931920"/>
            <a:ext cx="2721864" cy="12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스티커(이모티콘), 이미지, 음원 등 원하는 디지털 콘텐츠를 자유롭게 제작합니다. 형식과 장르에 제한 없이 누구나 크리에이터가 될 수 있습니다.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7"/>
          <p:cNvSpPr/>
          <p:nvPr/>
        </p:nvSpPr>
        <p:spPr>
          <a:xfrm>
            <a:off x="4166616" y="3881628"/>
            <a:ext cx="219600" cy="2559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7"/>
          <p:cNvSpPr/>
          <p:nvPr/>
        </p:nvSpPr>
        <p:spPr>
          <a:xfrm>
            <a:off x="4459224" y="2148840"/>
            <a:ext cx="3270504" cy="3721608"/>
          </a:xfrm>
          <a:prstGeom prst="roundRect">
            <a:avLst>
              <a:gd fmla="val 4225" name="adj"/>
            </a:avLst>
          </a:prstGeom>
          <a:solidFill>
            <a:srgbClr val="F6F8FA"/>
          </a:solidFill>
          <a:ln cap="flat" cmpd="sng" w="12700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7"/>
          <p:cNvSpPr/>
          <p:nvPr/>
        </p:nvSpPr>
        <p:spPr>
          <a:xfrm>
            <a:off x="4733544" y="2423160"/>
            <a:ext cx="1097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7"/>
          <p:cNvSpPr/>
          <p:nvPr/>
        </p:nvSpPr>
        <p:spPr>
          <a:xfrm>
            <a:off x="6861048" y="2423160"/>
            <a:ext cx="594300" cy="5943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09" name="Google Shape;109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002780" y="256489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7"/>
          <p:cNvSpPr/>
          <p:nvPr/>
        </p:nvSpPr>
        <p:spPr>
          <a:xfrm>
            <a:off x="4733544" y="3017520"/>
            <a:ext cx="272186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REGISTER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7"/>
          <p:cNvSpPr/>
          <p:nvPr/>
        </p:nvSpPr>
        <p:spPr>
          <a:xfrm>
            <a:off x="4733544" y="3474720"/>
            <a:ext cx="2721864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OGQ에 등록한다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7"/>
          <p:cNvSpPr/>
          <p:nvPr/>
        </p:nvSpPr>
        <p:spPr>
          <a:xfrm>
            <a:off x="4733544" y="3931920"/>
            <a:ext cx="2721864" cy="12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크리에이터 스튜디오에 한 번만 등록하면 네이버 OGQ마켓, SOOP OGQ이모티콘, 채팅+ OGQ마켓 등 여러 플랫폼에 동시에 판매 콘텐츠가 노출됩니다.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7"/>
          <p:cNvSpPr/>
          <p:nvPr/>
        </p:nvSpPr>
        <p:spPr>
          <a:xfrm>
            <a:off x="7802880" y="3881628"/>
            <a:ext cx="219600" cy="2559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7"/>
          <p:cNvSpPr/>
          <p:nvPr/>
        </p:nvSpPr>
        <p:spPr>
          <a:xfrm>
            <a:off x="8095488" y="2148840"/>
            <a:ext cx="3270504" cy="3721608"/>
          </a:xfrm>
          <a:prstGeom prst="roundRect">
            <a:avLst>
              <a:gd fmla="val 4225" name="adj"/>
            </a:avLst>
          </a:prstGeom>
          <a:solidFill>
            <a:srgbClr val="F6F8FA"/>
          </a:solidFill>
          <a:ln cap="flat" cmpd="sng" w="12700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7"/>
          <p:cNvSpPr/>
          <p:nvPr/>
        </p:nvSpPr>
        <p:spPr>
          <a:xfrm>
            <a:off x="8369808" y="2423160"/>
            <a:ext cx="1097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7"/>
          <p:cNvSpPr/>
          <p:nvPr/>
        </p:nvSpPr>
        <p:spPr>
          <a:xfrm>
            <a:off x="10497312" y="2423160"/>
            <a:ext cx="594300" cy="5943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17" name="Google Shape;117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639044" y="256489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7"/>
          <p:cNvSpPr/>
          <p:nvPr/>
        </p:nvSpPr>
        <p:spPr>
          <a:xfrm>
            <a:off x="8369808" y="3017520"/>
            <a:ext cx="272186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SELL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7"/>
          <p:cNvSpPr/>
          <p:nvPr/>
        </p:nvSpPr>
        <p:spPr>
          <a:xfrm>
            <a:off x="8369808" y="3474720"/>
            <a:ext cx="2721864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여러 플랫폼 OGQ마켓에서 판매한다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8369808" y="3931920"/>
            <a:ext cx="2721864" cy="12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각 플랫폼의 이용자가 OGQ마켓을 통해 콘텐츠를 구매하여 이용할 수 있습니다. OGQ마켓에서 발생한 판매 수익은 크리에이터에게 전달되며, 월별 정산을 통해 수익을 창출하실 수 있습니다.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7"/>
          <p:cNvSpPr/>
          <p:nvPr/>
        </p:nvSpPr>
        <p:spPr>
          <a:xfrm>
            <a:off x="10332720" y="6400800"/>
            <a:ext cx="1371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7"/>
          <p:cNvSpPr/>
          <p:nvPr/>
        </p:nvSpPr>
        <p:spPr>
          <a:xfrm>
            <a:off x="640080" y="365760"/>
            <a:ext cx="8229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7"/>
          <p:cNvSpPr/>
          <p:nvPr/>
        </p:nvSpPr>
        <p:spPr>
          <a:xfrm>
            <a:off x="1783080" y="365760"/>
            <a:ext cx="54864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소개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8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0" name="Google Shape;130;p8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8"/>
          <p:cNvSpPr/>
          <p:nvPr/>
        </p:nvSpPr>
        <p:spPr>
          <a:xfrm>
            <a:off x="1783080" y="365760"/>
            <a:ext cx="54864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주요 마켓 소개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8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8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400"/>
              <a:buFont typeface="Malgun Gothic"/>
              <a:buNone/>
            </a:pPr>
            <a:r>
              <a:rPr b="1" i="0" lang="en-US" sz="24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대표 이모티콘 마켓을 소개합니다.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8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Malgun Gothic"/>
              <a:buNone/>
            </a:pPr>
            <a:r>
              <a:rPr b="0" i="0" lang="en-US" sz="13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NAVER, SOOP, 삼성 문자메시지 앱 ‘채팅+’ 플랫폼에서 OGQ 콘텐츠를 판매하실 수 있습니다.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8"/>
          <p:cNvSpPr/>
          <p:nvPr/>
        </p:nvSpPr>
        <p:spPr>
          <a:xfrm>
            <a:off x="822960" y="2148840"/>
            <a:ext cx="3343046" cy="3931920"/>
          </a:xfrm>
          <a:prstGeom prst="roundRect">
            <a:avLst>
              <a:gd fmla="val 4000" name="adj"/>
            </a:avLst>
          </a:prstGeom>
          <a:solidFill>
            <a:srgbClr val="F2FAF4"/>
          </a:solidFill>
          <a:ln cap="flat" cmpd="sng" w="12700">
            <a:solidFill>
              <a:srgbClr val="3BB5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8"/>
          <p:cNvSpPr/>
          <p:nvPr/>
        </p:nvSpPr>
        <p:spPr>
          <a:xfrm>
            <a:off x="1088136" y="2404872"/>
            <a:ext cx="441870" cy="457200"/>
          </a:xfrm>
          <a:prstGeom prst="roundRect">
            <a:avLst>
              <a:gd fmla="val 20000" name="adj"/>
            </a:avLst>
          </a:prstGeom>
          <a:solidFill>
            <a:srgbClr val="3BB54A"/>
          </a:solidFill>
          <a:ln cap="flat" cmpd="sng" w="12700">
            <a:solidFill>
              <a:srgbClr val="3BB5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8"/>
          <p:cNvSpPr/>
          <p:nvPr/>
        </p:nvSpPr>
        <p:spPr>
          <a:xfrm>
            <a:off x="1088136" y="2404872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8">
            <a:hlinkClick r:id="rId3"/>
          </p:cNvPr>
          <p:cNvSpPr/>
          <p:nvPr/>
        </p:nvSpPr>
        <p:spPr>
          <a:xfrm>
            <a:off x="1635862" y="2404872"/>
            <a:ext cx="2264969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BB54A"/>
              </a:buClr>
              <a:buSzPts val="1250"/>
              <a:buFont typeface="Malgun Gothic"/>
              <a:buNone/>
            </a:pPr>
            <a:r>
              <a:rPr b="1" i="0" lang="en-US" sz="1250" u="sng" cap="none" strike="noStrike">
                <a:solidFill>
                  <a:schemeClr val="hlink"/>
                </a:solidFill>
                <a:latin typeface="Malgun Gothic"/>
                <a:ea typeface="Malgun Gothic"/>
                <a:cs typeface="Malgun Gothic"/>
                <a:sym typeface="Malgun Gothic"/>
                <a:hlinkClick r:id="rId4"/>
              </a:rPr>
              <a:t>네이버 OGQ마켓 (바로가기)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8"/>
          <p:cNvSpPr/>
          <p:nvPr/>
        </p:nvSpPr>
        <p:spPr>
          <a:xfrm>
            <a:off x="1088136" y="2971800"/>
            <a:ext cx="2812694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블로그·카페 등 네이버 플랫폼 내에서 댓글/글쓰기 등으로 이용할 수 있는 스티커(이모티콘)를 판매하는 디지털 콘텐츠 마켓입니다.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40" name="Google Shape;140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88136" y="3805733"/>
            <a:ext cx="2812694" cy="1933042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25400">
              <a:srgbClr val="000000">
                <a:alpha val="14902"/>
              </a:srgbClr>
            </a:outerShdw>
          </a:effectLst>
        </p:spPr>
      </p:pic>
      <p:sp>
        <p:nvSpPr>
          <p:cNvPr id="141" name="Google Shape;141;p8"/>
          <p:cNvSpPr/>
          <p:nvPr/>
        </p:nvSpPr>
        <p:spPr>
          <a:xfrm>
            <a:off x="4422953" y="2148840"/>
            <a:ext cx="3343046" cy="3931920"/>
          </a:xfrm>
          <a:prstGeom prst="roundRect">
            <a:avLst>
              <a:gd fmla="val 4000" name="adj"/>
            </a:avLst>
          </a:prstGeom>
          <a:solidFill>
            <a:srgbClr val="EEF4FF"/>
          </a:solidFill>
          <a:ln cap="flat" cmpd="sng" w="12700">
            <a:solidFill>
              <a:srgbClr val="1A6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8"/>
          <p:cNvSpPr/>
          <p:nvPr/>
        </p:nvSpPr>
        <p:spPr>
          <a:xfrm>
            <a:off x="4688129" y="2404872"/>
            <a:ext cx="441870" cy="457200"/>
          </a:xfrm>
          <a:prstGeom prst="roundRect">
            <a:avLst>
              <a:gd fmla="val 20000" name="adj"/>
            </a:avLst>
          </a:prstGeom>
          <a:solidFill>
            <a:srgbClr val="1A6DFF"/>
          </a:solidFill>
          <a:ln cap="flat" cmpd="sng" w="12700">
            <a:solidFill>
              <a:srgbClr val="1A6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8"/>
          <p:cNvSpPr/>
          <p:nvPr/>
        </p:nvSpPr>
        <p:spPr>
          <a:xfrm>
            <a:off x="4688129" y="2404872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8">
            <a:hlinkClick r:id="rId6"/>
          </p:cNvPr>
          <p:cNvSpPr/>
          <p:nvPr/>
        </p:nvSpPr>
        <p:spPr>
          <a:xfrm>
            <a:off x="5235854" y="2404872"/>
            <a:ext cx="2264969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6DFF"/>
              </a:buClr>
              <a:buSzPts val="1250"/>
              <a:buFont typeface="Malgun Gothic"/>
              <a:buNone/>
            </a:pPr>
            <a:r>
              <a:rPr b="1" i="0" lang="en-US" sz="1250" u="sng" cap="none" strike="noStrike">
                <a:solidFill>
                  <a:schemeClr val="hlink"/>
                </a:solidFill>
                <a:latin typeface="Malgun Gothic"/>
                <a:ea typeface="Malgun Gothic"/>
                <a:cs typeface="Malgun Gothic"/>
                <a:sym typeface="Malgun Gothic"/>
                <a:hlinkClick r:id="rId7"/>
              </a:rPr>
              <a:t>SOOP OGQ이모티콘 (바로가기)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8"/>
          <p:cNvSpPr/>
          <p:nvPr/>
        </p:nvSpPr>
        <p:spPr>
          <a:xfrm>
            <a:off x="4688129" y="2971800"/>
            <a:ext cx="2812694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스트리밍 전문 플랫폼 SOOP에서 스트리밍 환경(채팅창, 댓글) 등에서 사용할 수 있는 이모티콘을 판매하는 디지털 콘텐츠 마켓입니다.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46" name="Google Shape;146;p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88129" y="3805733"/>
            <a:ext cx="2812694" cy="1933042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25400">
              <a:srgbClr val="000000">
                <a:alpha val="14902"/>
              </a:srgbClr>
            </a:outerShdw>
          </a:effectLst>
        </p:spPr>
      </p:pic>
      <p:sp>
        <p:nvSpPr>
          <p:cNvPr id="147" name="Google Shape;147;p8"/>
          <p:cNvSpPr/>
          <p:nvPr/>
        </p:nvSpPr>
        <p:spPr>
          <a:xfrm>
            <a:off x="8022946" y="2148840"/>
            <a:ext cx="3343046" cy="3931920"/>
          </a:xfrm>
          <a:prstGeom prst="roundRect">
            <a:avLst>
              <a:gd fmla="val 4000" name="adj"/>
            </a:avLst>
          </a:prstGeom>
          <a:solidFill>
            <a:srgbClr val="FFF5EC"/>
          </a:solidFill>
          <a:ln cap="flat" cmpd="sng" w="12700">
            <a:solidFill>
              <a:srgbClr val="F5821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8"/>
          <p:cNvSpPr/>
          <p:nvPr/>
        </p:nvSpPr>
        <p:spPr>
          <a:xfrm>
            <a:off x="8288122" y="2404872"/>
            <a:ext cx="441870" cy="457200"/>
          </a:xfrm>
          <a:prstGeom prst="roundRect">
            <a:avLst>
              <a:gd fmla="val 20000" name="adj"/>
            </a:avLst>
          </a:prstGeom>
          <a:solidFill>
            <a:srgbClr val="F5821F"/>
          </a:solidFill>
          <a:ln cap="flat" cmpd="sng" w="12700">
            <a:solidFill>
              <a:srgbClr val="F5821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8"/>
          <p:cNvSpPr/>
          <p:nvPr/>
        </p:nvSpPr>
        <p:spPr>
          <a:xfrm>
            <a:off x="8288122" y="2404872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8">
            <a:hlinkClick r:id="rId9"/>
          </p:cNvPr>
          <p:cNvSpPr/>
          <p:nvPr/>
        </p:nvSpPr>
        <p:spPr>
          <a:xfrm>
            <a:off x="8835847" y="2404872"/>
            <a:ext cx="2264969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821F"/>
              </a:buClr>
              <a:buSzPts val="1250"/>
              <a:buFont typeface="Malgun Gothic"/>
              <a:buNone/>
            </a:pPr>
            <a:r>
              <a:rPr b="1" i="0" lang="en-US" sz="1250" u="sng" cap="none" strike="noStrike">
                <a:solidFill>
                  <a:schemeClr val="hlink"/>
                </a:solidFill>
                <a:latin typeface="Malgun Gothic"/>
                <a:ea typeface="Malgun Gothic"/>
                <a:cs typeface="Malgun Gothic"/>
                <a:sym typeface="Malgun Gothic"/>
                <a:hlinkClick r:id="rId10"/>
              </a:rPr>
              <a:t>채팅+ OGQ마켓 (바로가기)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8"/>
          <p:cNvSpPr/>
          <p:nvPr/>
        </p:nvSpPr>
        <p:spPr>
          <a:xfrm>
            <a:off x="8288122" y="2971800"/>
            <a:ext cx="2812694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국내 통신 3사(SKT, KT, LGU+)가 협력한 차세대 문자 메시지 서비스 ‘채팅+’ 환경에서 이모티콘을 판매하는 디지털 콘텐츠 마켓입니다.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8"/>
          <p:cNvSpPr/>
          <p:nvPr/>
        </p:nvSpPr>
        <p:spPr>
          <a:xfrm>
            <a:off x="10332720" y="6400800"/>
            <a:ext cx="1371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3" name="Google Shape;153;p8" title="스크린샷 2026-08-25 오후 5.56.04.png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8288122" y="3805733"/>
            <a:ext cx="2812694" cy="1933042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538"/>
        </a:solidFill>
      </p:bgPr>
    </p:bg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9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9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cap="flat" cmpd="sng" w="12700">
            <a:solidFill>
              <a:srgbClr val="356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9"/>
          <p:cNvSpPr/>
          <p:nvPr/>
        </p:nvSpPr>
        <p:spPr>
          <a:xfrm flipH="1" rot="10800000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9"/>
          <p:cNvSpPr/>
          <p:nvPr/>
        </p:nvSpPr>
        <p:spPr>
          <a:xfrm>
            <a:off x="731520" y="640080"/>
            <a:ext cx="640080" cy="640080"/>
          </a:xfrm>
          <a:prstGeom prst="ellipse">
            <a:avLst/>
          </a:prstGeom>
          <a:noFill/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9"/>
          <p:cNvSpPr/>
          <p:nvPr/>
        </p:nvSpPr>
        <p:spPr>
          <a:xfrm>
            <a:off x="731520" y="64008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9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INSIGHT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9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600"/>
              <a:buFont typeface="Malgun Gothic"/>
              <a:buNone/>
            </a:pPr>
            <a:r>
              <a:rPr b="0" i="0" lang="en-US" sz="160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마켓별 구매자 인사이트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9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0"/>
          <p:cNvSpPr/>
          <p:nvPr/>
        </p:nvSpPr>
        <p:spPr>
          <a:xfrm>
            <a:off x="640080" y="365760"/>
            <a:ext cx="8229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3" name="Google Shape;173;p10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4" name="Google Shape;174;p10"/>
          <p:cNvSpPr/>
          <p:nvPr/>
        </p:nvSpPr>
        <p:spPr>
          <a:xfrm>
            <a:off x="1783080" y="365760"/>
            <a:ext cx="98754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마켓별 구매자 인사이트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0"/>
          <p:cNvSpPr/>
          <p:nvPr/>
        </p:nvSpPr>
        <p:spPr>
          <a:xfrm>
            <a:off x="457200" y="1188720"/>
            <a:ext cx="11274600" cy="521220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10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구매 동기 &amp; 핵심 인사이트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0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주요 마켓들의 구매자는 같은 스티커(이모티콘)를 전혀 다른 이유로 구매합니다.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0"/>
          <p:cNvSpPr/>
          <p:nvPr/>
        </p:nvSpPr>
        <p:spPr>
          <a:xfrm>
            <a:off x="10332720" y="6400800"/>
            <a:ext cx="1371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0"/>
          <p:cNvSpPr/>
          <p:nvPr/>
        </p:nvSpPr>
        <p:spPr>
          <a:xfrm>
            <a:off x="822960" y="2148840"/>
            <a:ext cx="3337500" cy="3612000"/>
          </a:xfrm>
          <a:prstGeom prst="roundRect">
            <a:avLst>
              <a:gd fmla="val 4384" name="adj"/>
            </a:avLst>
          </a:prstGeom>
          <a:solidFill>
            <a:srgbClr val="F6FBF7"/>
          </a:solidFill>
          <a:ln cap="flat" cmpd="sng" w="12700">
            <a:solidFill>
              <a:srgbClr val="E6F5E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10"/>
          <p:cNvSpPr/>
          <p:nvPr/>
        </p:nvSpPr>
        <p:spPr>
          <a:xfrm>
            <a:off x="1078992" y="2148840"/>
            <a:ext cx="2825400" cy="54900"/>
          </a:xfrm>
          <a:prstGeom prst="roundRect">
            <a:avLst>
              <a:gd fmla="val 50000" name="adj"/>
            </a:avLst>
          </a:prstGeom>
          <a:solidFill>
            <a:srgbClr val="3BB54A"/>
          </a:solidFill>
          <a:ln cap="flat" cmpd="sng" w="12700">
            <a:solidFill>
              <a:srgbClr val="3BB5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10"/>
          <p:cNvSpPr/>
          <p:nvPr/>
        </p:nvSpPr>
        <p:spPr>
          <a:xfrm>
            <a:off x="1078992" y="2423160"/>
            <a:ext cx="1600200" cy="274200"/>
          </a:xfrm>
          <a:prstGeom prst="roundRect">
            <a:avLst>
              <a:gd fmla="val 50000" name="adj"/>
            </a:avLst>
          </a:prstGeom>
          <a:solidFill>
            <a:srgbClr val="3BB54A"/>
          </a:solidFill>
          <a:ln cap="flat" cmpd="sng" w="12700">
            <a:solidFill>
              <a:srgbClr val="3BB5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10"/>
          <p:cNvSpPr/>
          <p:nvPr/>
        </p:nvSpPr>
        <p:spPr>
          <a:xfrm>
            <a:off x="1078992" y="2423160"/>
            <a:ext cx="1600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네이버 OGQ마켓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0"/>
          <p:cNvSpPr/>
          <p:nvPr/>
        </p:nvSpPr>
        <p:spPr>
          <a:xfrm>
            <a:off x="3337560" y="2377440"/>
            <a:ext cx="567000" cy="567000"/>
          </a:xfrm>
          <a:prstGeom prst="ellipse">
            <a:avLst/>
          </a:prstGeom>
          <a:solidFill>
            <a:srgbClr val="E6F5E9"/>
          </a:solidFill>
          <a:ln cap="flat" cmpd="sng" w="12700">
            <a:solidFill>
              <a:srgbClr val="E6F5E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84" name="Google Shape;184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74720" y="251460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0"/>
          <p:cNvSpPr/>
          <p:nvPr/>
        </p:nvSpPr>
        <p:spPr>
          <a:xfrm>
            <a:off x="1078992" y="2862072"/>
            <a:ext cx="2825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900"/>
              <a:buFont typeface="Malgun Gothic"/>
              <a:buNone/>
            </a:pPr>
            <a:r>
              <a:rPr b="1" i="0" lang="en-US" sz="1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기록하는 사람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0"/>
          <p:cNvSpPr/>
          <p:nvPr/>
        </p:nvSpPr>
        <p:spPr>
          <a:xfrm>
            <a:off x="1078992" y="3300984"/>
            <a:ext cx="28254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3BB54A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BB54A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포스팅의 가독성과 구조를 잡기 위해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0"/>
          <p:cNvSpPr/>
          <p:nvPr/>
        </p:nvSpPr>
        <p:spPr>
          <a:xfrm>
            <a:off x="1078992" y="3721608"/>
            <a:ext cx="2825400" cy="512100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2700">
            <a:solidFill>
              <a:srgbClr val="E6F5E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10"/>
          <p:cNvSpPr/>
          <p:nvPr/>
        </p:nvSpPr>
        <p:spPr>
          <a:xfrm>
            <a:off x="1170432" y="3867912"/>
            <a:ext cx="640200" cy="219600"/>
          </a:xfrm>
          <a:prstGeom prst="roundRect">
            <a:avLst>
              <a:gd fmla="val 50000" name="adj"/>
            </a:avLst>
          </a:prstGeom>
          <a:solidFill>
            <a:srgbClr val="E6F5E9"/>
          </a:solidFill>
          <a:ln cap="flat" cmpd="sng" w="12700">
            <a:solidFill>
              <a:srgbClr val="E6F5E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10"/>
          <p:cNvSpPr/>
          <p:nvPr/>
        </p:nvSpPr>
        <p:spPr>
          <a:xfrm>
            <a:off x="1170432" y="3867912"/>
            <a:ext cx="6402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BB54A"/>
              </a:buClr>
              <a:buSzPts val="750"/>
              <a:buFont typeface="Malgun Gothic"/>
              <a:buNone/>
            </a:pPr>
            <a:r>
              <a:rPr b="1" lang="en-US" sz="750">
                <a:solidFill>
                  <a:srgbClr val="3BB54A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주요 고객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0"/>
          <p:cNvSpPr/>
          <p:nvPr/>
        </p:nvSpPr>
        <p:spPr>
          <a:xfrm>
            <a:off x="1893002" y="3886184"/>
            <a:ext cx="19659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네이버 블로거 / 네이버 카페 회원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0"/>
          <p:cNvSpPr/>
          <p:nvPr/>
        </p:nvSpPr>
        <p:spPr>
          <a:xfrm>
            <a:off x="1078992" y="4325112"/>
            <a:ext cx="28254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공정위 문구·구분선·맛집 리뷰 헤더처럼 포스팅 게시글을 보다 완성도 있게 구성하기 위하여 스티커(이모티콘)를 구매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0"/>
          <p:cNvSpPr/>
          <p:nvPr/>
        </p:nvSpPr>
        <p:spPr>
          <a:xfrm>
            <a:off x="1078992" y="4892040"/>
            <a:ext cx="2825400" cy="658500"/>
          </a:xfrm>
          <a:prstGeom prst="roundRect">
            <a:avLst>
              <a:gd fmla="val 13889" name="adj"/>
            </a:avLst>
          </a:prstGeom>
          <a:solidFill>
            <a:srgbClr val="E6F5E9"/>
          </a:solidFill>
          <a:ln cap="flat" cmpd="sng" w="12700">
            <a:solidFill>
              <a:srgbClr val="E6F5E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10"/>
          <p:cNvSpPr/>
          <p:nvPr/>
        </p:nvSpPr>
        <p:spPr>
          <a:xfrm>
            <a:off x="1188720" y="4892040"/>
            <a:ext cx="11430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BB54A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B54A"/>
                </a:solidFill>
                <a:latin typeface="Arial"/>
                <a:ea typeface="Arial"/>
                <a:cs typeface="Arial"/>
                <a:sym typeface="Arial"/>
              </a:rPr>
              <a:t>33.4%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0"/>
          <p:cNvSpPr/>
          <p:nvPr/>
        </p:nvSpPr>
        <p:spPr>
          <a:xfrm>
            <a:off x="2304288" y="4892040"/>
            <a:ext cx="15546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블로그·포스팅 실용 테마 매출 비중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(2026년 상반기 전체 매출 </a:t>
            </a:r>
            <a:r>
              <a:rPr lang="en-US" sz="75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</a:t>
            </a:r>
            <a:r>
              <a:rPr b="0" i="0" lang="en-US" sz="7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)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0"/>
          <p:cNvSpPr/>
          <p:nvPr/>
        </p:nvSpPr>
        <p:spPr>
          <a:xfrm>
            <a:off x="4425696" y="2148840"/>
            <a:ext cx="3337500" cy="3612000"/>
          </a:xfrm>
          <a:prstGeom prst="roundRect">
            <a:avLst>
              <a:gd fmla="val 4384" name="adj"/>
            </a:avLst>
          </a:prstGeom>
          <a:solidFill>
            <a:srgbClr val="F4F8FF"/>
          </a:solidFill>
          <a:ln cap="flat" cmpd="sng" w="12700">
            <a:solidFill>
              <a:srgbClr val="E4E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10"/>
          <p:cNvSpPr/>
          <p:nvPr/>
        </p:nvSpPr>
        <p:spPr>
          <a:xfrm>
            <a:off x="4681728" y="2148840"/>
            <a:ext cx="2825400" cy="54900"/>
          </a:xfrm>
          <a:prstGeom prst="roundRect">
            <a:avLst>
              <a:gd fmla="val 50000" name="adj"/>
            </a:avLst>
          </a:prstGeom>
          <a:solidFill>
            <a:srgbClr val="1A6DFF"/>
          </a:solidFill>
          <a:ln cap="flat" cmpd="sng" w="12700">
            <a:solidFill>
              <a:srgbClr val="1A6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0"/>
          <p:cNvSpPr/>
          <p:nvPr/>
        </p:nvSpPr>
        <p:spPr>
          <a:xfrm>
            <a:off x="4681728" y="2423160"/>
            <a:ext cx="1600200" cy="274200"/>
          </a:xfrm>
          <a:prstGeom prst="roundRect">
            <a:avLst>
              <a:gd fmla="val 50000" name="adj"/>
            </a:avLst>
          </a:prstGeom>
          <a:solidFill>
            <a:srgbClr val="1A6DFF"/>
          </a:solidFill>
          <a:ln cap="flat" cmpd="sng" w="12700">
            <a:solidFill>
              <a:srgbClr val="1A6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10"/>
          <p:cNvSpPr/>
          <p:nvPr/>
        </p:nvSpPr>
        <p:spPr>
          <a:xfrm>
            <a:off x="4681728" y="2423160"/>
            <a:ext cx="1600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OGQ이모티콘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0"/>
          <p:cNvSpPr/>
          <p:nvPr/>
        </p:nvSpPr>
        <p:spPr>
          <a:xfrm>
            <a:off x="6940296" y="2377440"/>
            <a:ext cx="567000" cy="567000"/>
          </a:xfrm>
          <a:prstGeom prst="ellipse">
            <a:avLst/>
          </a:prstGeom>
          <a:solidFill>
            <a:srgbClr val="E4EEFF"/>
          </a:solidFill>
          <a:ln cap="flat" cmpd="sng" w="12700">
            <a:solidFill>
              <a:srgbClr val="E4E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00" name="Google Shape;200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077456" y="251460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10"/>
          <p:cNvSpPr/>
          <p:nvPr/>
        </p:nvSpPr>
        <p:spPr>
          <a:xfrm>
            <a:off x="4681728" y="2862072"/>
            <a:ext cx="2825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900"/>
              <a:buFont typeface="Malgun Gothic"/>
              <a:buNone/>
            </a:pPr>
            <a:r>
              <a:rPr b="1" i="0" lang="en-US" sz="1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반응하는 사람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0"/>
          <p:cNvSpPr/>
          <p:nvPr/>
        </p:nvSpPr>
        <p:spPr>
          <a:xfrm>
            <a:off x="4681728" y="3300984"/>
            <a:ext cx="28254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A6DF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A6D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방송 중 나의 존재를 드러내기 위해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0"/>
          <p:cNvSpPr/>
          <p:nvPr/>
        </p:nvSpPr>
        <p:spPr>
          <a:xfrm>
            <a:off x="4681728" y="3721608"/>
            <a:ext cx="2825400" cy="512100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2700">
            <a:solidFill>
              <a:srgbClr val="E4E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10"/>
          <p:cNvSpPr/>
          <p:nvPr/>
        </p:nvSpPr>
        <p:spPr>
          <a:xfrm>
            <a:off x="4773168" y="3867912"/>
            <a:ext cx="640200" cy="219600"/>
          </a:xfrm>
          <a:prstGeom prst="roundRect">
            <a:avLst>
              <a:gd fmla="val 50000" name="adj"/>
            </a:avLst>
          </a:prstGeom>
          <a:solidFill>
            <a:srgbClr val="E4EEFF"/>
          </a:solidFill>
          <a:ln cap="flat" cmpd="sng" w="12700">
            <a:solidFill>
              <a:srgbClr val="E4E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10"/>
          <p:cNvSpPr/>
          <p:nvPr/>
        </p:nvSpPr>
        <p:spPr>
          <a:xfrm>
            <a:off x="4773168" y="3867912"/>
            <a:ext cx="6402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6DFF"/>
              </a:buClr>
              <a:buSzPts val="750"/>
              <a:buFont typeface="Malgun Gothic"/>
              <a:buNone/>
            </a:pPr>
            <a:r>
              <a:rPr b="1" lang="en-US" sz="750">
                <a:solidFill>
                  <a:srgbClr val="1A6D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주요 고객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0"/>
          <p:cNvSpPr/>
          <p:nvPr/>
        </p:nvSpPr>
        <p:spPr>
          <a:xfrm>
            <a:off x="5522950" y="3873223"/>
            <a:ext cx="19659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회원 (시청자/스트리머)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0"/>
          <p:cNvSpPr/>
          <p:nvPr/>
        </p:nvSpPr>
        <p:spPr>
          <a:xfrm>
            <a:off x="4681728" y="4325112"/>
            <a:ext cx="28254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채팅창에서 내가 좋아하는 스트리머와 적극적으로 소통하기 위하여 보다 가독성 있고 눈에 잘 띄는 이모티콘을 구매하여 소통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0"/>
          <p:cNvSpPr/>
          <p:nvPr/>
        </p:nvSpPr>
        <p:spPr>
          <a:xfrm>
            <a:off x="4681728" y="4892040"/>
            <a:ext cx="2825400" cy="658500"/>
          </a:xfrm>
          <a:prstGeom prst="roundRect">
            <a:avLst>
              <a:gd fmla="val 13889" name="adj"/>
            </a:avLst>
          </a:prstGeom>
          <a:solidFill>
            <a:srgbClr val="E4EEFF"/>
          </a:solidFill>
          <a:ln cap="flat" cmpd="sng" w="12700">
            <a:solidFill>
              <a:srgbClr val="E4E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10"/>
          <p:cNvSpPr/>
          <p:nvPr/>
        </p:nvSpPr>
        <p:spPr>
          <a:xfrm>
            <a:off x="4791456" y="4892040"/>
            <a:ext cx="11430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6DFF"/>
              </a:buClr>
              <a:buSzPts val="2400"/>
              <a:buFont typeface="Arial"/>
              <a:buNone/>
            </a:pPr>
            <a:r>
              <a:rPr b="1" lang="en-US" sz="2400">
                <a:solidFill>
                  <a:srgbClr val="1A6DFF"/>
                </a:solidFill>
              </a:rPr>
              <a:t>7</a:t>
            </a:r>
            <a:r>
              <a:rPr b="1" i="0" lang="en-US" sz="2400" u="none" cap="none" strike="noStrike">
                <a:solidFill>
                  <a:srgbClr val="1A6DFF"/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0"/>
          <p:cNvSpPr/>
          <p:nvPr/>
        </p:nvSpPr>
        <p:spPr>
          <a:xfrm>
            <a:off x="5495725" y="4892050"/>
            <a:ext cx="19659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움직이는 이모티콘 선호 비율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(2026년 상반기 </a:t>
            </a:r>
            <a:r>
              <a:rPr lang="en-US" sz="75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 이모티콘 판매 수 데이터 기준)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0"/>
          <p:cNvSpPr/>
          <p:nvPr/>
        </p:nvSpPr>
        <p:spPr>
          <a:xfrm>
            <a:off x="8028432" y="2148840"/>
            <a:ext cx="3337500" cy="3612000"/>
          </a:xfrm>
          <a:prstGeom prst="roundRect">
            <a:avLst>
              <a:gd fmla="val 4384" name="adj"/>
            </a:avLst>
          </a:prstGeom>
          <a:solidFill>
            <a:srgbClr val="FFF8F2"/>
          </a:solidFill>
          <a:ln cap="flat" cmpd="sng" w="12700">
            <a:solidFill>
              <a:srgbClr val="FFEE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10"/>
          <p:cNvSpPr/>
          <p:nvPr/>
        </p:nvSpPr>
        <p:spPr>
          <a:xfrm>
            <a:off x="8284464" y="2148840"/>
            <a:ext cx="2825400" cy="54900"/>
          </a:xfrm>
          <a:prstGeom prst="roundRect">
            <a:avLst>
              <a:gd fmla="val 50000" name="adj"/>
            </a:avLst>
          </a:prstGeom>
          <a:solidFill>
            <a:srgbClr val="F5821F"/>
          </a:solidFill>
          <a:ln cap="flat" cmpd="sng" w="12700">
            <a:solidFill>
              <a:srgbClr val="F5821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10"/>
          <p:cNvSpPr/>
          <p:nvPr/>
        </p:nvSpPr>
        <p:spPr>
          <a:xfrm>
            <a:off x="8284464" y="2423160"/>
            <a:ext cx="1600200" cy="274200"/>
          </a:xfrm>
          <a:prstGeom prst="roundRect">
            <a:avLst>
              <a:gd fmla="val 50000" name="adj"/>
            </a:avLst>
          </a:prstGeom>
          <a:solidFill>
            <a:srgbClr val="F5821F"/>
          </a:solidFill>
          <a:ln cap="flat" cmpd="sng" w="12700">
            <a:solidFill>
              <a:srgbClr val="F5821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10"/>
          <p:cNvSpPr/>
          <p:nvPr/>
        </p:nvSpPr>
        <p:spPr>
          <a:xfrm>
            <a:off x="8284464" y="2423160"/>
            <a:ext cx="1600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 OGQ마켓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0"/>
          <p:cNvSpPr/>
          <p:nvPr/>
        </p:nvSpPr>
        <p:spPr>
          <a:xfrm>
            <a:off x="10543032" y="2377440"/>
            <a:ext cx="567000" cy="567000"/>
          </a:xfrm>
          <a:prstGeom prst="ellipse">
            <a:avLst/>
          </a:prstGeom>
          <a:solidFill>
            <a:srgbClr val="FFEEDF"/>
          </a:solidFill>
          <a:ln cap="flat" cmpd="sng" w="12700">
            <a:solidFill>
              <a:srgbClr val="FFEE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16" name="Google Shape;216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680192" y="251460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10"/>
          <p:cNvSpPr/>
          <p:nvPr/>
        </p:nvSpPr>
        <p:spPr>
          <a:xfrm>
            <a:off x="8284464" y="2862072"/>
            <a:ext cx="2825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900"/>
              <a:buFont typeface="Malgun Gothic"/>
              <a:buNone/>
            </a:pPr>
            <a:r>
              <a:rPr b="1" i="0" lang="en-US" sz="1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안부를 전하는 사람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0"/>
          <p:cNvSpPr/>
          <p:nvPr/>
        </p:nvSpPr>
        <p:spPr>
          <a:xfrm>
            <a:off x="8284464" y="3300984"/>
            <a:ext cx="28254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5821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F5821F"/>
                </a:solidFill>
                <a:latin typeface="Malgun Gothic"/>
                <a:ea typeface="Malgun Gothic"/>
                <a:cs typeface="Malgun Gothic"/>
                <a:sym typeface="Malgun Gothic"/>
              </a:rPr>
              <a:t>딱딱한 텍스트 대신 이모티콘으로 마음을 표현하기 위해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0"/>
          <p:cNvSpPr/>
          <p:nvPr/>
        </p:nvSpPr>
        <p:spPr>
          <a:xfrm>
            <a:off x="8284464" y="3721608"/>
            <a:ext cx="2825400" cy="512100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2700">
            <a:solidFill>
              <a:srgbClr val="FFEE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10"/>
          <p:cNvSpPr/>
          <p:nvPr/>
        </p:nvSpPr>
        <p:spPr>
          <a:xfrm>
            <a:off x="8375904" y="3867912"/>
            <a:ext cx="640200" cy="219600"/>
          </a:xfrm>
          <a:prstGeom prst="roundRect">
            <a:avLst>
              <a:gd fmla="val 50000" name="adj"/>
            </a:avLst>
          </a:prstGeom>
          <a:solidFill>
            <a:srgbClr val="FFEEDF"/>
          </a:solidFill>
          <a:ln cap="flat" cmpd="sng" w="12700">
            <a:solidFill>
              <a:srgbClr val="FFEE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10"/>
          <p:cNvSpPr/>
          <p:nvPr/>
        </p:nvSpPr>
        <p:spPr>
          <a:xfrm>
            <a:off x="8375904" y="3867912"/>
            <a:ext cx="6402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821F"/>
              </a:buClr>
              <a:buSzPts val="750"/>
              <a:buFont typeface="Malgun Gothic"/>
              <a:buNone/>
            </a:pPr>
            <a:r>
              <a:rPr b="1" lang="en-US" sz="750">
                <a:solidFill>
                  <a:srgbClr val="F5821F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주요 고객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0"/>
          <p:cNvSpPr/>
          <p:nvPr/>
        </p:nvSpPr>
        <p:spPr>
          <a:xfrm>
            <a:off x="9091509" y="3870291"/>
            <a:ext cx="19659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삼성 갤럭시 문자(채팅+) </a:t>
            </a:r>
            <a:r>
              <a:rPr lang="en-US" sz="85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메시지</a:t>
            </a:r>
            <a:r>
              <a:rPr b="0" i="0" lang="en-US" sz="8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이용</a:t>
            </a:r>
            <a:r>
              <a:rPr lang="en-US" sz="85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회원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0"/>
          <p:cNvSpPr/>
          <p:nvPr/>
        </p:nvSpPr>
        <p:spPr>
          <a:xfrm>
            <a:off x="8284464" y="4325112"/>
            <a:ext cx="28254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인사·감사·응원·안부 등과 같이 격식 있는 메시지를 부드럽게 만들어주기 위하여 이모티콘을 구매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0"/>
          <p:cNvSpPr/>
          <p:nvPr/>
        </p:nvSpPr>
        <p:spPr>
          <a:xfrm>
            <a:off x="8284464" y="4892040"/>
            <a:ext cx="2825400" cy="658500"/>
          </a:xfrm>
          <a:prstGeom prst="roundRect">
            <a:avLst>
              <a:gd fmla="val 13889" name="adj"/>
            </a:avLst>
          </a:prstGeom>
          <a:solidFill>
            <a:srgbClr val="FFEEDF"/>
          </a:solidFill>
          <a:ln cap="flat" cmpd="sng" w="12700">
            <a:solidFill>
              <a:srgbClr val="FFEE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0"/>
          <p:cNvSpPr/>
          <p:nvPr/>
        </p:nvSpPr>
        <p:spPr>
          <a:xfrm>
            <a:off x="8394192" y="4892040"/>
            <a:ext cx="11430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821F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5821F"/>
                </a:solidFill>
                <a:latin typeface="Arial"/>
                <a:ea typeface="Arial"/>
                <a:cs typeface="Arial"/>
                <a:sym typeface="Arial"/>
              </a:rPr>
              <a:t>3.2배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0"/>
          <p:cNvSpPr/>
          <p:nvPr/>
        </p:nvSpPr>
        <p:spPr>
          <a:xfrm>
            <a:off x="9509760" y="4892040"/>
            <a:ext cx="15546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설날 시즌(2월) 매출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(2026년 1월 매출 대비)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0"/>
          <p:cNvSpPr/>
          <p:nvPr/>
        </p:nvSpPr>
        <p:spPr>
          <a:xfrm>
            <a:off x="822960" y="5961979"/>
            <a:ext cx="10543032" cy="36570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0"/>
          <p:cNvSpPr/>
          <p:nvPr/>
        </p:nvSpPr>
        <p:spPr>
          <a:xfrm>
            <a:off x="999439" y="5961979"/>
            <a:ext cx="10162642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구매자 인사이트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네이버는 ‘글’, SOOP은 ‘방송’, 채팅+는 ‘관계’ — 사용처가 다르면 잘 팔리는 스티커(이모티콘)도 다릅니다.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1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5" name="Google Shape;235;p11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6" name="Google Shape;236;p11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네이버 OGQ마켓 - 구매자 세부 데이터 분석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1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1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1"/>
          <p:cNvSpPr/>
          <p:nvPr/>
        </p:nvSpPr>
        <p:spPr>
          <a:xfrm>
            <a:off x="822960" y="146304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11"/>
          <p:cNvSpPr/>
          <p:nvPr/>
        </p:nvSpPr>
        <p:spPr>
          <a:xfrm>
            <a:off x="999708" y="166420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11"/>
          <p:cNvSpPr/>
          <p:nvPr/>
        </p:nvSpPr>
        <p:spPr>
          <a:xfrm>
            <a:off x="1141106" y="162763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소비 성향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1"/>
          <p:cNvSpPr/>
          <p:nvPr/>
        </p:nvSpPr>
        <p:spPr>
          <a:xfrm>
            <a:off x="1158781" y="217627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11"/>
          <p:cNvSpPr/>
          <p:nvPr/>
        </p:nvSpPr>
        <p:spPr>
          <a:xfrm>
            <a:off x="1317855" y="208483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실용적인 텍스트/꾸미기형 선호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1"/>
          <p:cNvSpPr/>
          <p:nvPr/>
        </p:nvSpPr>
        <p:spPr>
          <a:xfrm>
            <a:off x="1317855" y="234086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'형광펜', '말풍선', '블꾸' 등 포스팅 글을 </a:t>
            </a:r>
            <a:r>
              <a:rPr lang="en-US" sz="9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보완해 주는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정지형 스티커(이모티콘)를 압도적으로 선호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1"/>
          <p:cNvSpPr/>
          <p:nvPr/>
        </p:nvSpPr>
        <p:spPr>
          <a:xfrm>
            <a:off x="1158781" y="295351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11"/>
          <p:cNvSpPr/>
          <p:nvPr/>
        </p:nvSpPr>
        <p:spPr>
          <a:xfrm>
            <a:off x="1317855" y="286207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리뷰 및 인증 특화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1"/>
          <p:cNvSpPr/>
          <p:nvPr/>
        </p:nvSpPr>
        <p:spPr>
          <a:xfrm>
            <a:off x="1317855" y="311810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'맛집 리뷰', '공정위 문구' 등 실제 포스팅에 바로 활용 가능한 기능성 스티커(이모티콘) 구매율 높음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1"/>
          <p:cNvSpPr/>
          <p:nvPr/>
        </p:nvSpPr>
        <p:spPr>
          <a:xfrm>
            <a:off x="6196106" y="146304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11"/>
          <p:cNvSpPr/>
          <p:nvPr/>
        </p:nvSpPr>
        <p:spPr>
          <a:xfrm>
            <a:off x="6372854" y="166420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11"/>
          <p:cNvSpPr/>
          <p:nvPr/>
        </p:nvSpPr>
        <p:spPr>
          <a:xfrm>
            <a:off x="6514253" y="162763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 용도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1"/>
          <p:cNvSpPr/>
          <p:nvPr/>
        </p:nvSpPr>
        <p:spPr>
          <a:xfrm>
            <a:off x="6531927" y="217627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1"/>
          <p:cNvSpPr/>
          <p:nvPr/>
        </p:nvSpPr>
        <p:spPr>
          <a:xfrm>
            <a:off x="6691001" y="208483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블로그 포스팅 및 정보 전달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1"/>
          <p:cNvSpPr/>
          <p:nvPr/>
        </p:nvSpPr>
        <p:spPr>
          <a:xfrm>
            <a:off x="6691001" y="234086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긴 글의 가독성을 높이고 문단을 나누어 가독성을 확보하는 도구로 주로 활용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1"/>
          <p:cNvSpPr/>
          <p:nvPr/>
        </p:nvSpPr>
        <p:spPr>
          <a:xfrm>
            <a:off x="6531927" y="295351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11"/>
          <p:cNvSpPr/>
          <p:nvPr/>
        </p:nvSpPr>
        <p:spPr>
          <a:xfrm>
            <a:off x="6691001" y="286207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정보성 배치 및 꾸미기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1"/>
          <p:cNvSpPr/>
          <p:nvPr/>
        </p:nvSpPr>
        <p:spPr>
          <a:xfrm>
            <a:off x="6691001" y="311810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 기록, 맛집 탐방을 꾸미거나 특히 협찬 여부를 명확히 알리는 정보성 배치 용도가 핵심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1"/>
          <p:cNvSpPr/>
          <p:nvPr/>
        </p:nvSpPr>
        <p:spPr>
          <a:xfrm>
            <a:off x="822960" y="388620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11"/>
          <p:cNvSpPr/>
          <p:nvPr/>
        </p:nvSpPr>
        <p:spPr>
          <a:xfrm>
            <a:off x="999708" y="408736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11"/>
          <p:cNvSpPr/>
          <p:nvPr/>
        </p:nvSpPr>
        <p:spPr>
          <a:xfrm>
            <a:off x="1141106" y="405079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lang="en-US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</a:t>
            </a: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유형 선호도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1"/>
          <p:cNvSpPr/>
          <p:nvPr/>
        </p:nvSpPr>
        <p:spPr>
          <a:xfrm>
            <a:off x="6196106" y="388620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11"/>
          <p:cNvSpPr/>
          <p:nvPr/>
        </p:nvSpPr>
        <p:spPr>
          <a:xfrm>
            <a:off x="6372854" y="408736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11"/>
          <p:cNvSpPr/>
          <p:nvPr/>
        </p:nvSpPr>
        <p:spPr>
          <a:xfrm>
            <a:off x="6514253" y="405079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키워드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1"/>
          <p:cNvSpPr/>
          <p:nvPr/>
        </p:nvSpPr>
        <p:spPr>
          <a:xfrm>
            <a:off x="6514253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11"/>
          <p:cNvSpPr/>
          <p:nvPr/>
        </p:nvSpPr>
        <p:spPr>
          <a:xfrm>
            <a:off x="6514253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블로거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1"/>
          <p:cNvSpPr/>
          <p:nvPr/>
        </p:nvSpPr>
        <p:spPr>
          <a:xfrm>
            <a:off x="7698466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11"/>
          <p:cNvSpPr/>
          <p:nvPr/>
        </p:nvSpPr>
        <p:spPr>
          <a:xfrm>
            <a:off x="7698466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공정위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1"/>
          <p:cNvSpPr/>
          <p:nvPr/>
        </p:nvSpPr>
        <p:spPr>
          <a:xfrm>
            <a:off x="8882679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11"/>
          <p:cNvSpPr/>
          <p:nvPr/>
        </p:nvSpPr>
        <p:spPr>
          <a:xfrm>
            <a:off x="8882679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1"/>
          <p:cNvSpPr/>
          <p:nvPr/>
        </p:nvSpPr>
        <p:spPr>
          <a:xfrm>
            <a:off x="10066892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11"/>
          <p:cNvSpPr/>
          <p:nvPr/>
        </p:nvSpPr>
        <p:spPr>
          <a:xfrm>
            <a:off x="10066892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1"/>
          <p:cNvSpPr/>
          <p:nvPr/>
        </p:nvSpPr>
        <p:spPr>
          <a:xfrm>
            <a:off x="6514253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11"/>
          <p:cNvSpPr/>
          <p:nvPr/>
        </p:nvSpPr>
        <p:spPr>
          <a:xfrm>
            <a:off x="6514253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말풍선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1"/>
          <p:cNvSpPr/>
          <p:nvPr/>
        </p:nvSpPr>
        <p:spPr>
          <a:xfrm>
            <a:off x="7698466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1"/>
          <p:cNvSpPr/>
          <p:nvPr/>
        </p:nvSpPr>
        <p:spPr>
          <a:xfrm>
            <a:off x="7698466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포스팅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1"/>
          <p:cNvSpPr/>
          <p:nvPr/>
        </p:nvSpPr>
        <p:spPr>
          <a:xfrm>
            <a:off x="8882679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1"/>
          <p:cNvSpPr/>
          <p:nvPr/>
        </p:nvSpPr>
        <p:spPr>
          <a:xfrm>
            <a:off x="8882679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맛집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1"/>
          <p:cNvSpPr/>
          <p:nvPr/>
        </p:nvSpPr>
        <p:spPr>
          <a:xfrm>
            <a:off x="10066892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10066892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리뷰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1"/>
          <p:cNvSpPr/>
          <p:nvPr/>
        </p:nvSpPr>
        <p:spPr>
          <a:xfrm>
            <a:off x="1312375" y="4719192"/>
            <a:ext cx="3948000" cy="381000"/>
          </a:xfrm>
          <a:prstGeom prst="roundRect">
            <a:avLst>
              <a:gd fmla="val 20000" name="adj"/>
            </a:avLst>
          </a:prstGeom>
          <a:solidFill>
            <a:srgbClr val="38761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1"/>
          <p:cNvSpPr/>
          <p:nvPr/>
        </p:nvSpPr>
        <p:spPr>
          <a:xfrm>
            <a:off x="4973914" y="4719195"/>
            <a:ext cx="529500" cy="381000"/>
          </a:xfrm>
          <a:prstGeom prst="roundRect">
            <a:avLst>
              <a:gd fmla="val 30188" name="adj"/>
            </a:avLst>
          </a:prstGeom>
          <a:solidFill>
            <a:srgbClr val="E6913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11"/>
          <p:cNvSpPr/>
          <p:nvPr/>
        </p:nvSpPr>
        <p:spPr>
          <a:xfrm>
            <a:off x="4965493" y="4719192"/>
            <a:ext cx="95400" cy="3810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11"/>
          <p:cNvSpPr txBox="1"/>
          <p:nvPr/>
        </p:nvSpPr>
        <p:spPr>
          <a:xfrm>
            <a:off x="1312375" y="4721087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42875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정지형 9</a:t>
            </a:r>
            <a:r>
              <a:rPr b="1" lang="en-US" sz="1300">
                <a:solidFill>
                  <a:srgbClr val="FFFFFF"/>
                </a:solidFill>
              </a:rPr>
              <a:t>4</a:t>
            </a: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%</a:t>
            </a:r>
            <a:endParaRPr b="1" i="0" sz="13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83" name="Google Shape;283;p11"/>
          <p:cNvGrpSpPr/>
          <p:nvPr/>
        </p:nvGrpSpPr>
        <p:grpSpPr>
          <a:xfrm>
            <a:off x="1331425" y="5325505"/>
            <a:ext cx="3515325" cy="190503"/>
            <a:chOff x="19050" y="0"/>
            <a:chExt cx="3515325" cy="190503"/>
          </a:xfrm>
        </p:grpSpPr>
        <p:sp>
          <p:nvSpPr>
            <p:cNvPr id="284" name="Google Shape;284;p11"/>
            <p:cNvSpPr/>
            <p:nvPr/>
          </p:nvSpPr>
          <p:spPr>
            <a:xfrm>
              <a:off x="19050" y="19050"/>
              <a:ext cx="152400" cy="152400"/>
            </a:xfrm>
            <a:prstGeom prst="ellipse">
              <a:avLst/>
            </a:prstGeom>
            <a:solidFill>
              <a:srgbClr val="38761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" name="Google Shape;285;p11"/>
            <p:cNvSpPr txBox="1"/>
            <p:nvPr/>
          </p:nvSpPr>
          <p:spPr>
            <a:xfrm>
              <a:off x="238125" y="0"/>
              <a:ext cx="14289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-US" sz="11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정지형 스티커(이모티콘)</a:t>
              </a:r>
              <a:endParaRPr b="0" i="0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" name="Google Shape;286;p11"/>
            <p:cNvSpPr/>
            <p:nvPr/>
          </p:nvSpPr>
          <p:spPr>
            <a:xfrm>
              <a:off x="1638300" y="19050"/>
              <a:ext cx="152400" cy="1524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" name="Google Shape;287;p11"/>
            <p:cNvSpPr txBox="1"/>
            <p:nvPr/>
          </p:nvSpPr>
          <p:spPr>
            <a:xfrm>
              <a:off x="1857375" y="3"/>
              <a:ext cx="1677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-US" sz="11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애니메이션 스티커(이모티콘)</a:t>
              </a:r>
              <a:endParaRPr b="0" i="0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88" name="Google Shape;288;p11"/>
          <p:cNvSpPr txBox="1"/>
          <p:nvPr/>
        </p:nvSpPr>
        <p:spPr>
          <a:xfrm>
            <a:off x="4000200" y="5739425"/>
            <a:ext cx="1924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B7B7B7"/>
                </a:solidFill>
              </a:rPr>
              <a:t>2</a:t>
            </a:r>
            <a:r>
              <a:rPr lang="en-US" sz="800">
                <a:solidFill>
                  <a:srgbClr val="B7B7B7"/>
                </a:solidFill>
              </a:rPr>
              <a:t>026년 상반기 </a:t>
            </a:r>
            <a:r>
              <a:rPr lang="en-US" sz="800">
                <a:solidFill>
                  <a:srgbClr val="B7B7B7"/>
                </a:solidFill>
              </a:rPr>
              <a:t>마켓 판매 수 데이터 기준</a:t>
            </a:r>
            <a:endParaRPr sz="800">
              <a:solidFill>
                <a:srgbClr val="B7B7B7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2"/>
          <p:cNvSpPr/>
          <p:nvPr/>
        </p:nvSpPr>
        <p:spPr>
          <a:xfrm>
            <a:off x="457200" y="1188720"/>
            <a:ext cx="11274600" cy="521220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2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6" name="Google Shape;296;p12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7" name="Google Shape;297;p12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OGQ이모티콘 - 구매자 세부 데이터 분석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2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2"/>
          <p:cNvSpPr/>
          <p:nvPr/>
        </p:nvSpPr>
        <p:spPr>
          <a:xfrm>
            <a:off x="822960" y="146304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12"/>
          <p:cNvSpPr/>
          <p:nvPr/>
        </p:nvSpPr>
        <p:spPr>
          <a:xfrm>
            <a:off x="999708" y="166420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12"/>
          <p:cNvSpPr/>
          <p:nvPr/>
        </p:nvSpPr>
        <p:spPr>
          <a:xfrm>
            <a:off x="1141106" y="162763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소비 성향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2"/>
          <p:cNvSpPr/>
          <p:nvPr/>
        </p:nvSpPr>
        <p:spPr>
          <a:xfrm>
            <a:off x="1158781" y="217627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12"/>
          <p:cNvSpPr/>
          <p:nvPr/>
        </p:nvSpPr>
        <p:spPr>
          <a:xfrm>
            <a:off x="1317855" y="208483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과장되고 역동적인 애니메이션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2"/>
          <p:cNvSpPr/>
          <p:nvPr/>
        </p:nvSpPr>
        <p:spPr>
          <a:xfrm>
            <a:off x="1317855" y="234086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움직임이 크고 눈에 띄어 채팅창에서 강렬한 인상을 줄 수 있는 애니메이션 이모티콘 선호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2"/>
          <p:cNvSpPr/>
          <p:nvPr/>
        </p:nvSpPr>
        <p:spPr>
          <a:xfrm>
            <a:off x="1158781" y="295351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12"/>
          <p:cNvSpPr/>
          <p:nvPr/>
        </p:nvSpPr>
        <p:spPr>
          <a:xfrm>
            <a:off x="1317855" y="286207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유머 및 인터넷 방송 문화 특화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2"/>
          <p:cNvSpPr/>
          <p:nvPr/>
        </p:nvSpPr>
        <p:spPr>
          <a:xfrm>
            <a:off x="1317855" y="311810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특유의 유머 코드, 은어, 유행어, 스트리머 상황에 유쾌하게 반응할 수 있는 도발적 콘셉트 선호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2"/>
          <p:cNvSpPr/>
          <p:nvPr/>
        </p:nvSpPr>
        <p:spPr>
          <a:xfrm>
            <a:off x="6196106" y="146304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12"/>
          <p:cNvSpPr/>
          <p:nvPr/>
        </p:nvSpPr>
        <p:spPr>
          <a:xfrm>
            <a:off x="6372854" y="166420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12"/>
          <p:cNvSpPr/>
          <p:nvPr/>
        </p:nvSpPr>
        <p:spPr>
          <a:xfrm>
            <a:off x="6514253" y="162763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 용도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2"/>
          <p:cNvSpPr/>
          <p:nvPr/>
        </p:nvSpPr>
        <p:spPr>
          <a:xfrm>
            <a:off x="6531927" y="217627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12"/>
          <p:cNvSpPr/>
          <p:nvPr/>
        </p:nvSpPr>
        <p:spPr>
          <a:xfrm>
            <a:off x="6691001" y="208483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실시간 방송 리액션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2"/>
          <p:cNvSpPr/>
          <p:nvPr/>
        </p:nvSpPr>
        <p:spPr>
          <a:xfrm>
            <a:off x="822960" y="3886200"/>
            <a:ext cx="5169900" cy="224040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12"/>
          <p:cNvSpPr/>
          <p:nvPr/>
        </p:nvSpPr>
        <p:spPr>
          <a:xfrm>
            <a:off x="6691001" y="2340864"/>
            <a:ext cx="446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방송 내용에 즉각적이고 강렬하게 반응하기 위한 리액션 목적이 매우 큼</a:t>
            </a:r>
            <a:b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빠르게 올라가는 채팅창 속에서 자신의 감정과 존재감을 재미있게 표현하는 데 적극 활용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t/>
            </a:r>
            <a:endParaRPr b="0" i="0" sz="900" u="none" cap="none" strike="noStrike">
              <a:solidFill>
                <a:srgbClr val="4B5563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5" name="Google Shape;315;p12"/>
          <p:cNvSpPr/>
          <p:nvPr/>
        </p:nvSpPr>
        <p:spPr>
          <a:xfrm>
            <a:off x="999708" y="408736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12"/>
          <p:cNvSpPr/>
          <p:nvPr/>
        </p:nvSpPr>
        <p:spPr>
          <a:xfrm>
            <a:off x="1141106" y="4050792"/>
            <a:ext cx="47280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lang="en-US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유형 선호도</a:t>
            </a:r>
            <a:endParaRPr b="1">
              <a:solidFill>
                <a:srgbClr val="1F2937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7" name="Google Shape;317;p12"/>
          <p:cNvSpPr/>
          <p:nvPr/>
        </p:nvSpPr>
        <p:spPr>
          <a:xfrm>
            <a:off x="6196106" y="388620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12"/>
          <p:cNvSpPr/>
          <p:nvPr/>
        </p:nvSpPr>
        <p:spPr>
          <a:xfrm>
            <a:off x="6372854" y="408736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2"/>
          <p:cNvSpPr/>
          <p:nvPr/>
        </p:nvSpPr>
        <p:spPr>
          <a:xfrm>
            <a:off x="6514253" y="405079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키워드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2"/>
          <p:cNvSpPr/>
          <p:nvPr/>
        </p:nvSpPr>
        <p:spPr>
          <a:xfrm>
            <a:off x="6514253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12"/>
          <p:cNvSpPr/>
          <p:nvPr/>
        </p:nvSpPr>
        <p:spPr>
          <a:xfrm>
            <a:off x="6514253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움직이는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2"/>
          <p:cNvSpPr/>
          <p:nvPr/>
        </p:nvSpPr>
        <p:spPr>
          <a:xfrm>
            <a:off x="7698466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12"/>
          <p:cNvSpPr/>
          <p:nvPr/>
        </p:nvSpPr>
        <p:spPr>
          <a:xfrm>
            <a:off x="7698466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시청자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2"/>
          <p:cNvSpPr/>
          <p:nvPr/>
        </p:nvSpPr>
        <p:spPr>
          <a:xfrm>
            <a:off x="8882679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12"/>
          <p:cNvSpPr/>
          <p:nvPr/>
        </p:nvSpPr>
        <p:spPr>
          <a:xfrm>
            <a:off x="8882679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리액션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2"/>
          <p:cNvSpPr/>
          <p:nvPr/>
        </p:nvSpPr>
        <p:spPr>
          <a:xfrm>
            <a:off x="10066892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12"/>
          <p:cNvSpPr/>
          <p:nvPr/>
        </p:nvSpPr>
        <p:spPr>
          <a:xfrm>
            <a:off x="10066892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드립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2"/>
          <p:cNvSpPr/>
          <p:nvPr/>
        </p:nvSpPr>
        <p:spPr>
          <a:xfrm>
            <a:off x="6514253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2"/>
          <p:cNvSpPr/>
          <p:nvPr/>
        </p:nvSpPr>
        <p:spPr>
          <a:xfrm>
            <a:off x="6514253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댄스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2"/>
          <p:cNvSpPr/>
          <p:nvPr/>
        </p:nvSpPr>
        <p:spPr>
          <a:xfrm>
            <a:off x="7698466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12"/>
          <p:cNvSpPr/>
          <p:nvPr/>
        </p:nvSpPr>
        <p:spPr>
          <a:xfrm>
            <a:off x="7698466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lang="en-US" sz="1000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유행어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2"/>
          <p:cNvSpPr/>
          <p:nvPr/>
        </p:nvSpPr>
        <p:spPr>
          <a:xfrm>
            <a:off x="8882679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12"/>
          <p:cNvSpPr/>
          <p:nvPr/>
        </p:nvSpPr>
        <p:spPr>
          <a:xfrm>
            <a:off x="8882679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웃긴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2"/>
          <p:cNvSpPr/>
          <p:nvPr/>
        </p:nvSpPr>
        <p:spPr>
          <a:xfrm>
            <a:off x="10066892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12"/>
          <p:cNvSpPr/>
          <p:nvPr/>
        </p:nvSpPr>
        <p:spPr>
          <a:xfrm>
            <a:off x="10066892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2"/>
          <p:cNvSpPr/>
          <p:nvPr/>
        </p:nvSpPr>
        <p:spPr>
          <a:xfrm>
            <a:off x="1298780" y="4736089"/>
            <a:ext cx="4191000" cy="381000"/>
          </a:xfrm>
          <a:prstGeom prst="roundRect">
            <a:avLst>
              <a:gd fmla="val 20000" name="adj"/>
            </a:avLst>
          </a:prstGeom>
          <a:solidFill>
            <a:srgbClr val="E6913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12"/>
          <p:cNvSpPr/>
          <p:nvPr/>
        </p:nvSpPr>
        <p:spPr>
          <a:xfrm>
            <a:off x="1298780" y="4736089"/>
            <a:ext cx="419100" cy="381000"/>
          </a:xfrm>
          <a:prstGeom prst="roundRect">
            <a:avLst>
              <a:gd fmla="val 20000" name="adj"/>
            </a:avLst>
          </a:prstGeom>
          <a:solidFill>
            <a:srgbClr val="38761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12"/>
          <p:cNvSpPr/>
          <p:nvPr/>
        </p:nvSpPr>
        <p:spPr>
          <a:xfrm>
            <a:off x="1641680" y="4736089"/>
            <a:ext cx="676800" cy="3810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9" name="Google Shape;339;p12"/>
          <p:cNvGrpSpPr/>
          <p:nvPr/>
        </p:nvGrpSpPr>
        <p:grpSpPr>
          <a:xfrm>
            <a:off x="1317830" y="5340507"/>
            <a:ext cx="3267225" cy="190500"/>
            <a:chOff x="19050" y="0"/>
            <a:chExt cx="3267225" cy="190500"/>
          </a:xfrm>
        </p:grpSpPr>
        <p:sp>
          <p:nvSpPr>
            <p:cNvPr id="340" name="Google Shape;340;p12"/>
            <p:cNvSpPr/>
            <p:nvPr/>
          </p:nvSpPr>
          <p:spPr>
            <a:xfrm>
              <a:off x="19050" y="19050"/>
              <a:ext cx="152400" cy="152400"/>
            </a:xfrm>
            <a:prstGeom prst="ellipse">
              <a:avLst/>
            </a:prstGeom>
            <a:solidFill>
              <a:srgbClr val="38761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41" name="Google Shape;341;p12"/>
            <p:cNvGrpSpPr/>
            <p:nvPr/>
          </p:nvGrpSpPr>
          <p:grpSpPr>
            <a:xfrm>
              <a:off x="238125" y="0"/>
              <a:ext cx="1428900" cy="190500"/>
              <a:chOff x="0" y="0"/>
              <a:chExt cx="1428900" cy="190500"/>
            </a:xfrm>
          </p:grpSpPr>
          <p:sp>
            <p:nvSpPr>
              <p:cNvPr id="342" name="Google Shape;342;p12"/>
              <p:cNvSpPr/>
              <p:nvPr/>
            </p:nvSpPr>
            <p:spPr>
              <a:xfrm>
                <a:off x="0" y="0"/>
                <a:ext cx="1428900" cy="1905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3" name="Google Shape;343;p12"/>
              <p:cNvSpPr txBox="1"/>
              <p:nvPr/>
            </p:nvSpPr>
            <p:spPr>
              <a:xfrm>
                <a:off x="0" y="0"/>
                <a:ext cx="14289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0" i="0" lang="en-US" sz="1100" u="none" cap="none" strike="noStrike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정지형 이모티콘</a:t>
                </a:r>
                <a:endParaRPr b="0" i="0" sz="11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344" name="Google Shape;344;p12"/>
            <p:cNvSpPr/>
            <p:nvPr/>
          </p:nvSpPr>
          <p:spPr>
            <a:xfrm>
              <a:off x="1638300" y="19050"/>
              <a:ext cx="152400" cy="1524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45" name="Google Shape;345;p12"/>
            <p:cNvGrpSpPr/>
            <p:nvPr/>
          </p:nvGrpSpPr>
          <p:grpSpPr>
            <a:xfrm>
              <a:off x="1857375" y="0"/>
              <a:ext cx="1428900" cy="190500"/>
              <a:chOff x="0" y="0"/>
              <a:chExt cx="1428900" cy="190500"/>
            </a:xfrm>
          </p:grpSpPr>
          <p:sp>
            <p:nvSpPr>
              <p:cNvPr id="346" name="Google Shape;346;p12"/>
              <p:cNvSpPr/>
              <p:nvPr/>
            </p:nvSpPr>
            <p:spPr>
              <a:xfrm>
                <a:off x="0" y="0"/>
                <a:ext cx="1428900" cy="1905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7" name="Google Shape;347;p12"/>
              <p:cNvSpPr txBox="1"/>
              <p:nvPr/>
            </p:nvSpPr>
            <p:spPr>
              <a:xfrm>
                <a:off x="0" y="0"/>
                <a:ext cx="14289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0" i="0" lang="en-US" sz="1100" u="none" cap="none" strike="noStrike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애니메이션 이모티콘</a:t>
                </a:r>
                <a:endParaRPr b="0" i="0" sz="11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348" name="Google Shape;348;p12"/>
          <p:cNvSpPr txBox="1"/>
          <p:nvPr/>
        </p:nvSpPr>
        <p:spPr>
          <a:xfrm>
            <a:off x="1188780" y="4736089"/>
            <a:ext cx="4191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42875" spcFirstLastPara="1" rIns="142875" wrap="square" tIns="0">
            <a:noAutofit/>
          </a:bodyPr>
          <a:lstStyle/>
          <a:p>
            <a:pPr indent="4572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					애니메이션 70%</a:t>
            </a:r>
            <a:endParaRPr b="1" i="0" sz="13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12"/>
          <p:cNvSpPr/>
          <p:nvPr/>
        </p:nvSpPr>
        <p:spPr>
          <a:xfrm>
            <a:off x="6528816" y="2953512"/>
            <a:ext cx="88500" cy="9150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12"/>
          <p:cNvSpPr/>
          <p:nvPr/>
        </p:nvSpPr>
        <p:spPr>
          <a:xfrm>
            <a:off x="6673326" y="2862072"/>
            <a:ext cx="44628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스트리머도 적극 사용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2"/>
          <p:cNvSpPr/>
          <p:nvPr/>
        </p:nvSpPr>
        <p:spPr>
          <a:xfrm>
            <a:off x="6691038" y="3113527"/>
            <a:ext cx="446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플랫폼에서 방송하는 스트리머들은 본인들의 IP를 활용한 이모티콘을 출시하여 팬과의 커뮤니케이션 수단으로 사용하기도하며, 방송국 공지 등을 작성할 때 많이 사용</a:t>
            </a:r>
            <a:endParaRPr b="0" i="0" sz="900" u="none" cap="none" strike="noStrike">
              <a:solidFill>
                <a:srgbClr val="4B5563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52" name="Google Shape;352;p12"/>
          <p:cNvSpPr txBox="1"/>
          <p:nvPr/>
        </p:nvSpPr>
        <p:spPr>
          <a:xfrm>
            <a:off x="4000200" y="5739425"/>
            <a:ext cx="1924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B7B7B7"/>
                </a:solidFill>
              </a:rPr>
              <a:t>2026년 상반기 마켓 판매 수 데이터 기준</a:t>
            </a:r>
            <a:endParaRPr sz="800">
              <a:solidFill>
                <a:srgbClr val="B7B7B7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13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9" name="Google Shape;359;p13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0" name="Google Shape;360;p13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 OGQ마켓 - 구매자 세부 데이터 분석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13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3"/>
          <p:cNvSpPr/>
          <p:nvPr/>
        </p:nvSpPr>
        <p:spPr>
          <a:xfrm>
            <a:off x="822960" y="146304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13"/>
          <p:cNvSpPr/>
          <p:nvPr/>
        </p:nvSpPr>
        <p:spPr>
          <a:xfrm>
            <a:off x="999708" y="166420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13"/>
          <p:cNvSpPr/>
          <p:nvPr/>
        </p:nvSpPr>
        <p:spPr>
          <a:xfrm>
            <a:off x="1141106" y="162763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소비 성향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3"/>
          <p:cNvSpPr/>
          <p:nvPr/>
        </p:nvSpPr>
        <p:spPr>
          <a:xfrm>
            <a:off x="1158781" y="217627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13"/>
          <p:cNvSpPr/>
          <p:nvPr/>
        </p:nvSpPr>
        <p:spPr>
          <a:xfrm>
            <a:off x="1317855" y="208483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따뜻하고 정중한 메시지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3"/>
          <p:cNvSpPr/>
          <p:nvPr/>
        </p:nvSpPr>
        <p:spPr>
          <a:xfrm>
            <a:off x="1317855" y="234086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'감사와 행복', '예쁜 말', '착한 손글씨', '색연필 글씨' 등 다정하고 온화한 분위기의 텍스트가 포함된 이모티콘 선호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3"/>
          <p:cNvSpPr/>
          <p:nvPr/>
        </p:nvSpPr>
        <p:spPr>
          <a:xfrm>
            <a:off x="1158781" y="295351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13"/>
          <p:cNvSpPr/>
          <p:nvPr/>
        </p:nvSpPr>
        <p:spPr>
          <a:xfrm>
            <a:off x="1317855" y="286207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시즌성 및 예의범절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3"/>
          <p:cNvSpPr/>
          <p:nvPr/>
        </p:nvSpPr>
        <p:spPr>
          <a:xfrm>
            <a:off x="1317855" y="311810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'설날', '명절 인사말', '새해' 등 특정 기념일이나 '사회생활'에 맞춘 무난한 톤앤매너의 이모티콘이 주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3"/>
          <p:cNvSpPr/>
          <p:nvPr/>
        </p:nvSpPr>
        <p:spPr>
          <a:xfrm>
            <a:off x="6196106" y="146304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13"/>
          <p:cNvSpPr/>
          <p:nvPr/>
        </p:nvSpPr>
        <p:spPr>
          <a:xfrm>
            <a:off x="6372854" y="166420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13"/>
          <p:cNvSpPr/>
          <p:nvPr/>
        </p:nvSpPr>
        <p:spPr>
          <a:xfrm>
            <a:off x="6514253" y="162763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 용도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3"/>
          <p:cNvSpPr/>
          <p:nvPr/>
        </p:nvSpPr>
        <p:spPr>
          <a:xfrm>
            <a:off x="6531927" y="217627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3"/>
          <p:cNvSpPr/>
          <p:nvPr/>
        </p:nvSpPr>
        <p:spPr>
          <a:xfrm>
            <a:off x="6691001" y="208483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문자 메시지를 이용하는 높은 연령대의 이모티콘 픽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3"/>
          <p:cNvSpPr/>
          <p:nvPr/>
        </p:nvSpPr>
        <p:spPr>
          <a:xfrm>
            <a:off x="6691001" y="234086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 </a:t>
            </a:r>
            <a:r>
              <a:rPr lang="en-US" sz="9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문자 메시지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이용 고객은 대부분 연령대가 높은 40~50대로 텍스트 대신 이모티콘으로 소통 및 마음을 표현하고자 주로 사용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3"/>
          <p:cNvSpPr/>
          <p:nvPr/>
        </p:nvSpPr>
        <p:spPr>
          <a:xfrm>
            <a:off x="6531927" y="295351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13"/>
          <p:cNvSpPr/>
          <p:nvPr/>
        </p:nvSpPr>
        <p:spPr>
          <a:xfrm>
            <a:off x="6691001" y="286207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안부 인사 및 관계 유지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3"/>
          <p:cNvSpPr/>
          <p:nvPr/>
        </p:nvSpPr>
        <p:spPr>
          <a:xfrm>
            <a:off x="6691001" y="311810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가족, 친척, 직장 동료 등 지인들에게 명절 안부를 묻거나 일상적인 인사, 따뜻한 위로를 전하는 등 '사회적 관계 유지'를 위한 정중한 커뮤니케이션 용도로 주로 사용.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3"/>
          <p:cNvSpPr/>
          <p:nvPr/>
        </p:nvSpPr>
        <p:spPr>
          <a:xfrm>
            <a:off x="822960" y="388620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13"/>
          <p:cNvSpPr/>
          <p:nvPr/>
        </p:nvSpPr>
        <p:spPr>
          <a:xfrm>
            <a:off x="999708" y="408736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3"/>
          <p:cNvSpPr/>
          <p:nvPr/>
        </p:nvSpPr>
        <p:spPr>
          <a:xfrm>
            <a:off x="1141106" y="405079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lang="en-US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유형 선호도</a:t>
            </a:r>
            <a:endParaRPr b="1">
              <a:solidFill>
                <a:srgbClr val="1F2937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84" name="Google Shape;384;p13"/>
          <p:cNvSpPr/>
          <p:nvPr/>
        </p:nvSpPr>
        <p:spPr>
          <a:xfrm>
            <a:off x="6196106" y="388620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13"/>
          <p:cNvSpPr/>
          <p:nvPr/>
        </p:nvSpPr>
        <p:spPr>
          <a:xfrm>
            <a:off x="6372854" y="408736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13"/>
          <p:cNvSpPr/>
          <p:nvPr/>
        </p:nvSpPr>
        <p:spPr>
          <a:xfrm>
            <a:off x="6514253" y="405079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키워드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3"/>
          <p:cNvSpPr/>
          <p:nvPr/>
        </p:nvSpPr>
        <p:spPr>
          <a:xfrm>
            <a:off x="6514253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13"/>
          <p:cNvSpPr/>
          <p:nvPr/>
        </p:nvSpPr>
        <p:spPr>
          <a:xfrm>
            <a:off x="6514253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손글씨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3"/>
          <p:cNvSpPr/>
          <p:nvPr/>
        </p:nvSpPr>
        <p:spPr>
          <a:xfrm>
            <a:off x="7698466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13"/>
          <p:cNvSpPr/>
          <p:nvPr/>
        </p:nvSpPr>
        <p:spPr>
          <a:xfrm>
            <a:off x="7698466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귀여운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3"/>
          <p:cNvSpPr/>
          <p:nvPr/>
        </p:nvSpPr>
        <p:spPr>
          <a:xfrm>
            <a:off x="8882679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13"/>
          <p:cNvSpPr/>
          <p:nvPr/>
        </p:nvSpPr>
        <p:spPr>
          <a:xfrm>
            <a:off x="8882679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명절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3"/>
          <p:cNvSpPr/>
          <p:nvPr/>
        </p:nvSpPr>
        <p:spPr>
          <a:xfrm>
            <a:off x="10066892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13"/>
          <p:cNvSpPr/>
          <p:nvPr/>
        </p:nvSpPr>
        <p:spPr>
          <a:xfrm>
            <a:off x="10066892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3"/>
          <p:cNvSpPr/>
          <p:nvPr/>
        </p:nvSpPr>
        <p:spPr>
          <a:xfrm>
            <a:off x="6514253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13"/>
          <p:cNvSpPr/>
          <p:nvPr/>
        </p:nvSpPr>
        <p:spPr>
          <a:xfrm>
            <a:off x="6514253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안부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3"/>
          <p:cNvSpPr/>
          <p:nvPr/>
        </p:nvSpPr>
        <p:spPr>
          <a:xfrm>
            <a:off x="7698466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13"/>
          <p:cNvSpPr/>
          <p:nvPr/>
        </p:nvSpPr>
        <p:spPr>
          <a:xfrm>
            <a:off x="7698466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3"/>
          <p:cNvSpPr/>
          <p:nvPr/>
        </p:nvSpPr>
        <p:spPr>
          <a:xfrm>
            <a:off x="8882679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13"/>
          <p:cNvSpPr/>
          <p:nvPr/>
        </p:nvSpPr>
        <p:spPr>
          <a:xfrm>
            <a:off x="8882679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다정한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3"/>
          <p:cNvSpPr/>
          <p:nvPr/>
        </p:nvSpPr>
        <p:spPr>
          <a:xfrm>
            <a:off x="10066892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13"/>
          <p:cNvSpPr/>
          <p:nvPr/>
        </p:nvSpPr>
        <p:spPr>
          <a:xfrm>
            <a:off x="10066892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공손한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3" name="Google Shape;403;p13"/>
          <p:cNvGrpSpPr/>
          <p:nvPr/>
        </p:nvGrpSpPr>
        <p:grpSpPr>
          <a:xfrm>
            <a:off x="1282093" y="5348391"/>
            <a:ext cx="3267225" cy="190500"/>
            <a:chOff x="19050" y="0"/>
            <a:chExt cx="3267225" cy="190500"/>
          </a:xfrm>
        </p:grpSpPr>
        <p:sp>
          <p:nvSpPr>
            <p:cNvPr id="404" name="Google Shape;404;p13"/>
            <p:cNvSpPr/>
            <p:nvPr/>
          </p:nvSpPr>
          <p:spPr>
            <a:xfrm>
              <a:off x="19050" y="19050"/>
              <a:ext cx="152400" cy="152400"/>
            </a:xfrm>
            <a:prstGeom prst="ellipse">
              <a:avLst/>
            </a:prstGeom>
            <a:solidFill>
              <a:srgbClr val="38761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05" name="Google Shape;405;p13"/>
            <p:cNvGrpSpPr/>
            <p:nvPr/>
          </p:nvGrpSpPr>
          <p:grpSpPr>
            <a:xfrm>
              <a:off x="238125" y="0"/>
              <a:ext cx="1428900" cy="190500"/>
              <a:chOff x="0" y="0"/>
              <a:chExt cx="1428900" cy="190500"/>
            </a:xfrm>
          </p:grpSpPr>
          <p:sp>
            <p:nvSpPr>
              <p:cNvPr id="406" name="Google Shape;406;p13"/>
              <p:cNvSpPr/>
              <p:nvPr/>
            </p:nvSpPr>
            <p:spPr>
              <a:xfrm>
                <a:off x="0" y="0"/>
                <a:ext cx="1428900" cy="1905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7" name="Google Shape;407;p13"/>
              <p:cNvSpPr txBox="1"/>
              <p:nvPr/>
            </p:nvSpPr>
            <p:spPr>
              <a:xfrm>
                <a:off x="0" y="0"/>
                <a:ext cx="14289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0" i="0" lang="en-US" sz="1100" u="none" cap="none" strike="noStrike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정지형 이모티콘</a:t>
                </a:r>
                <a:endParaRPr b="0" i="0" sz="11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08" name="Google Shape;408;p13"/>
            <p:cNvSpPr/>
            <p:nvPr/>
          </p:nvSpPr>
          <p:spPr>
            <a:xfrm>
              <a:off x="1638300" y="19050"/>
              <a:ext cx="152400" cy="1524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09" name="Google Shape;409;p13"/>
            <p:cNvGrpSpPr/>
            <p:nvPr/>
          </p:nvGrpSpPr>
          <p:grpSpPr>
            <a:xfrm>
              <a:off x="1857375" y="0"/>
              <a:ext cx="1428900" cy="190500"/>
              <a:chOff x="0" y="0"/>
              <a:chExt cx="1428900" cy="190500"/>
            </a:xfrm>
          </p:grpSpPr>
          <p:sp>
            <p:nvSpPr>
              <p:cNvPr id="410" name="Google Shape;410;p13"/>
              <p:cNvSpPr/>
              <p:nvPr/>
            </p:nvSpPr>
            <p:spPr>
              <a:xfrm>
                <a:off x="0" y="0"/>
                <a:ext cx="1428900" cy="1905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1" name="Google Shape;411;p13"/>
              <p:cNvSpPr txBox="1"/>
              <p:nvPr/>
            </p:nvSpPr>
            <p:spPr>
              <a:xfrm>
                <a:off x="0" y="0"/>
                <a:ext cx="14289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0" i="0" lang="en-US" sz="1100" u="none" cap="none" strike="noStrike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애니메이션 이모티콘</a:t>
                </a:r>
                <a:endParaRPr b="0" i="0" sz="11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412" name="Google Shape;412;p13"/>
          <p:cNvSpPr/>
          <p:nvPr/>
        </p:nvSpPr>
        <p:spPr>
          <a:xfrm>
            <a:off x="1263043" y="4743973"/>
            <a:ext cx="4191000" cy="381000"/>
          </a:xfrm>
          <a:prstGeom prst="roundRect">
            <a:avLst>
              <a:gd fmla="val 20000" name="adj"/>
            </a:avLst>
          </a:prstGeom>
          <a:solidFill>
            <a:srgbClr val="E6913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13"/>
          <p:cNvSpPr/>
          <p:nvPr/>
        </p:nvSpPr>
        <p:spPr>
          <a:xfrm>
            <a:off x="1263043" y="4743973"/>
            <a:ext cx="1173600" cy="381000"/>
          </a:xfrm>
          <a:prstGeom prst="roundRect">
            <a:avLst>
              <a:gd fmla="val 20000" name="adj"/>
            </a:avLst>
          </a:prstGeom>
          <a:solidFill>
            <a:srgbClr val="38761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13"/>
          <p:cNvSpPr/>
          <p:nvPr/>
        </p:nvSpPr>
        <p:spPr>
          <a:xfrm>
            <a:off x="2341211" y="4743973"/>
            <a:ext cx="1173600" cy="3810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13"/>
          <p:cNvSpPr txBox="1"/>
          <p:nvPr/>
        </p:nvSpPr>
        <p:spPr>
          <a:xfrm>
            <a:off x="1263031" y="4743973"/>
            <a:ext cx="4191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42875" spcFirstLastPara="1" rIns="14287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정지형 5</a:t>
            </a:r>
            <a:r>
              <a:rPr b="1" lang="en-US" sz="1300">
                <a:solidFill>
                  <a:srgbClr val="FFFFFF"/>
                </a:solidFill>
              </a:rPr>
              <a:t>5</a:t>
            </a: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%		              	          애니메이션 4</a:t>
            </a:r>
            <a:r>
              <a:rPr b="1" lang="en-US" sz="1300">
                <a:solidFill>
                  <a:srgbClr val="FFFFFF"/>
                </a:solidFill>
              </a:rPr>
              <a:t>5</a:t>
            </a: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%</a:t>
            </a:r>
            <a:endParaRPr b="1" i="0" sz="13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13"/>
          <p:cNvSpPr txBox="1"/>
          <p:nvPr/>
        </p:nvSpPr>
        <p:spPr>
          <a:xfrm>
            <a:off x="4000200" y="5739425"/>
            <a:ext cx="1924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B7B7B7"/>
                </a:solidFill>
              </a:rPr>
              <a:t>2026년 상반기 마켓 판매 수 데이터 기준</a:t>
            </a:r>
            <a:endParaRPr sz="800">
              <a:solidFill>
                <a:srgbClr val="B7B7B7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538"/>
        </a:solidFill>
      </p:bgPr>
    </p:bg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14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14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cap="flat" cmpd="sng" w="12700">
            <a:solidFill>
              <a:srgbClr val="356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14"/>
          <p:cNvSpPr/>
          <p:nvPr/>
        </p:nvSpPr>
        <p:spPr>
          <a:xfrm flipH="1" rot="10800000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14"/>
          <p:cNvSpPr/>
          <p:nvPr/>
        </p:nvSpPr>
        <p:spPr>
          <a:xfrm>
            <a:off x="731520" y="640080"/>
            <a:ext cx="640080" cy="640080"/>
          </a:xfrm>
          <a:prstGeom prst="ellipse">
            <a:avLst/>
          </a:prstGeom>
          <a:noFill/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14"/>
          <p:cNvSpPr/>
          <p:nvPr/>
        </p:nvSpPr>
        <p:spPr>
          <a:xfrm>
            <a:off x="731520" y="64008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4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 PLAYBOOK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4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600"/>
              <a:buFont typeface="Malgun Gothic"/>
              <a:buNone/>
            </a:pPr>
            <a:r>
              <a:rPr b="0" i="0" lang="en-US" sz="160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NAVER OGQ마켓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14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15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36" name="Google Shape;436;p15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37" name="Google Shape;437;p15"/>
          <p:cNvSpPr/>
          <p:nvPr/>
        </p:nvSpPr>
        <p:spPr>
          <a:xfrm>
            <a:off x="1783080" y="365760"/>
            <a:ext cx="9601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매출 스티커(이모티콘) 탐색 방법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5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15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</a:t>
            </a:r>
            <a:r>
              <a:rPr b="1" lang="en-US" sz="2200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</a:t>
            </a: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 확인하는 방법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5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인기차트를 통하여 </a:t>
            </a:r>
            <a:r>
              <a:rPr lang="en-US" sz="11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실시간</a:t>
            </a: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마켓 트렌드를 확인해 보세요.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41" name="Google Shape;44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960" y="2148840"/>
            <a:ext cx="4153583" cy="3515661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25400">
              <a:srgbClr val="000000">
                <a:alpha val="14902"/>
              </a:srgbClr>
            </a:outerShdw>
          </a:effectLst>
        </p:spPr>
      </p:pic>
      <p:sp>
        <p:nvSpPr>
          <p:cNvPr id="442" name="Google Shape;442;p15"/>
          <p:cNvSpPr/>
          <p:nvPr/>
        </p:nvSpPr>
        <p:spPr>
          <a:xfrm>
            <a:off x="822960" y="5961888"/>
            <a:ext cx="4153583" cy="274320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15">
            <a:hlinkClick r:id="rId4"/>
          </p:cNvPr>
          <p:cNvSpPr/>
          <p:nvPr/>
        </p:nvSpPr>
        <p:spPr>
          <a:xfrm>
            <a:off x="822960" y="5961888"/>
            <a:ext cx="415358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NAVER OGQ마켓 › 페이지 최상단 ‘인기차트’ </a:t>
            </a:r>
            <a:r>
              <a:rPr b="1" i="0" lang="en-US" sz="900" u="sng" cap="none" strike="noStrike">
                <a:solidFill>
                  <a:schemeClr val="hlink"/>
                </a:solidFill>
                <a:latin typeface="Malgun Gothic"/>
                <a:ea typeface="Malgun Gothic"/>
                <a:cs typeface="Malgun Gothic"/>
                <a:sym typeface="Malgun Gothic"/>
                <a:hlinkClick r:id="rId5"/>
              </a:rPr>
              <a:t>(바로가기)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5"/>
          <p:cNvSpPr/>
          <p:nvPr/>
        </p:nvSpPr>
        <p:spPr>
          <a:xfrm>
            <a:off x="5771910" y="2148840"/>
            <a:ext cx="5594299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15"/>
          <p:cNvSpPr/>
          <p:nvPr/>
        </p:nvSpPr>
        <p:spPr>
          <a:xfrm>
            <a:off x="5930983" y="2441448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15"/>
          <p:cNvSpPr/>
          <p:nvPr/>
        </p:nvSpPr>
        <p:spPr>
          <a:xfrm>
            <a:off x="5930983" y="2441448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5"/>
          <p:cNvSpPr/>
          <p:nvPr/>
        </p:nvSpPr>
        <p:spPr>
          <a:xfrm>
            <a:off x="6523090" y="2350008"/>
            <a:ext cx="466618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인기차트로 흐름 읽기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15"/>
          <p:cNvSpPr/>
          <p:nvPr/>
        </p:nvSpPr>
        <p:spPr>
          <a:xfrm>
            <a:off x="6523090" y="2642616"/>
            <a:ext cx="4666183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당일(1시간)·일일(24시간) 판매+조회 합산, 최근 6개월 제공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5"/>
          <p:cNvSpPr/>
          <p:nvPr/>
        </p:nvSpPr>
        <p:spPr>
          <a:xfrm>
            <a:off x="5771910" y="3300984"/>
            <a:ext cx="5594299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15"/>
          <p:cNvSpPr/>
          <p:nvPr/>
        </p:nvSpPr>
        <p:spPr>
          <a:xfrm>
            <a:off x="5930983" y="3593592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15"/>
          <p:cNvSpPr/>
          <p:nvPr/>
        </p:nvSpPr>
        <p:spPr>
          <a:xfrm>
            <a:off x="5930983" y="3593592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5"/>
          <p:cNvSpPr/>
          <p:nvPr/>
        </p:nvSpPr>
        <p:spPr>
          <a:xfrm>
            <a:off x="6523090" y="3502152"/>
            <a:ext cx="466618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검색 유입으로 검증하기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5"/>
          <p:cNvSpPr/>
          <p:nvPr/>
        </p:nvSpPr>
        <p:spPr>
          <a:xfrm>
            <a:off x="6523090" y="3794760"/>
            <a:ext cx="4666183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공정위·구분선·맛집·리뷰·내돈내산 등 플레이북에 제시한 핵심 키워드 및 인기 검색어와 비교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15"/>
          <p:cNvSpPr/>
          <p:nvPr/>
        </p:nvSpPr>
        <p:spPr>
          <a:xfrm>
            <a:off x="5771910" y="4453128"/>
            <a:ext cx="5594299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15"/>
          <p:cNvSpPr/>
          <p:nvPr/>
        </p:nvSpPr>
        <p:spPr>
          <a:xfrm>
            <a:off x="5930983" y="4745736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15"/>
          <p:cNvSpPr/>
          <p:nvPr/>
        </p:nvSpPr>
        <p:spPr>
          <a:xfrm>
            <a:off x="5930983" y="4745736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15"/>
          <p:cNvSpPr/>
          <p:nvPr/>
        </p:nvSpPr>
        <p:spPr>
          <a:xfrm>
            <a:off x="6523090" y="4654296"/>
            <a:ext cx="466618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크리에이터 페이지 분석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15"/>
          <p:cNvSpPr/>
          <p:nvPr/>
        </p:nvSpPr>
        <p:spPr>
          <a:xfrm>
            <a:off x="6523090" y="4946904"/>
            <a:ext cx="4666183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시리즈로 이어지는 컨셉 등 레퍼런스 참고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15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16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66" name="Google Shape;466;p16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67" name="Google Shape;467;p16"/>
          <p:cNvSpPr/>
          <p:nvPr/>
        </p:nvSpPr>
        <p:spPr>
          <a:xfrm>
            <a:off x="1783080" y="365760"/>
            <a:ext cx="9601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</a:t>
            </a:r>
            <a:r>
              <a:rPr b="1" lang="en-US" sz="26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</a:t>
            </a: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분석하기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16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16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TOP 25 상세 분석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16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2026년 상반기 </a:t>
            </a:r>
            <a:r>
              <a:rPr b="1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월별 TOP 25</a:t>
            </a: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</a:t>
            </a: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의 상세 데이터를 참고해 주세요.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6"/>
          <p:cNvSpPr/>
          <p:nvPr/>
        </p:nvSpPr>
        <p:spPr>
          <a:xfrm>
            <a:off x="822960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16"/>
          <p:cNvSpPr/>
          <p:nvPr/>
        </p:nvSpPr>
        <p:spPr>
          <a:xfrm>
            <a:off x="822960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91.1%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6"/>
          <p:cNvSpPr/>
          <p:nvPr/>
        </p:nvSpPr>
        <p:spPr>
          <a:xfrm>
            <a:off x="822960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정지형 스티커(이모티콘) 매출 비중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6"/>
          <p:cNvSpPr/>
          <p:nvPr/>
        </p:nvSpPr>
        <p:spPr>
          <a:xfrm>
            <a:off x="3498494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16"/>
          <p:cNvSpPr/>
          <p:nvPr/>
        </p:nvSpPr>
        <p:spPr>
          <a:xfrm>
            <a:off x="3498494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93.8%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16"/>
          <p:cNvSpPr/>
          <p:nvPr/>
        </p:nvSpPr>
        <p:spPr>
          <a:xfrm>
            <a:off x="3498494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 포함 콘텐츠 비중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6"/>
          <p:cNvSpPr/>
          <p:nvPr/>
        </p:nvSpPr>
        <p:spPr>
          <a:xfrm>
            <a:off x="6174029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16"/>
          <p:cNvSpPr/>
          <p:nvPr/>
        </p:nvSpPr>
        <p:spPr>
          <a:xfrm>
            <a:off x="6174029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58.8%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6"/>
          <p:cNvSpPr/>
          <p:nvPr/>
        </p:nvSpPr>
        <p:spPr>
          <a:xfrm>
            <a:off x="6174029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밈(meme) 활용 콘텐츠 매출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16"/>
          <p:cNvSpPr/>
          <p:nvPr/>
        </p:nvSpPr>
        <p:spPr>
          <a:xfrm>
            <a:off x="8849563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6"/>
          <p:cNvSpPr/>
          <p:nvPr/>
        </p:nvSpPr>
        <p:spPr>
          <a:xfrm>
            <a:off x="8849563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30.7%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6"/>
          <p:cNvSpPr/>
          <p:nvPr/>
        </p:nvSpPr>
        <p:spPr>
          <a:xfrm>
            <a:off x="8849563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시리즈(넘버링) 콘텐츠 매출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16"/>
          <p:cNvSpPr/>
          <p:nvPr/>
        </p:nvSpPr>
        <p:spPr>
          <a:xfrm>
            <a:off x="822960" y="3108960"/>
            <a:ext cx="4418705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6"/>
          <p:cNvSpPr/>
          <p:nvPr/>
        </p:nvSpPr>
        <p:spPr>
          <a:xfrm>
            <a:off x="822960" y="3108960"/>
            <a:ext cx="4418705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유형별 매출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6"/>
          <p:cNvSpPr/>
          <p:nvPr/>
        </p:nvSpPr>
        <p:spPr>
          <a:xfrm>
            <a:off x="822960" y="3566160"/>
            <a:ext cx="11930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 감성형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16"/>
          <p:cNvSpPr/>
          <p:nvPr/>
        </p:nvSpPr>
        <p:spPr>
          <a:xfrm>
            <a:off x="2104384" y="3566160"/>
            <a:ext cx="2695410" cy="23774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16"/>
          <p:cNvSpPr/>
          <p:nvPr/>
        </p:nvSpPr>
        <p:spPr>
          <a:xfrm>
            <a:off x="4852819" y="3566160"/>
            <a:ext cx="44187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35.0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16"/>
          <p:cNvSpPr/>
          <p:nvPr/>
        </p:nvSpPr>
        <p:spPr>
          <a:xfrm>
            <a:off x="822960" y="3913632"/>
            <a:ext cx="11930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 × 블로그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16"/>
          <p:cNvSpPr/>
          <p:nvPr/>
        </p:nvSpPr>
        <p:spPr>
          <a:xfrm>
            <a:off x="2104384" y="3913632"/>
            <a:ext cx="2071615" cy="23774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16"/>
          <p:cNvSpPr/>
          <p:nvPr/>
        </p:nvSpPr>
        <p:spPr>
          <a:xfrm>
            <a:off x="4229024" y="3913632"/>
            <a:ext cx="44187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26.9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16"/>
          <p:cNvSpPr/>
          <p:nvPr/>
        </p:nvSpPr>
        <p:spPr>
          <a:xfrm>
            <a:off x="822960" y="4261104"/>
            <a:ext cx="11930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실용 텍스트형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6"/>
          <p:cNvSpPr/>
          <p:nvPr/>
        </p:nvSpPr>
        <p:spPr>
          <a:xfrm>
            <a:off x="2104384" y="4261104"/>
            <a:ext cx="1855983" cy="23774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16"/>
          <p:cNvSpPr/>
          <p:nvPr/>
        </p:nvSpPr>
        <p:spPr>
          <a:xfrm>
            <a:off x="4013392" y="4261104"/>
            <a:ext cx="44187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24.1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16"/>
          <p:cNvSpPr/>
          <p:nvPr/>
        </p:nvSpPr>
        <p:spPr>
          <a:xfrm>
            <a:off x="822960" y="4608576"/>
            <a:ext cx="11930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스트리머 IP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6"/>
          <p:cNvSpPr/>
          <p:nvPr/>
        </p:nvSpPr>
        <p:spPr>
          <a:xfrm>
            <a:off x="2104384" y="4608576"/>
            <a:ext cx="1078164" cy="23774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6"/>
          <p:cNvSpPr/>
          <p:nvPr/>
        </p:nvSpPr>
        <p:spPr>
          <a:xfrm>
            <a:off x="3235573" y="4608576"/>
            <a:ext cx="44187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14.0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97" name="Google Shape;497;p16"/>
          <p:cNvCxnSpPr/>
          <p:nvPr/>
        </p:nvCxnSpPr>
        <p:spPr>
          <a:xfrm>
            <a:off x="2104384" y="3520440"/>
            <a:ext cx="0" cy="137160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8" name="Google Shape;498;p16"/>
          <p:cNvSpPr/>
          <p:nvPr/>
        </p:nvSpPr>
        <p:spPr>
          <a:xfrm>
            <a:off x="822960" y="49377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 감성형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표현 중심 캐릭터 — 매월 1·2위 고정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16"/>
          <p:cNvSpPr/>
          <p:nvPr/>
        </p:nvSpPr>
        <p:spPr>
          <a:xfrm>
            <a:off x="822960" y="51663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 × 블로그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캐릭터가 맛집·리뷰·일상기록 등 블로그 상황을 연기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16"/>
          <p:cNvSpPr/>
          <p:nvPr/>
        </p:nvSpPr>
        <p:spPr>
          <a:xfrm>
            <a:off x="822960" y="53949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실용 텍스트형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공정위 문구, 형광펜 리뷰, 말풍선 모음 ZIP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16"/>
          <p:cNvSpPr/>
          <p:nvPr/>
        </p:nvSpPr>
        <p:spPr>
          <a:xfrm>
            <a:off x="822960" y="56235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스트리머 IP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팬덤 기반 — 네이버 스트리머 팬카페 기반, 단월 폭발력은 크지만 지속성 낮음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6"/>
          <p:cNvSpPr/>
          <p:nvPr/>
        </p:nvSpPr>
        <p:spPr>
          <a:xfrm>
            <a:off x="5462601" y="3108960"/>
            <a:ext cx="5903390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6"/>
          <p:cNvSpPr/>
          <p:nvPr/>
        </p:nvSpPr>
        <p:spPr>
          <a:xfrm>
            <a:off x="5462601" y="3108960"/>
            <a:ext cx="590339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</a:t>
            </a:r>
            <a:r>
              <a:rPr b="1" lang="en-US" sz="11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</a:t>
            </a: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속성별 데이터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504" name="Google Shape;504;p16"/>
          <p:cNvGraphicFramePr/>
          <p:nvPr/>
        </p:nvGraphicFramePr>
        <p:xfrm>
          <a:off x="5462601" y="347472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{AEBD00CC-FC0A-4C85-B4EB-CBDBD9B740B2}</a:tableStyleId>
              </a:tblPr>
              <a:tblGrid>
                <a:gridCol w="1237225"/>
                <a:gridCol w="1325600"/>
                <a:gridCol w="1007475"/>
                <a:gridCol w="1325600"/>
                <a:gridCol w="1007475"/>
              </a:tblGrid>
              <a:tr h="2011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속성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1위 값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매출 비중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2위 값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매출 비중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콘텐츠 유형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정지형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91.1%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애니메이션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8.9%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텍스트 비중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높음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49.8%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보통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44.1%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텍스트 종류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표준어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58.4%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신조어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34.3%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기반 분류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추상적 캐릭터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52.6%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동물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15.2%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콘텐츠 </a:t>
                      </a: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도메인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일상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61.0%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블로그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18.2%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상세 성격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귀여운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59.9%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병맛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10.6%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색상 스타일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파스텔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54.2%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무채색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25.3%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라인 스타일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굵은 선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73.0%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가는 선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17.5%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배경 유형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투명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97.5%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배경 꽉 참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2.5%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사용 맥락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공감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54.3%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리뷰/일상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16.4%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5" name="Google Shape;505;p16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16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</a:t>
            </a:r>
            <a:r>
              <a:rPr b="1" lang="en-US" sz="1050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</a:t>
            </a: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 분석  </a:t>
            </a:r>
            <a:r>
              <a:rPr b="1" lang="en-US" sz="105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 전 매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 상위 </a:t>
            </a:r>
            <a:r>
              <a:rPr b="1" lang="en-US" sz="105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분석</a:t>
            </a:r>
            <a:r>
              <a:rPr b="1" lang="en-US" sz="105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데이터를 참고해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16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17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14" name="Google Shape;514;p17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15" name="Google Shape;515;p17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잘 팔리는 주제 선정하기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7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p17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핵심은 블로거가 작성하는 포스팅마다의 ‘장면’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17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요즘 네이버 블로그 트렌드를 참고하여 스티커(이모티콘)로 표현해 보세요.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17"/>
          <p:cNvSpPr/>
          <p:nvPr/>
        </p:nvSpPr>
        <p:spPr>
          <a:xfrm>
            <a:off x="822960" y="2148840"/>
            <a:ext cx="3976835" cy="310896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17"/>
          <p:cNvSpPr/>
          <p:nvPr/>
        </p:nvSpPr>
        <p:spPr>
          <a:xfrm>
            <a:off x="822960" y="2148840"/>
            <a:ext cx="3976835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지금 네이버 블로그는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17"/>
          <p:cNvSpPr/>
          <p:nvPr/>
        </p:nvSpPr>
        <p:spPr>
          <a:xfrm>
            <a:off x="5241665" y="2148840"/>
            <a:ext cx="6124326" cy="31089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2" name="Google Shape;522;p17"/>
          <p:cNvSpPr/>
          <p:nvPr/>
        </p:nvSpPr>
        <p:spPr>
          <a:xfrm>
            <a:off x="5241665" y="2148840"/>
            <a:ext cx="612432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포스팅에 이런 스티커(이모티콘)를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17"/>
          <p:cNvSpPr/>
          <p:nvPr/>
        </p:nvSpPr>
        <p:spPr>
          <a:xfrm>
            <a:off x="822960" y="2532888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4" name="Google Shape;524;p17"/>
          <p:cNvSpPr/>
          <p:nvPr/>
        </p:nvSpPr>
        <p:spPr>
          <a:xfrm>
            <a:off x="946683" y="2651760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525" name="Google Shape;52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057" y="2743200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526" name="Google Shape;526;p17"/>
          <p:cNvSpPr/>
          <p:nvPr/>
        </p:nvSpPr>
        <p:spPr>
          <a:xfrm>
            <a:off x="1423903" y="2615184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7" name="Google Shape;527;p17"/>
          <p:cNvSpPr/>
          <p:nvPr/>
        </p:nvSpPr>
        <p:spPr>
          <a:xfrm>
            <a:off x="1423903" y="2615184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협찬·체험단 글 증가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17"/>
          <p:cNvSpPr/>
          <p:nvPr/>
        </p:nvSpPr>
        <p:spPr>
          <a:xfrm>
            <a:off x="1423903" y="2807208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체험단·협찬 글이 늘고,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공정위 표기는 사실상 필수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17"/>
          <p:cNvSpPr/>
          <p:nvPr/>
        </p:nvSpPr>
        <p:spPr>
          <a:xfrm>
            <a:off x="4897006" y="2734056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p17"/>
          <p:cNvSpPr/>
          <p:nvPr/>
        </p:nvSpPr>
        <p:spPr>
          <a:xfrm>
            <a:off x="5241665" y="2532888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17"/>
          <p:cNvSpPr/>
          <p:nvPr/>
        </p:nvSpPr>
        <p:spPr>
          <a:xfrm>
            <a:off x="5347714" y="2615184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2" name="Google Shape;532;p17"/>
          <p:cNvSpPr/>
          <p:nvPr/>
        </p:nvSpPr>
        <p:spPr>
          <a:xfrm>
            <a:off x="5347714" y="2615184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17"/>
          <p:cNvSpPr/>
          <p:nvPr/>
        </p:nvSpPr>
        <p:spPr>
          <a:xfrm>
            <a:off x="5860284" y="2587752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공정위·내돈내산 문구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17"/>
          <p:cNvSpPr/>
          <p:nvPr/>
        </p:nvSpPr>
        <p:spPr>
          <a:xfrm>
            <a:off x="5347714" y="2834640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컬러·손그림·캐릭터가 팻말 든 버전으로 변형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같은 문구라도 디자인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요소로 세트 제작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17"/>
          <p:cNvSpPr/>
          <p:nvPr/>
        </p:nvSpPr>
        <p:spPr>
          <a:xfrm>
            <a:off x="9306875" y="260604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7"/>
          <p:cNvSpPr/>
          <p:nvPr/>
        </p:nvSpPr>
        <p:spPr>
          <a:xfrm>
            <a:off x="9306875" y="260604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내돈내산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17"/>
          <p:cNvSpPr/>
          <p:nvPr/>
        </p:nvSpPr>
        <p:spPr>
          <a:xfrm>
            <a:off x="10349689" y="260604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p17"/>
          <p:cNvSpPr/>
          <p:nvPr/>
        </p:nvSpPr>
        <p:spPr>
          <a:xfrm>
            <a:off x="10349689" y="260604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협찬 문구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17"/>
          <p:cNvSpPr/>
          <p:nvPr/>
        </p:nvSpPr>
        <p:spPr>
          <a:xfrm>
            <a:off x="9306875" y="286207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p17"/>
          <p:cNvSpPr/>
          <p:nvPr/>
        </p:nvSpPr>
        <p:spPr>
          <a:xfrm>
            <a:off x="9306875" y="286207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솔직 후기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17"/>
          <p:cNvSpPr/>
          <p:nvPr/>
        </p:nvSpPr>
        <p:spPr>
          <a:xfrm>
            <a:off x="10349689" y="286207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2" name="Google Shape;542;p17"/>
          <p:cNvSpPr/>
          <p:nvPr/>
        </p:nvSpPr>
        <p:spPr>
          <a:xfrm>
            <a:off x="10349689" y="286207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광고 포함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17"/>
          <p:cNvSpPr/>
          <p:nvPr/>
        </p:nvSpPr>
        <p:spPr>
          <a:xfrm>
            <a:off x="822960" y="3200400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4" name="Google Shape;544;p17"/>
          <p:cNvSpPr/>
          <p:nvPr/>
        </p:nvSpPr>
        <p:spPr>
          <a:xfrm>
            <a:off x="946683" y="3319272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545" name="Google Shape;545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5057" y="3410712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546" name="Google Shape;546;p17"/>
          <p:cNvSpPr/>
          <p:nvPr/>
        </p:nvSpPr>
        <p:spPr>
          <a:xfrm>
            <a:off x="1423903" y="3282696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7" name="Google Shape;547;p17"/>
          <p:cNvSpPr/>
          <p:nvPr/>
        </p:nvSpPr>
        <p:spPr>
          <a:xfrm>
            <a:off x="1423903" y="3282696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경험형 글 유리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17"/>
          <p:cNvSpPr/>
          <p:nvPr/>
        </p:nvSpPr>
        <p:spPr>
          <a:xfrm>
            <a:off x="1423903" y="3474720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맛집·여행 등 직접 경험 글이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인용·홈피드에서 유리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17"/>
          <p:cNvSpPr/>
          <p:nvPr/>
        </p:nvSpPr>
        <p:spPr>
          <a:xfrm>
            <a:off x="4897006" y="3401568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" name="Google Shape;550;p17"/>
          <p:cNvSpPr/>
          <p:nvPr/>
        </p:nvSpPr>
        <p:spPr>
          <a:xfrm>
            <a:off x="5241665" y="3200400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1" name="Google Shape;551;p17"/>
          <p:cNvSpPr/>
          <p:nvPr/>
        </p:nvSpPr>
        <p:spPr>
          <a:xfrm>
            <a:off x="5347714" y="3282696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" name="Google Shape;552;p17"/>
          <p:cNvSpPr/>
          <p:nvPr/>
        </p:nvSpPr>
        <p:spPr>
          <a:xfrm>
            <a:off x="5347714" y="3282696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17"/>
          <p:cNvSpPr/>
          <p:nvPr/>
        </p:nvSpPr>
        <p:spPr>
          <a:xfrm>
            <a:off x="5860284" y="3255264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리뷰 상황 스티커(이모티콘)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17"/>
          <p:cNvSpPr/>
          <p:nvPr/>
        </p:nvSpPr>
        <p:spPr>
          <a:xfrm>
            <a:off x="5347714" y="3502152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리뷰 글의 고정 항목(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별점, 주차 등)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을 스티커(이모티콘)로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세트 제작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17"/>
          <p:cNvSpPr/>
          <p:nvPr/>
        </p:nvSpPr>
        <p:spPr>
          <a:xfrm>
            <a:off x="9306875" y="327355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" name="Google Shape;556;p17"/>
          <p:cNvSpPr/>
          <p:nvPr/>
        </p:nvSpPr>
        <p:spPr>
          <a:xfrm>
            <a:off x="9306875" y="327355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재방문 의사 100%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17"/>
          <p:cNvSpPr/>
          <p:nvPr/>
        </p:nvSpPr>
        <p:spPr>
          <a:xfrm>
            <a:off x="10349689" y="327355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8" name="Google Shape;558;p17"/>
          <p:cNvSpPr/>
          <p:nvPr/>
        </p:nvSpPr>
        <p:spPr>
          <a:xfrm>
            <a:off x="10349689" y="327355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lang="en-US" sz="750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별점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17"/>
          <p:cNvSpPr/>
          <p:nvPr/>
        </p:nvSpPr>
        <p:spPr>
          <a:xfrm>
            <a:off x="9306875" y="352958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" name="Google Shape;560;p17"/>
          <p:cNvSpPr/>
          <p:nvPr/>
        </p:nvSpPr>
        <p:spPr>
          <a:xfrm>
            <a:off x="9306875" y="352958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주차 가능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17"/>
          <p:cNvSpPr/>
          <p:nvPr/>
        </p:nvSpPr>
        <p:spPr>
          <a:xfrm>
            <a:off x="10349689" y="352958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p17"/>
          <p:cNvSpPr/>
          <p:nvPr/>
        </p:nvSpPr>
        <p:spPr>
          <a:xfrm>
            <a:off x="10349689" y="352958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가성비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17"/>
          <p:cNvSpPr/>
          <p:nvPr/>
        </p:nvSpPr>
        <p:spPr>
          <a:xfrm>
            <a:off x="822960" y="3867912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17"/>
          <p:cNvSpPr/>
          <p:nvPr/>
        </p:nvSpPr>
        <p:spPr>
          <a:xfrm>
            <a:off x="946683" y="3986784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565" name="Google Shape;565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35057" y="4078224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566" name="Google Shape;566;p17"/>
          <p:cNvSpPr/>
          <p:nvPr/>
        </p:nvSpPr>
        <p:spPr>
          <a:xfrm>
            <a:off x="1423903" y="3950208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p17"/>
          <p:cNvSpPr/>
          <p:nvPr/>
        </p:nvSpPr>
        <p:spPr>
          <a:xfrm>
            <a:off x="1423903" y="3950208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첫인상이 중요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17"/>
          <p:cNvSpPr/>
          <p:nvPr/>
        </p:nvSpPr>
        <p:spPr>
          <a:xfrm>
            <a:off x="1423903" y="4142232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개인화 피드 시대,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블로그 첫인상이 이탈률을 좌우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17"/>
          <p:cNvSpPr/>
          <p:nvPr/>
        </p:nvSpPr>
        <p:spPr>
          <a:xfrm>
            <a:off x="4897006" y="4069080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p17"/>
          <p:cNvSpPr/>
          <p:nvPr/>
        </p:nvSpPr>
        <p:spPr>
          <a:xfrm>
            <a:off x="5241665" y="3867912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7"/>
          <p:cNvSpPr/>
          <p:nvPr/>
        </p:nvSpPr>
        <p:spPr>
          <a:xfrm>
            <a:off x="5347714" y="3950208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2" name="Google Shape;572;p17"/>
          <p:cNvSpPr/>
          <p:nvPr/>
        </p:nvSpPr>
        <p:spPr>
          <a:xfrm>
            <a:off x="5347714" y="3950208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17"/>
          <p:cNvSpPr/>
          <p:nvPr/>
        </p:nvSpPr>
        <p:spPr>
          <a:xfrm>
            <a:off x="5860284" y="3922776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블로그 꾸미기(블꾸)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17"/>
          <p:cNvSpPr/>
          <p:nvPr/>
        </p:nvSpPr>
        <p:spPr>
          <a:xfrm>
            <a:off x="5347714" y="4169664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포스팅 내용 및 블로그를 꾸며주는 요소를 모아 하나의 세트로 제작 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17"/>
          <p:cNvSpPr/>
          <p:nvPr/>
        </p:nvSpPr>
        <p:spPr>
          <a:xfrm>
            <a:off x="9306875" y="394106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7"/>
          <p:cNvSpPr/>
          <p:nvPr/>
        </p:nvSpPr>
        <p:spPr>
          <a:xfrm>
            <a:off x="9306875" y="394106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오늘의 포스팅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17"/>
          <p:cNvSpPr/>
          <p:nvPr/>
        </p:nvSpPr>
        <p:spPr>
          <a:xfrm>
            <a:off x="10349689" y="394106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8" name="Google Shape;578;p17"/>
          <p:cNvSpPr/>
          <p:nvPr/>
        </p:nvSpPr>
        <p:spPr>
          <a:xfrm>
            <a:off x="10349689" y="394106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TIP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17"/>
          <p:cNvSpPr/>
          <p:nvPr/>
        </p:nvSpPr>
        <p:spPr>
          <a:xfrm>
            <a:off x="9306875" y="419709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" name="Google Shape;580;p17"/>
          <p:cNvSpPr/>
          <p:nvPr/>
        </p:nvSpPr>
        <p:spPr>
          <a:xfrm>
            <a:off x="9306875" y="419709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정보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17"/>
          <p:cNvSpPr/>
          <p:nvPr/>
        </p:nvSpPr>
        <p:spPr>
          <a:xfrm>
            <a:off x="10349689" y="419709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Google Shape;582;p17"/>
          <p:cNvSpPr/>
          <p:nvPr/>
        </p:nvSpPr>
        <p:spPr>
          <a:xfrm>
            <a:off x="10349689" y="419709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체크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17"/>
          <p:cNvSpPr/>
          <p:nvPr/>
        </p:nvSpPr>
        <p:spPr>
          <a:xfrm>
            <a:off x="822960" y="4535424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p17"/>
          <p:cNvSpPr/>
          <p:nvPr/>
        </p:nvSpPr>
        <p:spPr>
          <a:xfrm>
            <a:off x="946683" y="4654296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585" name="Google Shape;585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35057" y="4745736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586" name="Google Shape;586;p17"/>
          <p:cNvSpPr/>
          <p:nvPr/>
        </p:nvSpPr>
        <p:spPr>
          <a:xfrm>
            <a:off x="1423903" y="4617720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" name="Google Shape;587;p17"/>
          <p:cNvSpPr/>
          <p:nvPr/>
        </p:nvSpPr>
        <p:spPr>
          <a:xfrm>
            <a:off x="1423903" y="4617720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일상·감성 꾸준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17"/>
          <p:cNvSpPr/>
          <p:nvPr/>
        </p:nvSpPr>
        <p:spPr>
          <a:xfrm>
            <a:off x="1423903" y="4809744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 기록·감성 글은 꾸준하고,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캐릭터가 블로그 상황을 연기하는 방식 확산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" name="Google Shape;589;p17"/>
          <p:cNvSpPr/>
          <p:nvPr/>
        </p:nvSpPr>
        <p:spPr>
          <a:xfrm>
            <a:off x="4897006" y="4736592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0" name="Google Shape;590;p17"/>
          <p:cNvSpPr/>
          <p:nvPr/>
        </p:nvSpPr>
        <p:spPr>
          <a:xfrm>
            <a:off x="5241665" y="4535424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17"/>
          <p:cNvSpPr/>
          <p:nvPr/>
        </p:nvSpPr>
        <p:spPr>
          <a:xfrm>
            <a:off x="5347714" y="4617720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2" name="Google Shape;592;p17"/>
          <p:cNvSpPr/>
          <p:nvPr/>
        </p:nvSpPr>
        <p:spPr>
          <a:xfrm>
            <a:off x="5347714" y="4617720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17"/>
          <p:cNvSpPr/>
          <p:nvPr/>
        </p:nvSpPr>
        <p:spPr>
          <a:xfrm>
            <a:off x="5860284" y="4590288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‘블로거인 캐릭터’ 시리즈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17"/>
          <p:cNvSpPr/>
          <p:nvPr/>
        </p:nvSpPr>
        <p:spPr>
          <a:xfrm>
            <a:off x="5347714" y="4837176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귀여운 캐릭터 하나를 정하고 리뷰편·일상편·근황편으로 이어가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는 시리즈 제작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7"/>
          <p:cNvSpPr/>
          <p:nvPr/>
        </p:nvSpPr>
        <p:spPr>
          <a:xfrm>
            <a:off x="9306875" y="460857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6" name="Google Shape;596;p17"/>
          <p:cNvSpPr/>
          <p:nvPr/>
        </p:nvSpPr>
        <p:spPr>
          <a:xfrm>
            <a:off x="9306875" y="460857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오늘도 기록 완료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7"/>
          <p:cNvSpPr/>
          <p:nvPr/>
        </p:nvSpPr>
        <p:spPr>
          <a:xfrm>
            <a:off x="10349689" y="460857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8" name="Google Shape;598;p17"/>
          <p:cNvSpPr/>
          <p:nvPr/>
        </p:nvSpPr>
        <p:spPr>
          <a:xfrm>
            <a:off x="10349689" y="460857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포스팅 밀림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7"/>
          <p:cNvSpPr/>
          <p:nvPr/>
        </p:nvSpPr>
        <p:spPr>
          <a:xfrm>
            <a:off x="9306875" y="486460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0" name="Google Shape;600;p17"/>
          <p:cNvSpPr/>
          <p:nvPr/>
        </p:nvSpPr>
        <p:spPr>
          <a:xfrm>
            <a:off x="9306875" y="486460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이웃 방문 감사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17"/>
          <p:cNvSpPr/>
          <p:nvPr/>
        </p:nvSpPr>
        <p:spPr>
          <a:xfrm>
            <a:off x="10349689" y="486460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2" name="Google Shape;602;p17"/>
          <p:cNvSpPr/>
          <p:nvPr/>
        </p:nvSpPr>
        <p:spPr>
          <a:xfrm>
            <a:off x="10349689" y="486460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블태기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17"/>
          <p:cNvSpPr/>
          <p:nvPr/>
        </p:nvSpPr>
        <p:spPr>
          <a:xfrm>
            <a:off x="822960" y="5202936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7"/>
          <p:cNvSpPr/>
          <p:nvPr/>
        </p:nvSpPr>
        <p:spPr>
          <a:xfrm>
            <a:off x="946683" y="5321808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605" name="Google Shape;605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35057" y="5413248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606" name="Google Shape;606;p17"/>
          <p:cNvSpPr/>
          <p:nvPr/>
        </p:nvSpPr>
        <p:spPr>
          <a:xfrm>
            <a:off x="1423903" y="5285232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17"/>
          <p:cNvSpPr/>
          <p:nvPr/>
        </p:nvSpPr>
        <p:spPr>
          <a:xfrm>
            <a:off x="1423903" y="5285232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틈새 · 숏폼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17"/>
          <p:cNvSpPr/>
          <p:nvPr/>
        </p:nvSpPr>
        <p:spPr>
          <a:xfrm>
            <a:off x="1423903" y="5477256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밈·유머는 공급이 적고 수요는 큼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클립(숏폼) 삽입 포스팅 증가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" name="Google Shape;609;p17"/>
          <p:cNvSpPr/>
          <p:nvPr/>
        </p:nvSpPr>
        <p:spPr>
          <a:xfrm>
            <a:off x="4897006" y="5404104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0" name="Google Shape;610;p17"/>
          <p:cNvSpPr/>
          <p:nvPr/>
        </p:nvSpPr>
        <p:spPr>
          <a:xfrm>
            <a:off x="5241665" y="5202936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p17"/>
          <p:cNvSpPr/>
          <p:nvPr/>
        </p:nvSpPr>
        <p:spPr>
          <a:xfrm>
            <a:off x="5347714" y="5285232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2" name="Google Shape;612;p17"/>
          <p:cNvSpPr/>
          <p:nvPr/>
        </p:nvSpPr>
        <p:spPr>
          <a:xfrm>
            <a:off x="5347714" y="5285232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7"/>
          <p:cNvSpPr/>
          <p:nvPr/>
        </p:nvSpPr>
        <p:spPr>
          <a:xfrm>
            <a:off x="5860284" y="5257800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블로거 밈 리액션 · 클립 안내형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17"/>
          <p:cNvSpPr/>
          <p:nvPr/>
        </p:nvSpPr>
        <p:spPr>
          <a:xfrm>
            <a:off x="5347714" y="5504688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블로거끼리 통하는 상황 개그, 영상 삽입 글용 안내 스티커(이모티콘)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7"/>
          <p:cNvSpPr/>
          <p:nvPr/>
        </p:nvSpPr>
        <p:spPr>
          <a:xfrm>
            <a:off x="9306875" y="527608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6" name="Google Shape;616;p17"/>
          <p:cNvSpPr/>
          <p:nvPr/>
        </p:nvSpPr>
        <p:spPr>
          <a:xfrm>
            <a:off x="9306875" y="527608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품절 대란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7"/>
          <p:cNvSpPr/>
          <p:nvPr/>
        </p:nvSpPr>
        <p:spPr>
          <a:xfrm>
            <a:off x="10349689" y="527608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8" name="Google Shape;618;p17"/>
          <p:cNvSpPr/>
          <p:nvPr/>
        </p:nvSpPr>
        <p:spPr>
          <a:xfrm>
            <a:off x="10349689" y="527608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포스팅 지옥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7"/>
          <p:cNvSpPr/>
          <p:nvPr/>
        </p:nvSpPr>
        <p:spPr>
          <a:xfrm>
            <a:off x="9306875" y="553212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0" name="Google Shape;620;p17"/>
          <p:cNvSpPr/>
          <p:nvPr/>
        </p:nvSpPr>
        <p:spPr>
          <a:xfrm>
            <a:off x="9306875" y="553212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영상으로 보기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17"/>
          <p:cNvSpPr/>
          <p:nvPr/>
        </p:nvSpPr>
        <p:spPr>
          <a:xfrm>
            <a:off x="10349689" y="553212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2" name="Google Shape;622;p17"/>
          <p:cNvSpPr/>
          <p:nvPr/>
        </p:nvSpPr>
        <p:spPr>
          <a:xfrm>
            <a:off x="10349689" y="553212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클립 확인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17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4" name="Google Shape;624;p17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주제 선정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많이 사용하는 사용처의 트렌드를 참고하여 주제를 선정해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p17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p18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32" name="Google Shape;632;p18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8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이미지 구성하기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" name="Google Shape;634;p18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5" name="Google Shape;635;p18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24종 이미지의 순서는 ‘블로그 </a:t>
            </a:r>
            <a:r>
              <a:rPr b="1" lang="en-US" sz="2200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포스팅</a:t>
            </a: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’ 순서로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18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블로그 이용자의 사용 패턴을 참고하여 스티커(이모티콘)를 구성해 보세요.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" name="Google Shape;637;p18"/>
          <p:cNvSpPr/>
          <p:nvPr/>
        </p:nvSpPr>
        <p:spPr>
          <a:xfrm>
            <a:off x="822960" y="2148840"/>
            <a:ext cx="5302446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18"/>
          <p:cNvSpPr/>
          <p:nvPr/>
        </p:nvSpPr>
        <p:spPr>
          <a:xfrm>
            <a:off x="822960" y="2148840"/>
            <a:ext cx="530244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 순서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" name="Google Shape;639;p18"/>
          <p:cNvSpPr/>
          <p:nvPr/>
        </p:nvSpPr>
        <p:spPr>
          <a:xfrm>
            <a:off x="822960" y="2569464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18"/>
          <p:cNvSpPr/>
          <p:nvPr/>
        </p:nvSpPr>
        <p:spPr>
          <a:xfrm>
            <a:off x="929008" y="2660904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18"/>
          <p:cNvSpPr/>
          <p:nvPr/>
        </p:nvSpPr>
        <p:spPr>
          <a:xfrm>
            <a:off x="929008" y="2660904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도입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1~4번 · 4장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18"/>
          <p:cNvSpPr/>
          <p:nvPr/>
        </p:nvSpPr>
        <p:spPr>
          <a:xfrm>
            <a:off x="2060197" y="2671071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글을 여는 장면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" name="Google Shape;643;p18"/>
          <p:cNvSpPr/>
          <p:nvPr/>
        </p:nvSpPr>
        <p:spPr>
          <a:xfrm>
            <a:off x="2060197" y="2916936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안녕하세요 · 오늘의 포스팅 · 시작합니다 · 목차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" name="Google Shape;644;p18"/>
          <p:cNvSpPr/>
          <p:nvPr/>
        </p:nvSpPr>
        <p:spPr>
          <a:xfrm>
            <a:off x="1353204" y="3154680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5" name="Google Shape;645;p18"/>
          <p:cNvSpPr/>
          <p:nvPr/>
        </p:nvSpPr>
        <p:spPr>
          <a:xfrm>
            <a:off x="822960" y="3246120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6" name="Google Shape;646;p18"/>
          <p:cNvSpPr/>
          <p:nvPr/>
        </p:nvSpPr>
        <p:spPr>
          <a:xfrm>
            <a:off x="929008" y="3337560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7" name="Google Shape;647;p18"/>
          <p:cNvSpPr/>
          <p:nvPr/>
        </p:nvSpPr>
        <p:spPr>
          <a:xfrm>
            <a:off x="929008" y="3337560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본문 진행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5~12번 · 8장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" name="Google Shape;648;p18"/>
          <p:cNvSpPr/>
          <p:nvPr/>
        </p:nvSpPr>
        <p:spPr>
          <a:xfrm>
            <a:off x="2060197" y="3347727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이동·도착·정보·팁·사진 안내처럼 글 중간중간 끼우는 상황 스티커(이모티콘) 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" name="Google Shape;649;p18"/>
          <p:cNvSpPr/>
          <p:nvPr/>
        </p:nvSpPr>
        <p:spPr>
          <a:xfrm>
            <a:off x="2060197" y="3593592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도착 · 정보 · TIP · 체크 · 사진 보기 · 잠깐 · 기록 중 · 다음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" name="Google Shape;650;p18"/>
          <p:cNvSpPr/>
          <p:nvPr/>
        </p:nvSpPr>
        <p:spPr>
          <a:xfrm>
            <a:off x="1353204" y="3831336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1" name="Google Shape;651;p18"/>
          <p:cNvSpPr/>
          <p:nvPr/>
        </p:nvSpPr>
        <p:spPr>
          <a:xfrm>
            <a:off x="822960" y="3922776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2" name="Google Shape;652;p18"/>
          <p:cNvSpPr/>
          <p:nvPr/>
        </p:nvSpPr>
        <p:spPr>
          <a:xfrm>
            <a:off x="929008" y="4014216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3" name="Google Shape;653;p18"/>
          <p:cNvSpPr/>
          <p:nvPr/>
        </p:nvSpPr>
        <p:spPr>
          <a:xfrm>
            <a:off x="929008" y="4014216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리액션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13~18번 · 6장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4" name="Google Shape;654;p18"/>
          <p:cNvSpPr/>
          <p:nvPr/>
        </p:nvSpPr>
        <p:spPr>
          <a:xfrm>
            <a:off x="2060197" y="4024383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본문 사건에 대한 반응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" name="Google Shape;655;p18"/>
          <p:cNvSpPr/>
          <p:nvPr/>
        </p:nvSpPr>
        <p:spPr>
          <a:xfrm>
            <a:off x="2060197" y="4270248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대박 · 최고 · 뿌듯 · 헉 · 피곤 · 당황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" name="Google Shape;656;p18"/>
          <p:cNvSpPr/>
          <p:nvPr/>
        </p:nvSpPr>
        <p:spPr>
          <a:xfrm>
            <a:off x="1353204" y="4507992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7" name="Google Shape;657;p18"/>
          <p:cNvSpPr/>
          <p:nvPr/>
        </p:nvSpPr>
        <p:spPr>
          <a:xfrm>
            <a:off x="822960" y="4599432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8" name="Google Shape;658;p18"/>
          <p:cNvSpPr/>
          <p:nvPr/>
        </p:nvSpPr>
        <p:spPr>
          <a:xfrm>
            <a:off x="929008" y="4690872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9" name="Google Shape;659;p18"/>
          <p:cNvSpPr/>
          <p:nvPr/>
        </p:nvSpPr>
        <p:spPr>
          <a:xfrm>
            <a:off x="929008" y="4690872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판단·정리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19~22번 · 4장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0" name="Google Shape;660;p18"/>
          <p:cNvSpPr/>
          <p:nvPr/>
        </p:nvSpPr>
        <p:spPr>
          <a:xfrm>
            <a:off x="2060197" y="4701039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리뷰 글의 결론 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1" name="Google Shape;661;p18"/>
          <p:cNvSpPr/>
          <p:nvPr/>
        </p:nvSpPr>
        <p:spPr>
          <a:xfrm>
            <a:off x="2060197" y="4946904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재방문 의사 100% · 패스 · 고민 중 · 총평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" name="Google Shape;662;p18"/>
          <p:cNvSpPr/>
          <p:nvPr/>
        </p:nvSpPr>
        <p:spPr>
          <a:xfrm>
            <a:off x="1353204" y="5184648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3" name="Google Shape;663;p18"/>
          <p:cNvSpPr/>
          <p:nvPr/>
        </p:nvSpPr>
        <p:spPr>
          <a:xfrm>
            <a:off x="822960" y="5276088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8"/>
          <p:cNvSpPr/>
          <p:nvPr/>
        </p:nvSpPr>
        <p:spPr>
          <a:xfrm>
            <a:off x="929008" y="5367528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5" name="Google Shape;665;p18"/>
          <p:cNvSpPr/>
          <p:nvPr/>
        </p:nvSpPr>
        <p:spPr>
          <a:xfrm>
            <a:off x="929008" y="5367528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마무리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23~24번 · 2장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" name="Google Shape;666;p18"/>
          <p:cNvSpPr/>
          <p:nvPr/>
        </p:nvSpPr>
        <p:spPr>
          <a:xfrm>
            <a:off x="2060197" y="5377695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글을 닫는 인사. 댓글 답글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내용 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" name="Google Shape;667;p18"/>
          <p:cNvSpPr/>
          <p:nvPr/>
        </p:nvSpPr>
        <p:spPr>
          <a:xfrm>
            <a:off x="2060197" y="5623560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감사합니다 · 다음 포스팅에서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" name="Google Shape;668;p18"/>
          <p:cNvSpPr/>
          <p:nvPr/>
        </p:nvSpPr>
        <p:spPr>
          <a:xfrm>
            <a:off x="6390529" y="2148840"/>
            <a:ext cx="4975462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9" name="Google Shape;669;p18"/>
          <p:cNvSpPr/>
          <p:nvPr/>
        </p:nvSpPr>
        <p:spPr>
          <a:xfrm>
            <a:off x="6390529" y="2148840"/>
            <a:ext cx="497546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24칸 배치도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" name="Google Shape;670;p18"/>
          <p:cNvSpPr/>
          <p:nvPr/>
        </p:nvSpPr>
        <p:spPr>
          <a:xfrm>
            <a:off x="6478903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1" name="Google Shape;671;p18"/>
          <p:cNvSpPr/>
          <p:nvPr/>
        </p:nvSpPr>
        <p:spPr>
          <a:xfrm>
            <a:off x="6478903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도입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18"/>
          <p:cNvSpPr/>
          <p:nvPr/>
        </p:nvSpPr>
        <p:spPr>
          <a:xfrm>
            <a:off x="7159384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3" name="Google Shape;673;p18"/>
          <p:cNvSpPr/>
          <p:nvPr/>
        </p:nvSpPr>
        <p:spPr>
          <a:xfrm>
            <a:off x="7159384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" name="Google Shape;674;p18"/>
          <p:cNvSpPr/>
          <p:nvPr/>
        </p:nvSpPr>
        <p:spPr>
          <a:xfrm>
            <a:off x="7839864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18"/>
          <p:cNvSpPr/>
          <p:nvPr/>
        </p:nvSpPr>
        <p:spPr>
          <a:xfrm>
            <a:off x="7839864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6" name="Google Shape;676;p18"/>
          <p:cNvSpPr/>
          <p:nvPr/>
        </p:nvSpPr>
        <p:spPr>
          <a:xfrm>
            <a:off x="8520345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7" name="Google Shape;677;p18"/>
          <p:cNvSpPr/>
          <p:nvPr/>
        </p:nvSpPr>
        <p:spPr>
          <a:xfrm>
            <a:off x="8520345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" name="Google Shape;678;p18"/>
          <p:cNvSpPr/>
          <p:nvPr/>
        </p:nvSpPr>
        <p:spPr>
          <a:xfrm>
            <a:off x="9200826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18"/>
          <p:cNvSpPr/>
          <p:nvPr/>
        </p:nvSpPr>
        <p:spPr>
          <a:xfrm>
            <a:off x="9200826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본문 진행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18"/>
          <p:cNvSpPr/>
          <p:nvPr/>
        </p:nvSpPr>
        <p:spPr>
          <a:xfrm>
            <a:off x="9881306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18"/>
          <p:cNvSpPr/>
          <p:nvPr/>
        </p:nvSpPr>
        <p:spPr>
          <a:xfrm>
            <a:off x="9881306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18"/>
          <p:cNvSpPr/>
          <p:nvPr/>
        </p:nvSpPr>
        <p:spPr>
          <a:xfrm>
            <a:off x="6478903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18"/>
          <p:cNvSpPr/>
          <p:nvPr/>
        </p:nvSpPr>
        <p:spPr>
          <a:xfrm>
            <a:off x="6478903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" name="Google Shape;684;p18"/>
          <p:cNvSpPr/>
          <p:nvPr/>
        </p:nvSpPr>
        <p:spPr>
          <a:xfrm>
            <a:off x="7159384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18"/>
          <p:cNvSpPr/>
          <p:nvPr/>
        </p:nvSpPr>
        <p:spPr>
          <a:xfrm>
            <a:off x="7159384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" name="Google Shape;686;p18"/>
          <p:cNvSpPr/>
          <p:nvPr/>
        </p:nvSpPr>
        <p:spPr>
          <a:xfrm>
            <a:off x="7839864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18"/>
          <p:cNvSpPr/>
          <p:nvPr/>
        </p:nvSpPr>
        <p:spPr>
          <a:xfrm>
            <a:off x="7839864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" name="Google Shape;688;p18"/>
          <p:cNvSpPr/>
          <p:nvPr/>
        </p:nvSpPr>
        <p:spPr>
          <a:xfrm>
            <a:off x="8520345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18"/>
          <p:cNvSpPr/>
          <p:nvPr/>
        </p:nvSpPr>
        <p:spPr>
          <a:xfrm>
            <a:off x="8520345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0" name="Google Shape;690;p18"/>
          <p:cNvSpPr/>
          <p:nvPr/>
        </p:nvSpPr>
        <p:spPr>
          <a:xfrm>
            <a:off x="9200826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18"/>
          <p:cNvSpPr/>
          <p:nvPr/>
        </p:nvSpPr>
        <p:spPr>
          <a:xfrm>
            <a:off x="9200826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" name="Google Shape;692;p18"/>
          <p:cNvSpPr/>
          <p:nvPr/>
        </p:nvSpPr>
        <p:spPr>
          <a:xfrm>
            <a:off x="9881306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18"/>
          <p:cNvSpPr/>
          <p:nvPr/>
        </p:nvSpPr>
        <p:spPr>
          <a:xfrm>
            <a:off x="9881306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" name="Google Shape;694;p18"/>
          <p:cNvSpPr/>
          <p:nvPr/>
        </p:nvSpPr>
        <p:spPr>
          <a:xfrm>
            <a:off x="6478903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5" name="Google Shape;695;p18"/>
          <p:cNvSpPr/>
          <p:nvPr/>
        </p:nvSpPr>
        <p:spPr>
          <a:xfrm>
            <a:off x="6478903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리액션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" name="Google Shape;696;p18"/>
          <p:cNvSpPr/>
          <p:nvPr/>
        </p:nvSpPr>
        <p:spPr>
          <a:xfrm>
            <a:off x="7159384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7" name="Google Shape;697;p18"/>
          <p:cNvSpPr/>
          <p:nvPr/>
        </p:nvSpPr>
        <p:spPr>
          <a:xfrm>
            <a:off x="7159384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" name="Google Shape;698;p18"/>
          <p:cNvSpPr/>
          <p:nvPr/>
        </p:nvSpPr>
        <p:spPr>
          <a:xfrm>
            <a:off x="7839864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p18"/>
          <p:cNvSpPr/>
          <p:nvPr/>
        </p:nvSpPr>
        <p:spPr>
          <a:xfrm>
            <a:off x="7839864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" name="Google Shape;700;p18"/>
          <p:cNvSpPr/>
          <p:nvPr/>
        </p:nvSpPr>
        <p:spPr>
          <a:xfrm>
            <a:off x="8520345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18"/>
          <p:cNvSpPr/>
          <p:nvPr/>
        </p:nvSpPr>
        <p:spPr>
          <a:xfrm>
            <a:off x="8520345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" name="Google Shape;702;p18"/>
          <p:cNvSpPr/>
          <p:nvPr/>
        </p:nvSpPr>
        <p:spPr>
          <a:xfrm>
            <a:off x="9200826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3" name="Google Shape;703;p18"/>
          <p:cNvSpPr/>
          <p:nvPr/>
        </p:nvSpPr>
        <p:spPr>
          <a:xfrm>
            <a:off x="9200826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" name="Google Shape;704;p18"/>
          <p:cNvSpPr/>
          <p:nvPr/>
        </p:nvSpPr>
        <p:spPr>
          <a:xfrm>
            <a:off x="9881306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18"/>
          <p:cNvSpPr/>
          <p:nvPr/>
        </p:nvSpPr>
        <p:spPr>
          <a:xfrm>
            <a:off x="9881306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6" name="Google Shape;706;p18"/>
          <p:cNvSpPr/>
          <p:nvPr/>
        </p:nvSpPr>
        <p:spPr>
          <a:xfrm>
            <a:off x="6478903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18"/>
          <p:cNvSpPr/>
          <p:nvPr/>
        </p:nvSpPr>
        <p:spPr>
          <a:xfrm>
            <a:off x="6478903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판단·정리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" name="Google Shape;708;p18"/>
          <p:cNvSpPr/>
          <p:nvPr/>
        </p:nvSpPr>
        <p:spPr>
          <a:xfrm>
            <a:off x="7159384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18"/>
          <p:cNvSpPr/>
          <p:nvPr/>
        </p:nvSpPr>
        <p:spPr>
          <a:xfrm>
            <a:off x="7159384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" name="Google Shape;710;p18"/>
          <p:cNvSpPr/>
          <p:nvPr/>
        </p:nvSpPr>
        <p:spPr>
          <a:xfrm>
            <a:off x="7839864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18"/>
          <p:cNvSpPr/>
          <p:nvPr/>
        </p:nvSpPr>
        <p:spPr>
          <a:xfrm>
            <a:off x="7839864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" name="Google Shape;712;p18"/>
          <p:cNvSpPr/>
          <p:nvPr/>
        </p:nvSpPr>
        <p:spPr>
          <a:xfrm>
            <a:off x="8520345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18"/>
          <p:cNvSpPr/>
          <p:nvPr/>
        </p:nvSpPr>
        <p:spPr>
          <a:xfrm>
            <a:off x="8520345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" name="Google Shape;714;p18"/>
          <p:cNvSpPr/>
          <p:nvPr/>
        </p:nvSpPr>
        <p:spPr>
          <a:xfrm>
            <a:off x="9200826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18"/>
          <p:cNvSpPr/>
          <p:nvPr/>
        </p:nvSpPr>
        <p:spPr>
          <a:xfrm>
            <a:off x="9200826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마무리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6" name="Google Shape;716;p18"/>
          <p:cNvSpPr/>
          <p:nvPr/>
        </p:nvSpPr>
        <p:spPr>
          <a:xfrm>
            <a:off x="9881306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7" name="Google Shape;717;p18"/>
          <p:cNvSpPr/>
          <p:nvPr/>
        </p:nvSpPr>
        <p:spPr>
          <a:xfrm>
            <a:off x="9881306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" name="Google Shape;718;p18"/>
          <p:cNvSpPr/>
          <p:nvPr/>
        </p:nvSpPr>
        <p:spPr>
          <a:xfrm>
            <a:off x="6443553" y="2532888"/>
            <a:ext cx="2748434" cy="457200"/>
          </a:xfrm>
          <a:prstGeom prst="roundRect">
            <a:avLst>
              <a:gd fmla="val 12000" name="adj"/>
            </a:avLst>
          </a:prstGeom>
          <a:noFill/>
          <a:ln cap="flat" cmpd="sng" w="19050">
            <a:solidFill>
              <a:srgbClr val="E0632F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9" name="Google Shape;719;p18"/>
          <p:cNvSpPr/>
          <p:nvPr/>
        </p:nvSpPr>
        <p:spPr>
          <a:xfrm>
            <a:off x="10579462" y="2551176"/>
            <a:ext cx="883741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◀ 1~4번 이미지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선택의 첫인상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" name="Google Shape;720;p18"/>
          <p:cNvSpPr/>
          <p:nvPr/>
        </p:nvSpPr>
        <p:spPr>
          <a:xfrm>
            <a:off x="6390529" y="4398264"/>
            <a:ext cx="497546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 규칙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" name="Google Shape;721;p18"/>
          <p:cNvSpPr/>
          <p:nvPr/>
        </p:nvSpPr>
        <p:spPr>
          <a:xfrm>
            <a:off x="6390529" y="46177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1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1~4번 도입 이미지 장면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먼저 보이는 자리. 세트의 핵심 용도(리뷰·인사)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" name="Google Shape;722;p18"/>
          <p:cNvSpPr/>
          <p:nvPr/>
        </p:nvSpPr>
        <p:spPr>
          <a:xfrm>
            <a:off x="6390529" y="48463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2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같은 구간은 붙여서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감정끼리, 정보끼리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배치해야 사용성 높음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" name="Google Shape;723;p18"/>
          <p:cNvSpPr/>
          <p:nvPr/>
        </p:nvSpPr>
        <p:spPr>
          <a:xfrm>
            <a:off x="6390529" y="50749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3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긍정·부정은 짝으로 나란히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‘대박’ 옆에 ‘헉’, ‘추천’ 옆에 ‘패스’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 선택지 옆에 배치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" name="Google Shape;724;p18"/>
          <p:cNvSpPr/>
          <p:nvPr/>
        </p:nvSpPr>
        <p:spPr>
          <a:xfrm>
            <a:off x="6390529" y="53035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4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마지막 장은 항상 인사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글 닫는 문구. 댓글·답글에 자주 재사용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" name="Google Shape;725;p18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6" name="Google Shape;726;p18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이미지 구성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입장에서 어떤 용도로 어떻게 사용할지를 전략적으로 구상해 보세요.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p18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19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34" name="Google Shape;734;p19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35" name="Google Shape;735;p19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 전략 세우기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19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7" name="Google Shape;737;p19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블로그 작성 시간에 스티커(이모티콘) 구매까지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19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통해 </a:t>
            </a:r>
            <a:r>
              <a:rPr lang="en-US" sz="11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원하는 시간에 출시 예약을 설정할 수 있습니다. </a:t>
            </a: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전략적으로 이용해 보세요.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" name="Google Shape;739;p19"/>
          <p:cNvSpPr/>
          <p:nvPr/>
        </p:nvSpPr>
        <p:spPr>
          <a:xfrm>
            <a:off x="822960" y="2148840"/>
            <a:ext cx="5655943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0" name="Google Shape;740;p19"/>
          <p:cNvSpPr/>
          <p:nvPr/>
        </p:nvSpPr>
        <p:spPr>
          <a:xfrm>
            <a:off x="822960" y="2148840"/>
            <a:ext cx="5655943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시간대별 매출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41" name="Google Shape;741;p19"/>
          <p:cNvCxnSpPr/>
          <p:nvPr/>
        </p:nvCxnSpPr>
        <p:spPr>
          <a:xfrm>
            <a:off x="955521" y="4526280"/>
            <a:ext cx="5390821" cy="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2" name="Google Shape;742;p19"/>
          <p:cNvSpPr/>
          <p:nvPr/>
        </p:nvSpPr>
        <p:spPr>
          <a:xfrm>
            <a:off x="998198" y="3511296"/>
            <a:ext cx="139262" cy="1014984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3" name="Google Shape;743;p19"/>
          <p:cNvSpPr/>
          <p:nvPr/>
        </p:nvSpPr>
        <p:spPr>
          <a:xfrm>
            <a:off x="95552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" name="Google Shape;744;p19"/>
          <p:cNvSpPr/>
          <p:nvPr/>
        </p:nvSpPr>
        <p:spPr>
          <a:xfrm>
            <a:off x="1222816" y="3827069"/>
            <a:ext cx="139262" cy="699211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5" name="Google Shape;745;p19"/>
          <p:cNvSpPr/>
          <p:nvPr/>
        </p:nvSpPr>
        <p:spPr>
          <a:xfrm>
            <a:off x="1180138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19"/>
          <p:cNvSpPr/>
          <p:nvPr/>
        </p:nvSpPr>
        <p:spPr>
          <a:xfrm>
            <a:off x="1447433" y="4097731"/>
            <a:ext cx="139262" cy="428549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7" name="Google Shape;747;p19"/>
          <p:cNvSpPr/>
          <p:nvPr/>
        </p:nvSpPr>
        <p:spPr>
          <a:xfrm>
            <a:off x="140475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" name="Google Shape;748;p19"/>
          <p:cNvSpPr/>
          <p:nvPr/>
        </p:nvSpPr>
        <p:spPr>
          <a:xfrm>
            <a:off x="1672051" y="4233062"/>
            <a:ext cx="139262" cy="293218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9" name="Google Shape;749;p19"/>
          <p:cNvSpPr/>
          <p:nvPr/>
        </p:nvSpPr>
        <p:spPr>
          <a:xfrm>
            <a:off x="1629373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" name="Google Shape;750;p19"/>
          <p:cNvSpPr/>
          <p:nvPr/>
        </p:nvSpPr>
        <p:spPr>
          <a:xfrm>
            <a:off x="1896668" y="4323283"/>
            <a:ext cx="139262" cy="202997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1" name="Google Shape;751;p19"/>
          <p:cNvSpPr/>
          <p:nvPr/>
        </p:nvSpPr>
        <p:spPr>
          <a:xfrm>
            <a:off x="185399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2" name="Google Shape;752;p19"/>
          <p:cNvSpPr/>
          <p:nvPr/>
        </p:nvSpPr>
        <p:spPr>
          <a:xfrm>
            <a:off x="2121286" y="4390949"/>
            <a:ext cx="139262" cy="135331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3" name="Google Shape;753;p19"/>
          <p:cNvSpPr/>
          <p:nvPr/>
        </p:nvSpPr>
        <p:spPr>
          <a:xfrm>
            <a:off x="2078608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4" name="Google Shape;754;p19"/>
          <p:cNvSpPr/>
          <p:nvPr/>
        </p:nvSpPr>
        <p:spPr>
          <a:xfrm>
            <a:off x="1990234" y="4244645"/>
            <a:ext cx="401365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0.6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" name="Google Shape;755;p19"/>
          <p:cNvSpPr/>
          <p:nvPr/>
        </p:nvSpPr>
        <p:spPr>
          <a:xfrm>
            <a:off x="2345903" y="4345838"/>
            <a:ext cx="139262" cy="180442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6" name="Google Shape;756;p19"/>
          <p:cNvSpPr/>
          <p:nvPr/>
        </p:nvSpPr>
        <p:spPr>
          <a:xfrm>
            <a:off x="230322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" name="Google Shape;757;p19"/>
          <p:cNvSpPr/>
          <p:nvPr/>
        </p:nvSpPr>
        <p:spPr>
          <a:xfrm>
            <a:off x="2570521" y="4233062"/>
            <a:ext cx="139262" cy="293218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8" name="Google Shape;758;p19"/>
          <p:cNvSpPr/>
          <p:nvPr/>
        </p:nvSpPr>
        <p:spPr>
          <a:xfrm>
            <a:off x="2527843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9" name="Google Shape;759;p19"/>
          <p:cNvSpPr/>
          <p:nvPr/>
        </p:nvSpPr>
        <p:spPr>
          <a:xfrm>
            <a:off x="2795138" y="4052621"/>
            <a:ext cx="139262" cy="473659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0" name="Google Shape;760;p19"/>
          <p:cNvSpPr/>
          <p:nvPr/>
        </p:nvSpPr>
        <p:spPr>
          <a:xfrm>
            <a:off x="275246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" name="Google Shape;761;p19"/>
          <p:cNvSpPr/>
          <p:nvPr/>
        </p:nvSpPr>
        <p:spPr>
          <a:xfrm>
            <a:off x="3019756" y="3736848"/>
            <a:ext cx="139262" cy="789432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2" name="Google Shape;762;p19"/>
          <p:cNvSpPr/>
          <p:nvPr/>
        </p:nvSpPr>
        <p:spPr>
          <a:xfrm>
            <a:off x="2977079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" name="Google Shape;763;p19"/>
          <p:cNvSpPr/>
          <p:nvPr/>
        </p:nvSpPr>
        <p:spPr>
          <a:xfrm>
            <a:off x="3244374" y="3578962"/>
            <a:ext cx="139262" cy="947318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4" name="Google Shape;764;p19"/>
          <p:cNvSpPr/>
          <p:nvPr/>
        </p:nvSpPr>
        <p:spPr>
          <a:xfrm>
            <a:off x="320169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5" name="Google Shape;765;p19"/>
          <p:cNvSpPr/>
          <p:nvPr/>
        </p:nvSpPr>
        <p:spPr>
          <a:xfrm>
            <a:off x="3468991" y="3398520"/>
            <a:ext cx="139262" cy="1127760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6" name="Google Shape;766;p19"/>
          <p:cNvSpPr/>
          <p:nvPr/>
        </p:nvSpPr>
        <p:spPr>
          <a:xfrm>
            <a:off x="3426314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" name="Google Shape;767;p19"/>
          <p:cNvSpPr/>
          <p:nvPr/>
        </p:nvSpPr>
        <p:spPr>
          <a:xfrm>
            <a:off x="3693609" y="3398520"/>
            <a:ext cx="139262" cy="1127760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8" name="Google Shape;768;p19"/>
          <p:cNvSpPr/>
          <p:nvPr/>
        </p:nvSpPr>
        <p:spPr>
          <a:xfrm>
            <a:off x="365093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p19"/>
          <p:cNvSpPr/>
          <p:nvPr/>
        </p:nvSpPr>
        <p:spPr>
          <a:xfrm>
            <a:off x="3918226" y="3263189"/>
            <a:ext cx="139262" cy="1263091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0" name="Google Shape;770;p19"/>
          <p:cNvSpPr/>
          <p:nvPr/>
        </p:nvSpPr>
        <p:spPr>
          <a:xfrm>
            <a:off x="3875549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1" name="Google Shape;771;p19"/>
          <p:cNvSpPr/>
          <p:nvPr/>
        </p:nvSpPr>
        <p:spPr>
          <a:xfrm>
            <a:off x="4142844" y="3127858"/>
            <a:ext cx="139262" cy="139842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2" name="Google Shape;772;p19"/>
          <p:cNvSpPr/>
          <p:nvPr/>
        </p:nvSpPr>
        <p:spPr>
          <a:xfrm>
            <a:off x="410016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" name="Google Shape;773;p19"/>
          <p:cNvSpPr/>
          <p:nvPr/>
        </p:nvSpPr>
        <p:spPr>
          <a:xfrm>
            <a:off x="4367461" y="3127858"/>
            <a:ext cx="139262" cy="139842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4" name="Google Shape;774;p19"/>
          <p:cNvSpPr/>
          <p:nvPr/>
        </p:nvSpPr>
        <p:spPr>
          <a:xfrm>
            <a:off x="4324784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5" name="Google Shape;775;p19"/>
          <p:cNvSpPr/>
          <p:nvPr/>
        </p:nvSpPr>
        <p:spPr>
          <a:xfrm>
            <a:off x="4592079" y="3082747"/>
            <a:ext cx="139262" cy="1443533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6" name="Google Shape;776;p19"/>
          <p:cNvSpPr/>
          <p:nvPr/>
        </p:nvSpPr>
        <p:spPr>
          <a:xfrm>
            <a:off x="454940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" name="Google Shape;777;p19"/>
          <p:cNvSpPr/>
          <p:nvPr/>
        </p:nvSpPr>
        <p:spPr>
          <a:xfrm>
            <a:off x="4816696" y="3150413"/>
            <a:ext cx="139262" cy="1375867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8" name="Google Shape;778;p19"/>
          <p:cNvSpPr/>
          <p:nvPr/>
        </p:nvSpPr>
        <p:spPr>
          <a:xfrm>
            <a:off x="4774019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" name="Google Shape;779;p19"/>
          <p:cNvSpPr/>
          <p:nvPr/>
        </p:nvSpPr>
        <p:spPr>
          <a:xfrm>
            <a:off x="5041314" y="3240634"/>
            <a:ext cx="139262" cy="128564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0" name="Google Shape;780;p19"/>
          <p:cNvSpPr/>
          <p:nvPr/>
        </p:nvSpPr>
        <p:spPr>
          <a:xfrm>
            <a:off x="499863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1" name="Google Shape;781;p19"/>
          <p:cNvSpPr/>
          <p:nvPr/>
        </p:nvSpPr>
        <p:spPr>
          <a:xfrm>
            <a:off x="5265931" y="3308299"/>
            <a:ext cx="139262" cy="1217981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2" name="Google Shape;782;p19"/>
          <p:cNvSpPr/>
          <p:nvPr/>
        </p:nvSpPr>
        <p:spPr>
          <a:xfrm>
            <a:off x="5223254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" name="Google Shape;783;p19"/>
          <p:cNvSpPr/>
          <p:nvPr/>
        </p:nvSpPr>
        <p:spPr>
          <a:xfrm>
            <a:off x="5490549" y="3285744"/>
            <a:ext cx="139262" cy="124053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4" name="Google Shape;784;p19"/>
          <p:cNvSpPr/>
          <p:nvPr/>
        </p:nvSpPr>
        <p:spPr>
          <a:xfrm>
            <a:off x="5447872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5" name="Google Shape;785;p19"/>
          <p:cNvSpPr/>
          <p:nvPr/>
        </p:nvSpPr>
        <p:spPr>
          <a:xfrm>
            <a:off x="5715167" y="3105302"/>
            <a:ext cx="139262" cy="142097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6" name="Google Shape;786;p19"/>
          <p:cNvSpPr/>
          <p:nvPr/>
        </p:nvSpPr>
        <p:spPr>
          <a:xfrm>
            <a:off x="5672489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" name="Google Shape;787;p19"/>
          <p:cNvSpPr/>
          <p:nvPr/>
        </p:nvSpPr>
        <p:spPr>
          <a:xfrm>
            <a:off x="5939784" y="3037637"/>
            <a:ext cx="139262" cy="1488643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8" name="Google Shape;788;p19"/>
          <p:cNvSpPr/>
          <p:nvPr/>
        </p:nvSpPr>
        <p:spPr>
          <a:xfrm>
            <a:off x="5897107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" name="Google Shape;789;p19"/>
          <p:cNvSpPr/>
          <p:nvPr/>
        </p:nvSpPr>
        <p:spPr>
          <a:xfrm>
            <a:off x="5808733" y="2891333"/>
            <a:ext cx="401365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6.6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0" name="Google Shape;790;p19"/>
          <p:cNvSpPr/>
          <p:nvPr/>
        </p:nvSpPr>
        <p:spPr>
          <a:xfrm>
            <a:off x="6164402" y="3218078"/>
            <a:ext cx="139262" cy="130820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1" name="Google Shape;791;p19"/>
          <p:cNvSpPr/>
          <p:nvPr/>
        </p:nvSpPr>
        <p:spPr>
          <a:xfrm>
            <a:off x="6121724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" name="Google Shape;792;p19"/>
          <p:cNvSpPr/>
          <p:nvPr/>
        </p:nvSpPr>
        <p:spPr>
          <a:xfrm>
            <a:off x="3857874" y="2816352"/>
            <a:ext cx="2506142" cy="1728216"/>
          </a:xfrm>
          <a:prstGeom prst="roundRect">
            <a:avLst>
              <a:gd fmla="val 2646" name="adj"/>
            </a:avLst>
          </a:prstGeom>
          <a:noFill/>
          <a:ln cap="flat" cmpd="sng" w="12700">
            <a:solidFill>
              <a:srgbClr val="E0632F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3" name="Google Shape;793;p19"/>
          <p:cNvSpPr/>
          <p:nvPr/>
        </p:nvSpPr>
        <p:spPr>
          <a:xfrm>
            <a:off x="2991808" y="2633472"/>
            <a:ext cx="335453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13~23시 집중 구간 — 하루 매출의 약 2/3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4" name="Google Shape;794;p19"/>
          <p:cNvSpPr/>
          <p:nvPr/>
        </p:nvSpPr>
        <p:spPr>
          <a:xfrm>
            <a:off x="822960" y="4709160"/>
            <a:ext cx="2651223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6B728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가로축: 시 (0~23시)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5" name="Google Shape;795;p19"/>
          <p:cNvSpPr/>
          <p:nvPr/>
        </p:nvSpPr>
        <p:spPr>
          <a:xfrm>
            <a:off x="6637976" y="2148840"/>
            <a:ext cx="4728015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Google Shape;796;p19"/>
          <p:cNvSpPr/>
          <p:nvPr/>
        </p:nvSpPr>
        <p:spPr>
          <a:xfrm>
            <a:off x="6637976" y="2148840"/>
            <a:ext cx="4728015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요일별 매출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97" name="Google Shape;797;p19"/>
          <p:cNvCxnSpPr/>
          <p:nvPr/>
        </p:nvCxnSpPr>
        <p:spPr>
          <a:xfrm>
            <a:off x="6814725" y="4526280"/>
            <a:ext cx="4374518" cy="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98" name="Google Shape;798;p19"/>
          <p:cNvSpPr/>
          <p:nvPr/>
        </p:nvSpPr>
        <p:spPr>
          <a:xfrm>
            <a:off x="6939711" y="3050794"/>
            <a:ext cx="374958" cy="147548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9" name="Google Shape;799;p19"/>
          <p:cNvSpPr/>
          <p:nvPr/>
        </p:nvSpPr>
        <p:spPr>
          <a:xfrm>
            <a:off x="6814725" y="2886202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15.7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0" name="Google Shape;800;p19"/>
          <p:cNvSpPr/>
          <p:nvPr/>
        </p:nvSpPr>
        <p:spPr>
          <a:xfrm>
            <a:off x="6814725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1" name="Google Shape;801;p19"/>
          <p:cNvSpPr/>
          <p:nvPr/>
        </p:nvSpPr>
        <p:spPr>
          <a:xfrm>
            <a:off x="7564642" y="3069590"/>
            <a:ext cx="374958" cy="145669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2" name="Google Shape;802;p19"/>
          <p:cNvSpPr/>
          <p:nvPr/>
        </p:nvSpPr>
        <p:spPr>
          <a:xfrm>
            <a:off x="7439655" y="2904998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15.5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3" name="Google Shape;803;p19"/>
          <p:cNvSpPr/>
          <p:nvPr/>
        </p:nvSpPr>
        <p:spPr>
          <a:xfrm>
            <a:off x="7439655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4" name="Google Shape;804;p19"/>
          <p:cNvSpPr/>
          <p:nvPr/>
        </p:nvSpPr>
        <p:spPr>
          <a:xfrm>
            <a:off x="8189573" y="3182366"/>
            <a:ext cx="374958" cy="134391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5" name="Google Shape;805;p19"/>
          <p:cNvSpPr/>
          <p:nvPr/>
        </p:nvSpPr>
        <p:spPr>
          <a:xfrm>
            <a:off x="8064587" y="3017774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14.3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6" name="Google Shape;806;p19"/>
          <p:cNvSpPr/>
          <p:nvPr/>
        </p:nvSpPr>
        <p:spPr>
          <a:xfrm>
            <a:off x="8064587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7" name="Google Shape;807;p19"/>
          <p:cNvSpPr/>
          <p:nvPr/>
        </p:nvSpPr>
        <p:spPr>
          <a:xfrm>
            <a:off x="8814505" y="3088386"/>
            <a:ext cx="374958" cy="143789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8" name="Google Shape;808;p19"/>
          <p:cNvSpPr/>
          <p:nvPr/>
        </p:nvSpPr>
        <p:spPr>
          <a:xfrm>
            <a:off x="8689518" y="2923794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15.3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9" name="Google Shape;809;p19"/>
          <p:cNvSpPr/>
          <p:nvPr/>
        </p:nvSpPr>
        <p:spPr>
          <a:xfrm>
            <a:off x="8689518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" name="Google Shape;810;p19"/>
          <p:cNvSpPr/>
          <p:nvPr/>
        </p:nvSpPr>
        <p:spPr>
          <a:xfrm>
            <a:off x="9439436" y="3069590"/>
            <a:ext cx="374958" cy="145669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1" name="Google Shape;811;p19"/>
          <p:cNvSpPr/>
          <p:nvPr/>
        </p:nvSpPr>
        <p:spPr>
          <a:xfrm>
            <a:off x="9314450" y="2904998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15.5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2" name="Google Shape;812;p19"/>
          <p:cNvSpPr/>
          <p:nvPr/>
        </p:nvSpPr>
        <p:spPr>
          <a:xfrm>
            <a:off x="9314450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3" name="Google Shape;813;p19"/>
          <p:cNvSpPr/>
          <p:nvPr/>
        </p:nvSpPr>
        <p:spPr>
          <a:xfrm>
            <a:off x="10064367" y="3454908"/>
            <a:ext cx="374958" cy="1071372"/>
          </a:xfrm>
          <a:prstGeom prst="rect">
            <a:avLst/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4" name="Google Shape;814;p19"/>
          <p:cNvSpPr/>
          <p:nvPr/>
        </p:nvSpPr>
        <p:spPr>
          <a:xfrm>
            <a:off x="9939381" y="3290316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11.4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" name="Google Shape;815;p19"/>
          <p:cNvSpPr/>
          <p:nvPr/>
        </p:nvSpPr>
        <p:spPr>
          <a:xfrm>
            <a:off x="9939381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" name="Google Shape;816;p19"/>
          <p:cNvSpPr/>
          <p:nvPr/>
        </p:nvSpPr>
        <p:spPr>
          <a:xfrm>
            <a:off x="10689298" y="3379724"/>
            <a:ext cx="374958" cy="1146556"/>
          </a:xfrm>
          <a:prstGeom prst="rect">
            <a:avLst/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7" name="Google Shape;817;p19"/>
          <p:cNvSpPr/>
          <p:nvPr/>
        </p:nvSpPr>
        <p:spPr>
          <a:xfrm>
            <a:off x="10564312" y="3215132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12.2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19"/>
          <p:cNvSpPr/>
          <p:nvPr/>
        </p:nvSpPr>
        <p:spPr>
          <a:xfrm>
            <a:off x="10564312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" name="Google Shape;819;p19"/>
          <p:cNvSpPr/>
          <p:nvPr/>
        </p:nvSpPr>
        <p:spPr>
          <a:xfrm>
            <a:off x="6637975" y="4709150"/>
            <a:ext cx="45936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6B7280"/>
                </a:solidFill>
                <a:latin typeface="Malgun Gothic"/>
                <a:ea typeface="Malgun Gothic"/>
                <a:cs typeface="Malgun Gothic"/>
                <a:sym typeface="Malgun Gothic"/>
              </a:rPr>
              <a:t>평일 76.3%  ·  주말 23.6%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0" name="Google Shape;820;p19"/>
          <p:cNvSpPr/>
          <p:nvPr/>
        </p:nvSpPr>
        <p:spPr>
          <a:xfrm>
            <a:off x="822960" y="4956048"/>
            <a:ext cx="7069929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 하반기 시즌 캘린더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1" name="Google Shape;821;p19"/>
          <p:cNvSpPr/>
          <p:nvPr/>
        </p:nvSpPr>
        <p:spPr>
          <a:xfrm>
            <a:off x="822960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2" name="Google Shape;822;p19"/>
          <p:cNvSpPr/>
          <p:nvPr/>
        </p:nvSpPr>
        <p:spPr>
          <a:xfrm>
            <a:off x="955521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9월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3" name="Google Shape;823;p19"/>
          <p:cNvSpPr/>
          <p:nvPr/>
        </p:nvSpPr>
        <p:spPr>
          <a:xfrm>
            <a:off x="955521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추석 연휴(9/24~26) 귀성·여행 · 개학 · 가을 시작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4" name="Google Shape;824;p19"/>
          <p:cNvSpPr/>
          <p:nvPr/>
        </p:nvSpPr>
        <p:spPr>
          <a:xfrm>
            <a:off x="955521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명절 인사 · 여행 리뷰 · 가을 감성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9"/>
          <p:cNvSpPr/>
          <p:nvPr/>
        </p:nvSpPr>
        <p:spPr>
          <a:xfrm>
            <a:off x="3497160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6" name="Google Shape;826;p19"/>
          <p:cNvSpPr/>
          <p:nvPr/>
        </p:nvSpPr>
        <p:spPr>
          <a:xfrm>
            <a:off x="3629721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10월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" name="Google Shape;827;p19"/>
          <p:cNvSpPr/>
          <p:nvPr/>
        </p:nvSpPr>
        <p:spPr>
          <a:xfrm>
            <a:off x="3629721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단풍 나들이 · 가을 축제 · 한글날 · 할로윈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8" name="Google Shape;828;p19"/>
          <p:cNvSpPr/>
          <p:nvPr/>
        </p:nvSpPr>
        <p:spPr>
          <a:xfrm>
            <a:off x="3629721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나들이 상황 · 축제 후기 · 할로윈 리액션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9" name="Google Shape;829;p19"/>
          <p:cNvSpPr/>
          <p:nvPr/>
        </p:nvSpPr>
        <p:spPr>
          <a:xfrm>
            <a:off x="6171361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9"/>
          <p:cNvSpPr/>
          <p:nvPr/>
        </p:nvSpPr>
        <p:spPr>
          <a:xfrm>
            <a:off x="6303922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11월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1" name="Google Shape;831;p19"/>
          <p:cNvSpPr/>
          <p:nvPr/>
        </p:nvSpPr>
        <p:spPr>
          <a:xfrm>
            <a:off x="6303922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수능(11/19) 응원 · 빼빼로데이 · 블랙 프라이데이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" name="Google Shape;832;p19"/>
          <p:cNvSpPr/>
          <p:nvPr/>
        </p:nvSpPr>
        <p:spPr>
          <a:xfrm>
            <a:off x="6303922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응원 문구 · 쇼핑 리뷰 · 내돈내산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3" name="Google Shape;833;p19"/>
          <p:cNvSpPr/>
          <p:nvPr/>
        </p:nvSpPr>
        <p:spPr>
          <a:xfrm>
            <a:off x="8845562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9"/>
          <p:cNvSpPr/>
          <p:nvPr/>
        </p:nvSpPr>
        <p:spPr>
          <a:xfrm>
            <a:off x="8978123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12월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5" name="Google Shape;835;p19"/>
          <p:cNvSpPr/>
          <p:nvPr/>
        </p:nvSpPr>
        <p:spPr>
          <a:xfrm>
            <a:off x="8978123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크리스마스 · 연말 결산 · 송년 인사 · 새해 준비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6" name="Google Shape;836;p19"/>
          <p:cNvSpPr/>
          <p:nvPr/>
        </p:nvSpPr>
        <p:spPr>
          <a:xfrm>
            <a:off x="8978123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감사·송년 인사 · 회고 문구 · 새해 계획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7" name="Google Shape;837;p19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9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 전략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이용하여 전략적인 출시에 도전해 보세요.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9" name="Google Shape;839;p19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844" name="Shape 8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Google Shape;845;p2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46" name="Google Shape;846;p20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47" name="Google Shape;847;p20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핵심 내용 요약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8" name="Google Shape;848;p20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20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요약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0" name="Google Shape;850;p20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플레이북으로 안내해 드린 방법을 참</a:t>
            </a:r>
            <a:r>
              <a:rPr lang="en-US" sz="11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고해</a:t>
            </a: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주세요.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51" name="Google Shape;851;p20"/>
          <p:cNvCxnSpPr/>
          <p:nvPr/>
        </p:nvCxnSpPr>
        <p:spPr>
          <a:xfrm>
            <a:off x="1826006" y="2231136"/>
            <a:ext cx="8536939" cy="0"/>
          </a:xfrm>
          <a:prstGeom prst="straightConnector1">
            <a:avLst/>
          </a:prstGeom>
          <a:noFill/>
          <a:ln cap="flat" cmpd="sng" w="19050">
            <a:solidFill>
              <a:srgbClr val="C5D6C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2" name="Google Shape;852;p20"/>
          <p:cNvSpPr/>
          <p:nvPr/>
        </p:nvSpPr>
        <p:spPr>
          <a:xfrm>
            <a:off x="174646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20"/>
          <p:cNvSpPr/>
          <p:nvPr/>
        </p:nvSpPr>
        <p:spPr>
          <a:xfrm>
            <a:off x="822960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20"/>
          <p:cNvSpPr/>
          <p:nvPr/>
        </p:nvSpPr>
        <p:spPr>
          <a:xfrm>
            <a:off x="955521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5" name="Google Shape;855;p20"/>
          <p:cNvSpPr/>
          <p:nvPr/>
        </p:nvSpPr>
        <p:spPr>
          <a:xfrm>
            <a:off x="982033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6" name="Google Shape;856;p20"/>
          <p:cNvSpPr/>
          <p:nvPr/>
        </p:nvSpPr>
        <p:spPr>
          <a:xfrm>
            <a:off x="145925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탐색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7" name="Google Shape;857;p20"/>
          <p:cNvSpPr/>
          <p:nvPr/>
        </p:nvSpPr>
        <p:spPr>
          <a:xfrm>
            <a:off x="228113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858" name="Google Shape;858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7834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859" name="Google Shape;859;p20"/>
          <p:cNvSpPr/>
          <p:nvPr/>
        </p:nvSpPr>
        <p:spPr>
          <a:xfrm>
            <a:off x="955521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20"/>
          <p:cNvSpPr/>
          <p:nvPr/>
        </p:nvSpPr>
        <p:spPr>
          <a:xfrm>
            <a:off x="999708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매출 스티커(이모티콘) 탐색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1" name="Google Shape;861;p20"/>
          <p:cNvSpPr/>
          <p:nvPr/>
        </p:nvSpPr>
        <p:spPr>
          <a:xfrm>
            <a:off x="982033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차트를 통해 실제 NAVER OGQ마켓에서 인기 있는 </a:t>
            </a:r>
            <a:r>
              <a:rPr lang="en-US" sz="95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</a:t>
            </a: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를 확인해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2" name="Google Shape;862;p20"/>
          <p:cNvSpPr/>
          <p:nvPr/>
        </p:nvSpPr>
        <p:spPr>
          <a:xfrm>
            <a:off x="955521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3" name="Google Shape;863;p20"/>
          <p:cNvSpPr/>
          <p:nvPr/>
        </p:nvSpPr>
        <p:spPr>
          <a:xfrm>
            <a:off x="1061570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20"/>
          <p:cNvSpPr/>
          <p:nvPr/>
        </p:nvSpPr>
        <p:spPr>
          <a:xfrm>
            <a:off x="122948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차트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5" name="Google Shape;865;p20"/>
          <p:cNvSpPr/>
          <p:nvPr/>
        </p:nvSpPr>
        <p:spPr>
          <a:xfrm>
            <a:off x="955521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20"/>
          <p:cNvSpPr/>
          <p:nvPr/>
        </p:nvSpPr>
        <p:spPr>
          <a:xfrm>
            <a:off x="1061570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7" name="Google Shape;867;p20"/>
          <p:cNvSpPr/>
          <p:nvPr/>
        </p:nvSpPr>
        <p:spPr>
          <a:xfrm>
            <a:off x="122948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검색 키워드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" name="Google Shape;868;p20"/>
          <p:cNvSpPr/>
          <p:nvPr/>
        </p:nvSpPr>
        <p:spPr>
          <a:xfrm>
            <a:off x="2846727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9" name="Google Shape;869;p20"/>
          <p:cNvSpPr/>
          <p:nvPr/>
        </p:nvSpPr>
        <p:spPr>
          <a:xfrm>
            <a:off x="3880704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0" name="Google Shape;870;p20"/>
          <p:cNvSpPr/>
          <p:nvPr/>
        </p:nvSpPr>
        <p:spPr>
          <a:xfrm>
            <a:off x="2957194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1" name="Google Shape;871;p20"/>
          <p:cNvSpPr/>
          <p:nvPr/>
        </p:nvSpPr>
        <p:spPr>
          <a:xfrm>
            <a:off x="3089756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20"/>
          <p:cNvSpPr/>
          <p:nvPr/>
        </p:nvSpPr>
        <p:spPr>
          <a:xfrm>
            <a:off x="3116268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3" name="Google Shape;873;p20"/>
          <p:cNvSpPr/>
          <p:nvPr/>
        </p:nvSpPr>
        <p:spPr>
          <a:xfrm>
            <a:off x="3593488" y="2523744"/>
            <a:ext cx="8571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</a:t>
            </a:r>
            <a:r>
              <a:rPr b="1" lang="en-US" sz="10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</a:t>
            </a:r>
            <a:br>
              <a:rPr b="1" lang="en-US" sz="10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lang="en-US" sz="10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(이모티콘)</a:t>
            </a: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분석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4" name="Google Shape;874;p20"/>
          <p:cNvSpPr/>
          <p:nvPr/>
        </p:nvSpPr>
        <p:spPr>
          <a:xfrm>
            <a:off x="4415367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875" name="Google Shape;875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12579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876" name="Google Shape;876;p20"/>
          <p:cNvSpPr/>
          <p:nvPr/>
        </p:nvSpPr>
        <p:spPr>
          <a:xfrm>
            <a:off x="3089756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7" name="Google Shape;877;p20"/>
          <p:cNvSpPr/>
          <p:nvPr/>
        </p:nvSpPr>
        <p:spPr>
          <a:xfrm>
            <a:off x="3133943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TOP 25 상세 분석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8" name="Google Shape;878;p20"/>
          <p:cNvSpPr/>
          <p:nvPr/>
        </p:nvSpPr>
        <p:spPr>
          <a:xfrm>
            <a:off x="3116268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매출 상위 </a:t>
            </a:r>
            <a:r>
              <a:rPr lang="en-US" sz="95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</a:t>
            </a: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를 분석하여 이모티콘 제작에 참고해 주세요.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9" name="Google Shape;879;p20"/>
          <p:cNvSpPr/>
          <p:nvPr/>
        </p:nvSpPr>
        <p:spPr>
          <a:xfrm>
            <a:off x="3089756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0" name="Google Shape;880;p20"/>
          <p:cNvSpPr/>
          <p:nvPr/>
        </p:nvSpPr>
        <p:spPr>
          <a:xfrm>
            <a:off x="3195805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1" name="Google Shape;881;p20"/>
          <p:cNvSpPr/>
          <p:nvPr/>
        </p:nvSpPr>
        <p:spPr>
          <a:xfrm>
            <a:off x="3363715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유형별 매출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2" name="Google Shape;882;p20"/>
          <p:cNvSpPr/>
          <p:nvPr/>
        </p:nvSpPr>
        <p:spPr>
          <a:xfrm>
            <a:off x="3089756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3" name="Google Shape;883;p20"/>
          <p:cNvSpPr/>
          <p:nvPr/>
        </p:nvSpPr>
        <p:spPr>
          <a:xfrm>
            <a:off x="3195805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4" name="Google Shape;884;p20"/>
          <p:cNvSpPr/>
          <p:nvPr/>
        </p:nvSpPr>
        <p:spPr>
          <a:xfrm>
            <a:off x="3363715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</a:t>
            </a:r>
            <a:br>
              <a:rPr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속성별 데이터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5" name="Google Shape;885;p20"/>
          <p:cNvSpPr/>
          <p:nvPr/>
        </p:nvSpPr>
        <p:spPr>
          <a:xfrm>
            <a:off x="4980962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6" name="Google Shape;886;p20"/>
          <p:cNvSpPr/>
          <p:nvPr/>
        </p:nvSpPr>
        <p:spPr>
          <a:xfrm>
            <a:off x="601493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7" name="Google Shape;887;p20"/>
          <p:cNvSpPr/>
          <p:nvPr/>
        </p:nvSpPr>
        <p:spPr>
          <a:xfrm>
            <a:off x="5091429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8" name="Google Shape;888;p20"/>
          <p:cNvSpPr/>
          <p:nvPr/>
        </p:nvSpPr>
        <p:spPr>
          <a:xfrm>
            <a:off x="5223990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9" name="Google Shape;889;p20"/>
          <p:cNvSpPr/>
          <p:nvPr/>
        </p:nvSpPr>
        <p:spPr>
          <a:xfrm>
            <a:off x="5250503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0" name="Google Shape;890;p20"/>
          <p:cNvSpPr/>
          <p:nvPr/>
        </p:nvSpPr>
        <p:spPr>
          <a:xfrm>
            <a:off x="572772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주제 선정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1" name="Google Shape;891;p20"/>
          <p:cNvSpPr/>
          <p:nvPr/>
        </p:nvSpPr>
        <p:spPr>
          <a:xfrm>
            <a:off x="654960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892" name="Google Shape;892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64681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893" name="Google Shape;893;p20"/>
          <p:cNvSpPr/>
          <p:nvPr/>
        </p:nvSpPr>
        <p:spPr>
          <a:xfrm>
            <a:off x="5223990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4" name="Google Shape;894;p20"/>
          <p:cNvSpPr/>
          <p:nvPr/>
        </p:nvSpPr>
        <p:spPr>
          <a:xfrm>
            <a:off x="5268178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주제 탐색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5" name="Google Shape;895;p20"/>
          <p:cNvSpPr/>
          <p:nvPr/>
        </p:nvSpPr>
        <p:spPr>
          <a:xfrm>
            <a:off x="5250503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많이 사용하는 사용처의 트렌드를 참고하여 주제를 선정해 주세요.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6" name="Google Shape;896;p20"/>
          <p:cNvSpPr/>
          <p:nvPr/>
        </p:nvSpPr>
        <p:spPr>
          <a:xfrm>
            <a:off x="5223990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7" name="Google Shape;897;p20"/>
          <p:cNvSpPr/>
          <p:nvPr/>
        </p:nvSpPr>
        <p:spPr>
          <a:xfrm>
            <a:off x="5330039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8" name="Google Shape;898;p20"/>
          <p:cNvSpPr/>
          <p:nvPr/>
        </p:nvSpPr>
        <p:spPr>
          <a:xfrm>
            <a:off x="549795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네이버 블로그 트렌드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9" name="Google Shape;899;p20"/>
          <p:cNvSpPr/>
          <p:nvPr/>
        </p:nvSpPr>
        <p:spPr>
          <a:xfrm>
            <a:off x="5223990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0" name="Google Shape;900;p20"/>
          <p:cNvSpPr/>
          <p:nvPr/>
        </p:nvSpPr>
        <p:spPr>
          <a:xfrm>
            <a:off x="5330039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1" name="Google Shape;901;p20"/>
          <p:cNvSpPr/>
          <p:nvPr/>
        </p:nvSpPr>
        <p:spPr>
          <a:xfrm>
            <a:off x="549795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블로그 트렌드에 따른 스티커(이모티콘)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2" name="Google Shape;902;p20"/>
          <p:cNvSpPr/>
          <p:nvPr/>
        </p:nvSpPr>
        <p:spPr>
          <a:xfrm>
            <a:off x="7115197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3" name="Google Shape;903;p20"/>
          <p:cNvSpPr/>
          <p:nvPr/>
        </p:nvSpPr>
        <p:spPr>
          <a:xfrm>
            <a:off x="8149174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4" name="Google Shape;904;p20"/>
          <p:cNvSpPr/>
          <p:nvPr/>
        </p:nvSpPr>
        <p:spPr>
          <a:xfrm>
            <a:off x="7225664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5" name="Google Shape;905;p20"/>
          <p:cNvSpPr/>
          <p:nvPr/>
        </p:nvSpPr>
        <p:spPr>
          <a:xfrm>
            <a:off x="7358225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" name="Google Shape;906;p20"/>
          <p:cNvSpPr/>
          <p:nvPr/>
        </p:nvSpPr>
        <p:spPr>
          <a:xfrm>
            <a:off x="7384738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7" name="Google Shape;907;p20"/>
          <p:cNvSpPr/>
          <p:nvPr/>
        </p:nvSpPr>
        <p:spPr>
          <a:xfrm>
            <a:off x="7861958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구성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8" name="Google Shape;908;p20"/>
          <p:cNvSpPr/>
          <p:nvPr/>
        </p:nvSpPr>
        <p:spPr>
          <a:xfrm>
            <a:off x="8683837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909" name="Google Shape;909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781049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910" name="Google Shape;910;p20"/>
          <p:cNvSpPr/>
          <p:nvPr/>
        </p:nvSpPr>
        <p:spPr>
          <a:xfrm>
            <a:off x="7358225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1" name="Google Shape;911;p20"/>
          <p:cNvSpPr/>
          <p:nvPr/>
        </p:nvSpPr>
        <p:spPr>
          <a:xfrm>
            <a:off x="7402412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 환경과 구성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2" name="Google Shape;912;p20"/>
          <p:cNvSpPr/>
          <p:nvPr/>
        </p:nvSpPr>
        <p:spPr>
          <a:xfrm>
            <a:off x="7384738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입장에서 어떤 용도로 어떻게 사용할지를 전략적으로 구상해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3" name="Google Shape;913;p20"/>
          <p:cNvSpPr/>
          <p:nvPr/>
        </p:nvSpPr>
        <p:spPr>
          <a:xfrm>
            <a:off x="7358225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4" name="Google Shape;914;p20"/>
          <p:cNvSpPr/>
          <p:nvPr/>
        </p:nvSpPr>
        <p:spPr>
          <a:xfrm>
            <a:off x="7464274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5" name="Google Shape;915;p20"/>
          <p:cNvSpPr/>
          <p:nvPr/>
        </p:nvSpPr>
        <p:spPr>
          <a:xfrm>
            <a:off x="7632185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포스팅 흐름에 따른 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6" name="Google Shape;916;p20"/>
          <p:cNvSpPr/>
          <p:nvPr/>
        </p:nvSpPr>
        <p:spPr>
          <a:xfrm>
            <a:off x="7358225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7" name="Google Shape;917;p20"/>
          <p:cNvSpPr/>
          <p:nvPr/>
        </p:nvSpPr>
        <p:spPr>
          <a:xfrm>
            <a:off x="7464274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8" name="Google Shape;918;p20"/>
          <p:cNvSpPr/>
          <p:nvPr/>
        </p:nvSpPr>
        <p:spPr>
          <a:xfrm>
            <a:off x="7632185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24칸 배치도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9" name="Google Shape;919;p20"/>
          <p:cNvSpPr/>
          <p:nvPr/>
        </p:nvSpPr>
        <p:spPr>
          <a:xfrm>
            <a:off x="9249431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0" name="Google Shape;920;p20"/>
          <p:cNvSpPr/>
          <p:nvPr/>
        </p:nvSpPr>
        <p:spPr>
          <a:xfrm>
            <a:off x="1028340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1" name="Google Shape;921;p20"/>
          <p:cNvSpPr/>
          <p:nvPr/>
        </p:nvSpPr>
        <p:spPr>
          <a:xfrm>
            <a:off x="9359899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2" name="Google Shape;922;p20"/>
          <p:cNvSpPr/>
          <p:nvPr/>
        </p:nvSpPr>
        <p:spPr>
          <a:xfrm>
            <a:off x="9492460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3" name="Google Shape;923;p20"/>
          <p:cNvSpPr/>
          <p:nvPr/>
        </p:nvSpPr>
        <p:spPr>
          <a:xfrm>
            <a:off x="9518972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4" name="Google Shape;924;p20"/>
          <p:cNvSpPr/>
          <p:nvPr/>
        </p:nvSpPr>
        <p:spPr>
          <a:xfrm>
            <a:off x="999619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5" name="Google Shape;925;p20"/>
          <p:cNvSpPr/>
          <p:nvPr/>
        </p:nvSpPr>
        <p:spPr>
          <a:xfrm>
            <a:off x="1081807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926" name="Google Shape;926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91528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927" name="Google Shape;927;p20"/>
          <p:cNvSpPr/>
          <p:nvPr/>
        </p:nvSpPr>
        <p:spPr>
          <a:xfrm>
            <a:off x="9492460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8" name="Google Shape;928;p20"/>
          <p:cNvSpPr/>
          <p:nvPr/>
        </p:nvSpPr>
        <p:spPr>
          <a:xfrm>
            <a:off x="9536647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이용자 패턴과 시즌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9" name="Google Shape;929;p20"/>
          <p:cNvSpPr/>
          <p:nvPr/>
        </p:nvSpPr>
        <p:spPr>
          <a:xfrm>
            <a:off x="9518972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이용하여 전략적인 출시에 도전해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0" name="Google Shape;930;p20"/>
          <p:cNvSpPr/>
          <p:nvPr/>
        </p:nvSpPr>
        <p:spPr>
          <a:xfrm>
            <a:off x="9492460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1" name="Google Shape;931;p20"/>
          <p:cNvSpPr/>
          <p:nvPr/>
        </p:nvSpPr>
        <p:spPr>
          <a:xfrm>
            <a:off x="9598509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2" name="Google Shape;932;p20"/>
          <p:cNvSpPr/>
          <p:nvPr/>
        </p:nvSpPr>
        <p:spPr>
          <a:xfrm>
            <a:off x="976642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시간대, 요일별 매출 비율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3" name="Google Shape;933;p20"/>
          <p:cNvSpPr/>
          <p:nvPr/>
        </p:nvSpPr>
        <p:spPr>
          <a:xfrm>
            <a:off x="9492460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4" name="Google Shape;934;p20"/>
          <p:cNvSpPr/>
          <p:nvPr/>
        </p:nvSpPr>
        <p:spPr>
          <a:xfrm>
            <a:off x="9598509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5" name="Google Shape;935;p20"/>
          <p:cNvSpPr/>
          <p:nvPr/>
        </p:nvSpPr>
        <p:spPr>
          <a:xfrm>
            <a:off x="976642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시즌별 캘린더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6" name="Google Shape;936;p20"/>
          <p:cNvSpPr/>
          <p:nvPr/>
        </p:nvSpPr>
        <p:spPr>
          <a:xfrm>
            <a:off x="822960" y="5870448"/>
            <a:ext cx="10543032" cy="457200"/>
          </a:xfrm>
          <a:prstGeom prst="roundRect">
            <a:avLst>
              <a:gd fmla="val 16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7" name="Google Shape;937;p20"/>
          <p:cNvSpPr/>
          <p:nvPr/>
        </p:nvSpPr>
        <p:spPr>
          <a:xfrm>
            <a:off x="999439" y="5870448"/>
            <a:ext cx="101626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 자료는 크리에이터 님들의 OGQ </a:t>
            </a:r>
            <a:r>
              <a:rPr b="1" lang="en-US" sz="105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제작에 참고가 되도록 데이터를 정리한 것입니다. 정답이 아닌 출발점이니, 나만의 스타일과 아이디어에 맞게 자유롭게 활용해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8" name="Google Shape;938;p20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538"/>
        </a:solidFill>
      </p:bgPr>
    </p:bg>
    <p:spTree>
      <p:nvGrpSpPr>
        <p:cNvPr id="943" name="Shape 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Google Shape;944;p21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5" name="Google Shape;945;p21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cap="flat" cmpd="sng" w="12700">
            <a:solidFill>
              <a:srgbClr val="356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6" name="Google Shape;946;p21"/>
          <p:cNvSpPr/>
          <p:nvPr/>
        </p:nvSpPr>
        <p:spPr>
          <a:xfrm flipH="1" rot="10800000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7" name="Google Shape;947;p21"/>
          <p:cNvSpPr/>
          <p:nvPr/>
        </p:nvSpPr>
        <p:spPr>
          <a:xfrm>
            <a:off x="731520" y="640080"/>
            <a:ext cx="640080" cy="640080"/>
          </a:xfrm>
          <a:prstGeom prst="ellipse">
            <a:avLst/>
          </a:prstGeom>
          <a:noFill/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8" name="Google Shape;948;p21"/>
          <p:cNvSpPr/>
          <p:nvPr/>
        </p:nvSpPr>
        <p:spPr>
          <a:xfrm>
            <a:off x="731520" y="64008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9" name="Google Shape;949;p21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 PLAYBOOK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0" name="Google Shape;950;p21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600"/>
              <a:buFont typeface="Malgun Gothic"/>
              <a:buNone/>
            </a:pPr>
            <a:r>
              <a:rPr b="0" i="0" lang="en-US" sz="160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OGQ이모티콘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1" name="Google Shape;951;p21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956" name="Shape 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Google Shape;957;p22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58" name="Google Shape;958;p22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9" name="Google Shape;959;p22"/>
          <p:cNvSpPr/>
          <p:nvPr/>
        </p:nvSpPr>
        <p:spPr>
          <a:xfrm>
            <a:off x="1783080" y="365760"/>
            <a:ext cx="9601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매출 이모티콘 탐색 방법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0" name="Google Shape;960;p22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1" name="Google Shape;961;p22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이모티콘을 실시간 인기순으로 확인하는 방법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2" name="Google Shape;962;p22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00"/>
              <a:buFont typeface="Malgun Gothic"/>
              <a:buNone/>
            </a:pPr>
            <a:r>
              <a:rPr lang="en-US" sz="11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인기차트를 통하여 실시간 마켓 트렌드를 확인해 보세요.</a:t>
            </a:r>
            <a:endParaRPr sz="1100">
              <a:solidFill>
                <a:srgbClr val="4B5563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descr="preencoded.png" id="963" name="Google Shape;963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960" y="2148840"/>
            <a:ext cx="4197770" cy="1461587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25400">
              <a:srgbClr val="000000">
                <a:alpha val="14902"/>
              </a:srgbClr>
            </a:outerShdw>
          </a:effectLst>
        </p:spPr>
      </p:pic>
      <p:sp>
        <p:nvSpPr>
          <p:cNvPr id="964" name="Google Shape;964;p22"/>
          <p:cNvSpPr/>
          <p:nvPr/>
        </p:nvSpPr>
        <p:spPr>
          <a:xfrm>
            <a:off x="3562557" y="2221992"/>
            <a:ext cx="1369798" cy="237744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5" name="Google Shape;965;p22"/>
          <p:cNvSpPr/>
          <p:nvPr/>
        </p:nvSpPr>
        <p:spPr>
          <a:xfrm>
            <a:off x="3562557" y="2221992"/>
            <a:ext cx="1369798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 메인 피처드 큐레이션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66" name="Google Shape;966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22960" y="3770894"/>
            <a:ext cx="4197770" cy="1951443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25400">
              <a:srgbClr val="000000">
                <a:alpha val="14902"/>
              </a:srgbClr>
            </a:outerShdw>
          </a:effectLst>
        </p:spPr>
      </p:pic>
      <p:sp>
        <p:nvSpPr>
          <p:cNvPr id="967" name="Google Shape;967;p22"/>
          <p:cNvSpPr/>
          <p:nvPr/>
        </p:nvSpPr>
        <p:spPr>
          <a:xfrm>
            <a:off x="3385809" y="3844046"/>
            <a:ext cx="1546547" cy="237744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8" name="Google Shape;968;p22"/>
          <p:cNvSpPr/>
          <p:nvPr/>
        </p:nvSpPr>
        <p:spPr>
          <a:xfrm>
            <a:off x="3385809" y="3844046"/>
            <a:ext cx="1546547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② 이모티콘 탭 · 인기순 정렬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9" name="Google Shape;969;p22"/>
          <p:cNvSpPr/>
          <p:nvPr/>
        </p:nvSpPr>
        <p:spPr>
          <a:xfrm>
            <a:off x="822960" y="5906261"/>
            <a:ext cx="4197900" cy="274200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0" name="Google Shape;970;p22"/>
          <p:cNvSpPr/>
          <p:nvPr/>
        </p:nvSpPr>
        <p:spPr>
          <a:xfrm>
            <a:off x="822960" y="5906261"/>
            <a:ext cx="4197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OGQ이모티콘 › 홈 ‘인기 이모티콘’ / 이모티콘 탭 ‘인기순’  </a:t>
            </a:r>
            <a:r>
              <a:rPr b="0" i="0" lang="en-US" sz="850" u="sng" cap="none" strike="noStrike">
                <a:solidFill>
                  <a:schemeClr val="hlink"/>
                </a:solidFill>
                <a:latin typeface="Malgun Gothic"/>
                <a:ea typeface="Malgun Gothic"/>
                <a:cs typeface="Malgun Gothic"/>
                <a:sym typeface="Malgun Gothic"/>
                <a:hlinkClick r:id="rId5"/>
              </a:rPr>
              <a:t>(바로가기)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1" name="Google Shape;971;p22"/>
          <p:cNvSpPr/>
          <p:nvPr/>
        </p:nvSpPr>
        <p:spPr>
          <a:xfrm>
            <a:off x="5330039" y="2148840"/>
            <a:ext cx="6035952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2" name="Google Shape;972;p22"/>
          <p:cNvSpPr/>
          <p:nvPr/>
        </p:nvSpPr>
        <p:spPr>
          <a:xfrm>
            <a:off x="5489113" y="2441448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3" name="Google Shape;973;p22"/>
          <p:cNvSpPr/>
          <p:nvPr/>
        </p:nvSpPr>
        <p:spPr>
          <a:xfrm>
            <a:off x="5489113" y="2441448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4" name="Google Shape;974;p22"/>
          <p:cNvSpPr/>
          <p:nvPr/>
        </p:nvSpPr>
        <p:spPr>
          <a:xfrm>
            <a:off x="6081219" y="2350008"/>
            <a:ext cx="510802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‘인기 이모티콘’ 큐레이션 확인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5" name="Google Shape;975;p22"/>
          <p:cNvSpPr/>
          <p:nvPr/>
        </p:nvSpPr>
        <p:spPr>
          <a:xfrm>
            <a:off x="6081219" y="2642616"/>
            <a:ext cx="5108023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마켓 메인 홈 인기 이모티콘을 통해 실시간 인기차트 제공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6" name="Google Shape;976;p22"/>
          <p:cNvSpPr/>
          <p:nvPr/>
        </p:nvSpPr>
        <p:spPr>
          <a:xfrm>
            <a:off x="5330039" y="3300984"/>
            <a:ext cx="6035952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7" name="Google Shape;977;p22"/>
          <p:cNvSpPr/>
          <p:nvPr/>
        </p:nvSpPr>
        <p:spPr>
          <a:xfrm>
            <a:off x="5489113" y="3593592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8" name="Google Shape;978;p22"/>
          <p:cNvSpPr/>
          <p:nvPr/>
        </p:nvSpPr>
        <p:spPr>
          <a:xfrm>
            <a:off x="5489113" y="3593592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9" name="Google Shape;979;p22"/>
          <p:cNvSpPr/>
          <p:nvPr/>
        </p:nvSpPr>
        <p:spPr>
          <a:xfrm>
            <a:off x="6081219" y="3502152"/>
            <a:ext cx="510802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 탭에서 ‘인기순’ 정렬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0" name="Google Shape;980;p22"/>
          <p:cNvSpPr/>
          <p:nvPr/>
        </p:nvSpPr>
        <p:spPr>
          <a:xfrm>
            <a:off x="6081219" y="3794760"/>
            <a:ext cx="5108023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 목록의 인기순에서도 인기 차트 확인 가능 (‘움직이는 이모티콘’ 체크 별도 확인 가능)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1" name="Google Shape;981;p22"/>
          <p:cNvSpPr/>
          <p:nvPr/>
        </p:nvSpPr>
        <p:spPr>
          <a:xfrm>
            <a:off x="5330039" y="4453128"/>
            <a:ext cx="6035952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2" name="Google Shape;982;p22"/>
          <p:cNvSpPr/>
          <p:nvPr/>
        </p:nvSpPr>
        <p:spPr>
          <a:xfrm>
            <a:off x="5489113" y="4745736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3" name="Google Shape;983;p22"/>
          <p:cNvSpPr/>
          <p:nvPr/>
        </p:nvSpPr>
        <p:spPr>
          <a:xfrm>
            <a:off x="5489113" y="4745736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4" name="Google Shape;984;p22"/>
          <p:cNvSpPr/>
          <p:nvPr/>
        </p:nvSpPr>
        <p:spPr>
          <a:xfrm>
            <a:off x="6081219" y="4654296"/>
            <a:ext cx="510802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실시간이므로 기록하며 추적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5" name="Google Shape;985;p22"/>
          <p:cNvSpPr/>
          <p:nvPr/>
        </p:nvSpPr>
        <p:spPr>
          <a:xfrm>
            <a:off x="6081219" y="4946904"/>
            <a:ext cx="5108023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기간을 설정하여 인기차트 확인이 불가하여 주기적인 확인 필요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6" name="Google Shape;986;p22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991" name="Shape 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2" name="Google Shape;992;p23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93" name="Google Shape;993;p23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4" name="Google Shape;994;p23"/>
          <p:cNvSpPr/>
          <p:nvPr/>
        </p:nvSpPr>
        <p:spPr>
          <a:xfrm>
            <a:off x="1783080" y="365760"/>
            <a:ext cx="9601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</a:t>
            </a:r>
            <a:r>
              <a:rPr b="1" lang="en-US" sz="26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</a:t>
            </a: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분석하기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5" name="Google Shape;995;p2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6" name="Google Shape;996;p23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TOP 25 상세 분석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7" name="Google Shape;997;p23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2026년 상반기 </a:t>
            </a:r>
            <a:r>
              <a:rPr b="1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월별 TOP 25 </a:t>
            </a:r>
            <a:r>
              <a:rPr lang="en-US" sz="11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</a:t>
            </a: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의 상세 데이터를 참고해 주세요.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8" name="Google Shape;998;p23"/>
          <p:cNvSpPr/>
          <p:nvPr/>
        </p:nvSpPr>
        <p:spPr>
          <a:xfrm>
            <a:off x="822960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9" name="Google Shape;999;p23"/>
          <p:cNvSpPr/>
          <p:nvPr/>
        </p:nvSpPr>
        <p:spPr>
          <a:xfrm>
            <a:off x="822960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0" name="Google Shape;1000;p23"/>
          <p:cNvSpPr/>
          <p:nvPr/>
        </p:nvSpPr>
        <p:spPr>
          <a:xfrm>
            <a:off x="822960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움직이는 이모티콘 매출 비중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1" name="Google Shape;1001;p23"/>
          <p:cNvSpPr/>
          <p:nvPr/>
        </p:nvSpPr>
        <p:spPr>
          <a:xfrm>
            <a:off x="3498494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2" name="Google Shape;1002;p23"/>
          <p:cNvSpPr/>
          <p:nvPr/>
        </p:nvSpPr>
        <p:spPr>
          <a:xfrm>
            <a:off x="3498494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87.6%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3" name="Google Shape;1003;p23"/>
          <p:cNvSpPr/>
          <p:nvPr/>
        </p:nvSpPr>
        <p:spPr>
          <a:xfrm>
            <a:off x="3498494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 포함 콘텐츠 비중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4" name="Google Shape;1004;p23"/>
          <p:cNvSpPr/>
          <p:nvPr/>
        </p:nvSpPr>
        <p:spPr>
          <a:xfrm>
            <a:off x="6174029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5" name="Google Shape;1005;p23"/>
          <p:cNvSpPr/>
          <p:nvPr/>
        </p:nvSpPr>
        <p:spPr>
          <a:xfrm>
            <a:off x="6174029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37.4%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6" name="Google Shape;1006;p23"/>
          <p:cNvSpPr/>
          <p:nvPr/>
        </p:nvSpPr>
        <p:spPr>
          <a:xfrm>
            <a:off x="6174029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밈(meme) 활용 </a:t>
            </a:r>
            <a:r>
              <a:rPr lang="en-US" sz="95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</a:t>
            </a: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매출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7" name="Google Shape;1007;p23"/>
          <p:cNvSpPr/>
          <p:nvPr/>
        </p:nvSpPr>
        <p:spPr>
          <a:xfrm>
            <a:off x="8849563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8" name="Google Shape;1008;p23"/>
          <p:cNvSpPr/>
          <p:nvPr/>
        </p:nvSpPr>
        <p:spPr>
          <a:xfrm>
            <a:off x="8849563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28.9%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9" name="Google Shape;1009;p23"/>
          <p:cNvSpPr/>
          <p:nvPr/>
        </p:nvSpPr>
        <p:spPr>
          <a:xfrm>
            <a:off x="8849563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시리즈(넘버링) 콘텐츠 매출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0" name="Google Shape;1010;p23"/>
          <p:cNvSpPr/>
          <p:nvPr/>
        </p:nvSpPr>
        <p:spPr>
          <a:xfrm>
            <a:off x="822960" y="3108960"/>
            <a:ext cx="4418705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1" name="Google Shape;1011;p23"/>
          <p:cNvSpPr/>
          <p:nvPr/>
        </p:nvSpPr>
        <p:spPr>
          <a:xfrm>
            <a:off x="822960" y="3108960"/>
            <a:ext cx="4418705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유형별 매출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2" name="Google Shape;1012;p23"/>
          <p:cNvSpPr/>
          <p:nvPr/>
        </p:nvSpPr>
        <p:spPr>
          <a:xfrm>
            <a:off x="822960" y="3566160"/>
            <a:ext cx="11930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 리액션·개그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3" name="Google Shape;1013;p23"/>
          <p:cNvSpPr/>
          <p:nvPr/>
        </p:nvSpPr>
        <p:spPr>
          <a:xfrm>
            <a:off x="2104384" y="3566160"/>
            <a:ext cx="2695410" cy="23774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4" name="Google Shape;1014;p23"/>
          <p:cNvSpPr/>
          <p:nvPr/>
        </p:nvSpPr>
        <p:spPr>
          <a:xfrm>
            <a:off x="4852819" y="3566160"/>
            <a:ext cx="44187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51.9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5" name="Google Shape;1015;p23"/>
          <p:cNvSpPr/>
          <p:nvPr/>
        </p:nvSpPr>
        <p:spPr>
          <a:xfrm>
            <a:off x="822960" y="3913632"/>
            <a:ext cx="11930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일상·감성 캐릭터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6" name="Google Shape;1016;p23"/>
          <p:cNvSpPr/>
          <p:nvPr/>
        </p:nvSpPr>
        <p:spPr>
          <a:xfrm>
            <a:off x="2104384" y="3913632"/>
            <a:ext cx="882889" cy="23774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7" name="Google Shape;1017;p23"/>
          <p:cNvSpPr/>
          <p:nvPr/>
        </p:nvSpPr>
        <p:spPr>
          <a:xfrm>
            <a:off x="3040298" y="3913632"/>
            <a:ext cx="44187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17.0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8" name="Google Shape;1018;p23"/>
          <p:cNvSpPr/>
          <p:nvPr/>
        </p:nvSpPr>
        <p:spPr>
          <a:xfrm>
            <a:off x="822960" y="4261104"/>
            <a:ext cx="11930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밈·유행어 리액션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9" name="Google Shape;1019;p23"/>
          <p:cNvSpPr/>
          <p:nvPr/>
        </p:nvSpPr>
        <p:spPr>
          <a:xfrm>
            <a:off x="2104384" y="4261104"/>
            <a:ext cx="867309" cy="23774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0" name="Google Shape;1020;p23"/>
          <p:cNvSpPr/>
          <p:nvPr/>
        </p:nvSpPr>
        <p:spPr>
          <a:xfrm>
            <a:off x="3024718" y="4261104"/>
            <a:ext cx="44187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16.7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1" name="Google Shape;1021;p23"/>
          <p:cNvSpPr/>
          <p:nvPr/>
        </p:nvSpPr>
        <p:spPr>
          <a:xfrm>
            <a:off x="822960" y="4608576"/>
            <a:ext cx="11930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스트리머 IP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2" name="Google Shape;1022;p23"/>
          <p:cNvSpPr/>
          <p:nvPr/>
        </p:nvSpPr>
        <p:spPr>
          <a:xfrm>
            <a:off x="2104384" y="4608576"/>
            <a:ext cx="747859" cy="23774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3" name="Google Shape;1023;p23"/>
          <p:cNvSpPr/>
          <p:nvPr/>
        </p:nvSpPr>
        <p:spPr>
          <a:xfrm>
            <a:off x="2905268" y="4608576"/>
            <a:ext cx="44187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14.4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24" name="Google Shape;1024;p23"/>
          <p:cNvCxnSpPr/>
          <p:nvPr/>
        </p:nvCxnSpPr>
        <p:spPr>
          <a:xfrm>
            <a:off x="2104384" y="3520440"/>
            <a:ext cx="0" cy="137160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5" name="Google Shape;1025;p23"/>
          <p:cNvSpPr/>
          <p:nvPr/>
        </p:nvSpPr>
        <p:spPr>
          <a:xfrm>
            <a:off x="822960" y="49377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 리액션·개그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표정·제스처 리액션, 개그 성격 51.9%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6" name="Google Shape;1026;p23"/>
          <p:cNvSpPr/>
          <p:nvPr/>
        </p:nvSpPr>
        <p:spPr>
          <a:xfrm>
            <a:off x="822960" y="51663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일상·감성 캐릭터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귀여운 동물 캐릭터 — 텍스트 비중은 낮게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7" name="Google Shape;1027;p23"/>
          <p:cNvSpPr/>
          <p:nvPr/>
        </p:nvSpPr>
        <p:spPr>
          <a:xfrm>
            <a:off x="822960" y="53949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밈·유행어 리액션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초성체·밈 문구를 캐릭터에 결합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8" name="Google Shape;1028;p23"/>
          <p:cNvSpPr/>
          <p:nvPr/>
        </p:nvSpPr>
        <p:spPr>
          <a:xfrm>
            <a:off x="822960" y="56235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스트리머 IP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팬덤 기반, 방송인 유행어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9" name="Google Shape;1029;p23"/>
          <p:cNvSpPr/>
          <p:nvPr/>
        </p:nvSpPr>
        <p:spPr>
          <a:xfrm>
            <a:off x="5462601" y="3108960"/>
            <a:ext cx="5903390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0" name="Google Shape;1030;p23"/>
          <p:cNvSpPr/>
          <p:nvPr/>
        </p:nvSpPr>
        <p:spPr>
          <a:xfrm>
            <a:off x="5462601" y="3108960"/>
            <a:ext cx="590339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</a:t>
            </a:r>
            <a:r>
              <a:rPr b="1" lang="en-US" sz="11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</a:t>
            </a: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속성별 데이터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031" name="Google Shape;1031;p23"/>
          <p:cNvGraphicFramePr/>
          <p:nvPr/>
        </p:nvGraphicFramePr>
        <p:xfrm>
          <a:off x="5462601" y="347472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{AEBD00CC-FC0A-4C85-B4EB-CBDBD9B740B2}</a:tableStyleId>
              </a:tblPr>
              <a:tblGrid>
                <a:gridCol w="1237225"/>
                <a:gridCol w="1325600"/>
                <a:gridCol w="1007475"/>
                <a:gridCol w="1325600"/>
                <a:gridCol w="1007475"/>
              </a:tblGrid>
              <a:tr h="2011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속성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1위 값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매출 비중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2위 값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매출 비중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콘텐츠 유형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애니메이션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89</a:t>
                      </a: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.</a:t>
                      </a: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</a:t>
                      </a: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정지형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</a:t>
                      </a: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텍스트 비중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중간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52.6%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낮음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20.1%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텍스트 종류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감탄사·의성어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46.5%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짧은 대사·문장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18.2%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기반 분류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동물 의인화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76.6%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인간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14.4%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콘텐츠 도메인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캐릭터 리액션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51.9%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일상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17.0%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상세 성격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개그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60.1%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감성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18.9%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색상 스타일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파스텔 저채도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39.4%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무채색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24.1%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라인 스타일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굵은 선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46.8%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가는 선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32.4%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배경 유형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투명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57.9%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배경 꽉 참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2.0%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사용 맥락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방송 채팅 리액션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65.6%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일상 대화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16.4%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2" name="Google Shape;1032;p23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3" name="Google Shape;1033;p23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lang="en-US" sz="1050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이모티콘 분석  </a:t>
            </a:r>
            <a:r>
              <a:rPr b="1" lang="en-US" sz="105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 전 매출 상위 이모티콘 분석 데이터를 참고해 주세요.</a:t>
            </a:r>
            <a:endParaRPr b="1" sz="1050">
              <a:solidFill>
                <a:srgbClr val="B7D5C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34" name="Google Shape;1034;p23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039" name="Shape 1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0" name="Google Shape;1040;p24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41" name="Google Shape;1041;p24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2" name="Google Shape;1042;p24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잘 팔리는 주제 선정하기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3" name="Google Shape;1043;p24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4" name="Google Shape;1044;p24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핵심은 시청자가 채팅을 치는 ‘순간’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5" name="Google Shape;1045;p24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라이브 방송의 흐름을 참고하여 이모티콘으로 표현해 보세요.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6" name="Google Shape;1046;p24"/>
          <p:cNvSpPr/>
          <p:nvPr/>
        </p:nvSpPr>
        <p:spPr>
          <a:xfrm>
            <a:off x="822960" y="2148840"/>
            <a:ext cx="3976835" cy="310896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7" name="Google Shape;1047;p24"/>
          <p:cNvSpPr/>
          <p:nvPr/>
        </p:nvSpPr>
        <p:spPr>
          <a:xfrm>
            <a:off x="822960" y="2148840"/>
            <a:ext cx="3976835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지금 SOOP 실시간 스트리밍은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" name="Google Shape;1048;p24"/>
          <p:cNvSpPr/>
          <p:nvPr/>
        </p:nvSpPr>
        <p:spPr>
          <a:xfrm>
            <a:off x="5241665" y="2148840"/>
            <a:ext cx="6124326" cy="31089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9" name="Google Shape;1049;p24"/>
          <p:cNvSpPr/>
          <p:nvPr/>
        </p:nvSpPr>
        <p:spPr>
          <a:xfrm>
            <a:off x="5241665" y="2148840"/>
            <a:ext cx="612432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실시간 채팅창에 이런 이모티콘을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0" name="Google Shape;1050;p24"/>
          <p:cNvSpPr/>
          <p:nvPr/>
        </p:nvSpPr>
        <p:spPr>
          <a:xfrm>
            <a:off x="822960" y="2532888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1" name="Google Shape;1051;p24"/>
          <p:cNvSpPr/>
          <p:nvPr/>
        </p:nvSpPr>
        <p:spPr>
          <a:xfrm>
            <a:off x="946683" y="2651760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052" name="Google Shape;1052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057" y="2743200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053" name="Google Shape;1053;p24"/>
          <p:cNvSpPr/>
          <p:nvPr/>
        </p:nvSpPr>
        <p:spPr>
          <a:xfrm>
            <a:off x="1423903" y="2615184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4" name="Google Shape;1054;p24"/>
          <p:cNvSpPr/>
          <p:nvPr/>
        </p:nvSpPr>
        <p:spPr>
          <a:xfrm>
            <a:off x="1423903" y="2615184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실시간 채팅창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5" name="Google Shape;1055;p24"/>
          <p:cNvSpPr/>
          <p:nvPr/>
        </p:nvSpPr>
        <p:spPr>
          <a:xfrm>
            <a:off x="1423903" y="2807208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채팅은 ‘읽는 것’이 아니라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‘순식간에 알아보는 것’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6" name="Google Shape;1056;p24"/>
          <p:cNvSpPr/>
          <p:nvPr/>
        </p:nvSpPr>
        <p:spPr>
          <a:xfrm>
            <a:off x="4897006" y="2734056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7" name="Google Shape;1057;p24"/>
          <p:cNvSpPr/>
          <p:nvPr/>
        </p:nvSpPr>
        <p:spPr>
          <a:xfrm>
            <a:off x="5241665" y="2532888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8" name="Google Shape;1058;p24"/>
          <p:cNvSpPr/>
          <p:nvPr/>
        </p:nvSpPr>
        <p:spPr>
          <a:xfrm>
            <a:off x="5347714" y="2615184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9" name="Google Shape;1059;p24"/>
          <p:cNvSpPr/>
          <p:nvPr/>
        </p:nvSpPr>
        <p:spPr>
          <a:xfrm>
            <a:off x="5347714" y="2615184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0" name="Google Shape;1060;p24"/>
          <p:cNvSpPr/>
          <p:nvPr/>
        </p:nvSpPr>
        <p:spPr>
          <a:xfrm>
            <a:off x="5860284" y="2587752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무자막 클로즈업 리액션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1" name="Google Shape;1061;p24"/>
          <p:cNvSpPr/>
          <p:nvPr/>
        </p:nvSpPr>
        <p:spPr>
          <a:xfrm>
            <a:off x="5347714" y="2834640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자막 없이 표정만으로 읽히게. 작은 채팅창에서도 한눈에 알아보는 크기와 대비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를 고려 제작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2" name="Google Shape;1062;p24"/>
          <p:cNvSpPr/>
          <p:nvPr/>
        </p:nvSpPr>
        <p:spPr>
          <a:xfrm>
            <a:off x="9306875" y="260604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3" name="Google Shape;1063;p24"/>
          <p:cNvSpPr/>
          <p:nvPr/>
        </p:nvSpPr>
        <p:spPr>
          <a:xfrm>
            <a:off x="9306875" y="260604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확대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4" name="Google Shape;1064;p24"/>
          <p:cNvSpPr/>
          <p:nvPr/>
        </p:nvSpPr>
        <p:spPr>
          <a:xfrm>
            <a:off x="10349689" y="260604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5" name="Google Shape;1065;p24"/>
          <p:cNvSpPr/>
          <p:nvPr/>
        </p:nvSpPr>
        <p:spPr>
          <a:xfrm>
            <a:off x="10349689" y="260604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볼터치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6" name="Google Shape;1066;p24"/>
          <p:cNvSpPr/>
          <p:nvPr/>
        </p:nvSpPr>
        <p:spPr>
          <a:xfrm>
            <a:off x="9306875" y="286207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7" name="Google Shape;1067;p24"/>
          <p:cNvSpPr/>
          <p:nvPr/>
        </p:nvSpPr>
        <p:spPr>
          <a:xfrm>
            <a:off x="9306875" y="286207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눈 표정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8" name="Google Shape;1068;p24"/>
          <p:cNvSpPr/>
          <p:nvPr/>
        </p:nvSpPr>
        <p:spPr>
          <a:xfrm>
            <a:off x="10349689" y="286207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9" name="Google Shape;1069;p24"/>
          <p:cNvSpPr/>
          <p:nvPr/>
        </p:nvSpPr>
        <p:spPr>
          <a:xfrm>
            <a:off x="10349689" y="286207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무자막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0" name="Google Shape;1070;p24"/>
          <p:cNvSpPr/>
          <p:nvPr/>
        </p:nvSpPr>
        <p:spPr>
          <a:xfrm>
            <a:off x="822960" y="3200400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1" name="Google Shape;1071;p24"/>
          <p:cNvSpPr/>
          <p:nvPr/>
        </p:nvSpPr>
        <p:spPr>
          <a:xfrm>
            <a:off x="946683" y="3319272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072" name="Google Shape;1072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5057" y="3410712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073" name="Google Shape;1073;p24"/>
          <p:cNvSpPr/>
          <p:nvPr/>
        </p:nvSpPr>
        <p:spPr>
          <a:xfrm>
            <a:off x="1423903" y="3282696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4" name="Google Shape;1074;p24"/>
          <p:cNvSpPr/>
          <p:nvPr/>
        </p:nvSpPr>
        <p:spPr>
          <a:xfrm>
            <a:off x="1423903" y="3282696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움직이는 이모티콘 선호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5" name="Google Shape;1075;p24"/>
          <p:cNvSpPr/>
          <p:nvPr/>
        </p:nvSpPr>
        <p:spPr>
          <a:xfrm>
            <a:off x="1423903" y="3474720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정지형 대신 움직이는 이모티콘</a:t>
            </a: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대세</a:t>
            </a:r>
            <a:endParaRPr b="1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6" name="Google Shape;1076;p24"/>
          <p:cNvSpPr/>
          <p:nvPr/>
        </p:nvSpPr>
        <p:spPr>
          <a:xfrm>
            <a:off x="4897006" y="3401568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7" name="Google Shape;1077;p24"/>
          <p:cNvSpPr/>
          <p:nvPr/>
        </p:nvSpPr>
        <p:spPr>
          <a:xfrm>
            <a:off x="5241665" y="3200400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8" name="Google Shape;1078;p24"/>
          <p:cNvSpPr/>
          <p:nvPr/>
        </p:nvSpPr>
        <p:spPr>
          <a:xfrm>
            <a:off x="5347714" y="3282696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9" name="Google Shape;1079;p24"/>
          <p:cNvSpPr/>
          <p:nvPr/>
        </p:nvSpPr>
        <p:spPr>
          <a:xfrm>
            <a:off x="5347714" y="3282696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0" name="Google Shape;1080;p24"/>
          <p:cNvSpPr/>
          <p:nvPr/>
        </p:nvSpPr>
        <p:spPr>
          <a:xfrm>
            <a:off x="5860284" y="3255264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‘움티’ 루프 모션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1" name="Google Shape;1081;p24"/>
          <p:cNvSpPr/>
          <p:nvPr/>
        </p:nvSpPr>
        <p:spPr>
          <a:xfrm>
            <a:off x="5347714" y="3502152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1~2초 루프로 빠르게 지나가는 채팅창에서도 눈에 띄도록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2" name="Google Shape;1082;p24"/>
          <p:cNvSpPr/>
          <p:nvPr/>
        </p:nvSpPr>
        <p:spPr>
          <a:xfrm>
            <a:off x="9306875" y="327355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3" name="Google Shape;1083;p24"/>
          <p:cNvSpPr/>
          <p:nvPr/>
        </p:nvSpPr>
        <p:spPr>
          <a:xfrm>
            <a:off x="9306875" y="327355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움티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4" name="Google Shape;1084;p24"/>
          <p:cNvSpPr/>
          <p:nvPr/>
        </p:nvSpPr>
        <p:spPr>
          <a:xfrm>
            <a:off x="10349689" y="327355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5" name="Google Shape;1085;p24"/>
          <p:cNvSpPr/>
          <p:nvPr/>
        </p:nvSpPr>
        <p:spPr>
          <a:xfrm>
            <a:off x="10349689" y="327355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6" name="Google Shape;1086;p24"/>
          <p:cNvSpPr/>
          <p:nvPr/>
        </p:nvSpPr>
        <p:spPr>
          <a:xfrm>
            <a:off x="9306875" y="352958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7" name="Google Shape;1087;p24"/>
          <p:cNvSpPr/>
          <p:nvPr/>
        </p:nvSpPr>
        <p:spPr>
          <a:xfrm>
            <a:off x="9306875" y="352958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루프 모션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8" name="Google Shape;1088;p24"/>
          <p:cNvSpPr/>
          <p:nvPr/>
        </p:nvSpPr>
        <p:spPr>
          <a:xfrm>
            <a:off x="10349689" y="352958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9" name="Google Shape;1089;p24"/>
          <p:cNvSpPr/>
          <p:nvPr/>
        </p:nvSpPr>
        <p:spPr>
          <a:xfrm>
            <a:off x="10349689" y="352958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확대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0" name="Google Shape;1090;p24"/>
          <p:cNvSpPr/>
          <p:nvPr/>
        </p:nvSpPr>
        <p:spPr>
          <a:xfrm>
            <a:off x="822960" y="3867912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1" name="Google Shape;1091;p24"/>
          <p:cNvSpPr/>
          <p:nvPr/>
        </p:nvSpPr>
        <p:spPr>
          <a:xfrm>
            <a:off x="946683" y="3986784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092" name="Google Shape;1092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35057" y="4078224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093" name="Google Shape;1093;p24"/>
          <p:cNvSpPr/>
          <p:nvPr/>
        </p:nvSpPr>
        <p:spPr>
          <a:xfrm>
            <a:off x="1423903" y="3950208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4" name="Google Shape;1094;p24"/>
          <p:cNvSpPr/>
          <p:nvPr/>
        </p:nvSpPr>
        <p:spPr>
          <a:xfrm>
            <a:off x="1423903" y="3950208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시리즈물 대세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5" name="Google Shape;1095;p24"/>
          <p:cNvSpPr/>
          <p:nvPr/>
        </p:nvSpPr>
        <p:spPr>
          <a:xfrm>
            <a:off x="1423903" y="4142232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시리즈가 매출을 만든다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매출의 28.9%가 2탄·3탄·확대 ver 등 시리즈물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6" name="Google Shape;1096;p24"/>
          <p:cNvSpPr/>
          <p:nvPr/>
        </p:nvSpPr>
        <p:spPr>
          <a:xfrm>
            <a:off x="4897006" y="4069080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7" name="Google Shape;1097;p24"/>
          <p:cNvSpPr/>
          <p:nvPr/>
        </p:nvSpPr>
        <p:spPr>
          <a:xfrm>
            <a:off x="5241665" y="3867912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8" name="Google Shape;1098;p24"/>
          <p:cNvSpPr/>
          <p:nvPr/>
        </p:nvSpPr>
        <p:spPr>
          <a:xfrm>
            <a:off x="5347714" y="3950208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9" name="Google Shape;1099;p24"/>
          <p:cNvSpPr/>
          <p:nvPr/>
        </p:nvSpPr>
        <p:spPr>
          <a:xfrm>
            <a:off x="5347714" y="3950208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0" name="Google Shape;1100;p24"/>
          <p:cNvSpPr/>
          <p:nvPr/>
        </p:nvSpPr>
        <p:spPr>
          <a:xfrm>
            <a:off x="5860284" y="3922776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잘 만든 캐릭터 1종 → 확장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1" name="Google Shape;1101;p24"/>
          <p:cNvSpPr/>
          <p:nvPr/>
        </p:nvSpPr>
        <p:spPr>
          <a:xfrm>
            <a:off x="5347714" y="4169664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반응 온 캐릭터를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시리즈물로 제작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2" name="Google Shape;1102;p24"/>
          <p:cNvSpPr/>
          <p:nvPr/>
        </p:nvSpPr>
        <p:spPr>
          <a:xfrm>
            <a:off x="9306875" y="394106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3" name="Google Shape;1103;p24"/>
          <p:cNvSpPr/>
          <p:nvPr/>
        </p:nvSpPr>
        <p:spPr>
          <a:xfrm>
            <a:off x="9306875" y="394106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4" name="Google Shape;1104;p24"/>
          <p:cNvSpPr/>
          <p:nvPr/>
        </p:nvSpPr>
        <p:spPr>
          <a:xfrm>
            <a:off x="10349689" y="394106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5" name="Google Shape;1105;p24"/>
          <p:cNvSpPr/>
          <p:nvPr/>
        </p:nvSpPr>
        <p:spPr>
          <a:xfrm>
            <a:off x="10349689" y="394106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2탄, 3탄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6" name="Google Shape;1106;p24"/>
          <p:cNvSpPr/>
          <p:nvPr/>
        </p:nvSpPr>
        <p:spPr>
          <a:xfrm>
            <a:off x="9306875" y="419709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7" name="Google Shape;1107;p24"/>
          <p:cNvSpPr/>
          <p:nvPr/>
        </p:nvSpPr>
        <p:spPr>
          <a:xfrm>
            <a:off x="9306875" y="419709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확대 ver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8" name="Google Shape;1108;p24"/>
          <p:cNvSpPr/>
          <p:nvPr/>
        </p:nvSpPr>
        <p:spPr>
          <a:xfrm>
            <a:off x="10349689" y="419709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9" name="Google Shape;1109;p24"/>
          <p:cNvSpPr/>
          <p:nvPr/>
        </p:nvSpPr>
        <p:spPr>
          <a:xfrm>
            <a:off x="10349689" y="419709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리액션 편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0" name="Google Shape;1110;p24"/>
          <p:cNvSpPr/>
          <p:nvPr/>
        </p:nvSpPr>
        <p:spPr>
          <a:xfrm>
            <a:off x="822960" y="4535424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1" name="Google Shape;1111;p24"/>
          <p:cNvSpPr/>
          <p:nvPr/>
        </p:nvSpPr>
        <p:spPr>
          <a:xfrm>
            <a:off x="946683" y="4654296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112" name="Google Shape;1112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35057" y="4745736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113" name="Google Shape;1113;p24"/>
          <p:cNvSpPr/>
          <p:nvPr/>
        </p:nvSpPr>
        <p:spPr>
          <a:xfrm>
            <a:off x="1423903" y="4617720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4" name="Google Shape;1114;p24"/>
          <p:cNvSpPr/>
          <p:nvPr/>
        </p:nvSpPr>
        <p:spPr>
          <a:xfrm>
            <a:off x="1423903" y="4617720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고채도 이미지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5" name="Google Shape;1115;p24"/>
          <p:cNvSpPr/>
          <p:nvPr/>
        </p:nvSpPr>
        <p:spPr>
          <a:xfrm>
            <a:off x="1423903" y="4809744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후원·응원·리액션 순간엔 강하게 표현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굵은 선 · 큰 동작으로 순간을 강조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6" name="Google Shape;1116;p24"/>
          <p:cNvSpPr/>
          <p:nvPr/>
        </p:nvSpPr>
        <p:spPr>
          <a:xfrm>
            <a:off x="4897006" y="4736592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7" name="Google Shape;1117;p24"/>
          <p:cNvSpPr/>
          <p:nvPr/>
        </p:nvSpPr>
        <p:spPr>
          <a:xfrm>
            <a:off x="5241665" y="4535424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8" name="Google Shape;1118;p24"/>
          <p:cNvSpPr/>
          <p:nvPr/>
        </p:nvSpPr>
        <p:spPr>
          <a:xfrm>
            <a:off x="5347714" y="4617720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9" name="Google Shape;1119;p24"/>
          <p:cNvSpPr/>
          <p:nvPr/>
        </p:nvSpPr>
        <p:spPr>
          <a:xfrm>
            <a:off x="5347714" y="4617720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0" name="Google Shape;1120;p24"/>
          <p:cNvSpPr/>
          <p:nvPr/>
        </p:nvSpPr>
        <p:spPr>
          <a:xfrm>
            <a:off x="5860284" y="4590288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고채도 후원·응원 리액션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1" name="Google Shape;1121;p24"/>
          <p:cNvSpPr/>
          <p:nvPr/>
        </p:nvSpPr>
        <p:spPr>
          <a:xfrm>
            <a:off x="5347714" y="4837176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후원·응원·리액션 순간에 사용하는 이모티콘은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눈에 잘띄는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형광·원색 포인트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등으로 제작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2" name="Google Shape;1122;p24"/>
          <p:cNvSpPr/>
          <p:nvPr/>
        </p:nvSpPr>
        <p:spPr>
          <a:xfrm>
            <a:off x="9306875" y="460857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3" name="Google Shape;1123;p24"/>
          <p:cNvSpPr/>
          <p:nvPr/>
        </p:nvSpPr>
        <p:spPr>
          <a:xfrm>
            <a:off x="9306875" y="460857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후원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4" name="Google Shape;1124;p24"/>
          <p:cNvSpPr/>
          <p:nvPr/>
        </p:nvSpPr>
        <p:spPr>
          <a:xfrm>
            <a:off x="10349689" y="460857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5" name="Google Shape;1125;p24"/>
          <p:cNvSpPr/>
          <p:nvPr/>
        </p:nvSpPr>
        <p:spPr>
          <a:xfrm>
            <a:off x="10349689" y="460857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리액션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6" name="Google Shape;1126;p24"/>
          <p:cNvSpPr/>
          <p:nvPr/>
        </p:nvSpPr>
        <p:spPr>
          <a:xfrm>
            <a:off x="9306875" y="486460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7" name="Google Shape;1127;p24"/>
          <p:cNvSpPr/>
          <p:nvPr/>
        </p:nvSpPr>
        <p:spPr>
          <a:xfrm>
            <a:off x="9306875" y="486460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댄스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8" name="Google Shape;1128;p24"/>
          <p:cNvSpPr/>
          <p:nvPr/>
        </p:nvSpPr>
        <p:spPr>
          <a:xfrm>
            <a:off x="10349689" y="486460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9" name="Google Shape;1129;p24"/>
          <p:cNvSpPr/>
          <p:nvPr/>
        </p:nvSpPr>
        <p:spPr>
          <a:xfrm>
            <a:off x="10349689" y="486460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응원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0" name="Google Shape;1130;p24"/>
          <p:cNvSpPr/>
          <p:nvPr/>
        </p:nvSpPr>
        <p:spPr>
          <a:xfrm>
            <a:off x="822960" y="5202936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1" name="Google Shape;1131;p24"/>
          <p:cNvSpPr/>
          <p:nvPr/>
        </p:nvSpPr>
        <p:spPr>
          <a:xfrm>
            <a:off x="946683" y="5321808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132" name="Google Shape;1132;p2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35057" y="5413248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133" name="Google Shape;1133;p24"/>
          <p:cNvSpPr/>
          <p:nvPr/>
        </p:nvSpPr>
        <p:spPr>
          <a:xfrm>
            <a:off x="1423903" y="5285232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4" name="Google Shape;1134;p24"/>
          <p:cNvSpPr/>
          <p:nvPr/>
        </p:nvSpPr>
        <p:spPr>
          <a:xfrm>
            <a:off x="1423903" y="5285232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유행어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5" name="Google Shape;1135;p24"/>
          <p:cNvSpPr/>
          <p:nvPr/>
        </p:nvSpPr>
        <p:spPr>
          <a:xfrm>
            <a:off x="1423903" y="5477256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스트리머 전용 밈·유행어는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매출은 높으나 아직도 공급 부족 현상 지속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6" name="Google Shape;1136;p24"/>
          <p:cNvSpPr/>
          <p:nvPr/>
        </p:nvSpPr>
        <p:spPr>
          <a:xfrm>
            <a:off x="4897006" y="5404104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7" name="Google Shape;1137;p24"/>
          <p:cNvSpPr/>
          <p:nvPr/>
        </p:nvSpPr>
        <p:spPr>
          <a:xfrm>
            <a:off x="5241665" y="5202936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8" name="Google Shape;1138;p24"/>
          <p:cNvSpPr/>
          <p:nvPr/>
        </p:nvSpPr>
        <p:spPr>
          <a:xfrm>
            <a:off x="5347714" y="5285232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9" name="Google Shape;1139;p24"/>
          <p:cNvSpPr/>
          <p:nvPr/>
        </p:nvSpPr>
        <p:spPr>
          <a:xfrm>
            <a:off x="5347714" y="5285232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0" name="Google Shape;1140;p24"/>
          <p:cNvSpPr/>
          <p:nvPr/>
        </p:nvSpPr>
        <p:spPr>
          <a:xfrm>
            <a:off x="5860284" y="5257800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방송인 유행어 아카이브형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1" name="Google Shape;1141;p24"/>
          <p:cNvSpPr/>
          <p:nvPr/>
        </p:nvSpPr>
        <p:spPr>
          <a:xfrm>
            <a:off x="5347714" y="5504688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방송에서 반복되는 은어·유행어·팬덤 인사를 이모티콘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 사전 조사를 통해 제작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2" name="Google Shape;1142;p24"/>
          <p:cNvSpPr/>
          <p:nvPr/>
        </p:nvSpPr>
        <p:spPr>
          <a:xfrm>
            <a:off x="9306875" y="527608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3" name="Google Shape;1143;p24"/>
          <p:cNvSpPr/>
          <p:nvPr/>
        </p:nvSpPr>
        <p:spPr>
          <a:xfrm>
            <a:off x="9306875" y="527608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유행어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4" name="Google Shape;1144;p24"/>
          <p:cNvSpPr/>
          <p:nvPr/>
        </p:nvSpPr>
        <p:spPr>
          <a:xfrm>
            <a:off x="10349689" y="527608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5" name="Google Shape;1145;p24"/>
          <p:cNvSpPr/>
          <p:nvPr/>
        </p:nvSpPr>
        <p:spPr>
          <a:xfrm>
            <a:off x="10349689" y="527608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은어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6" name="Google Shape;1146;p24"/>
          <p:cNvSpPr/>
          <p:nvPr/>
        </p:nvSpPr>
        <p:spPr>
          <a:xfrm>
            <a:off x="9306875" y="553212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7" name="Google Shape;1147;p24"/>
          <p:cNvSpPr/>
          <p:nvPr/>
        </p:nvSpPr>
        <p:spPr>
          <a:xfrm>
            <a:off x="9306875" y="553212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8" name="Google Shape;1148;p24"/>
          <p:cNvSpPr/>
          <p:nvPr/>
        </p:nvSpPr>
        <p:spPr>
          <a:xfrm>
            <a:off x="10349689" y="553212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9" name="Google Shape;1149;p24"/>
          <p:cNvSpPr/>
          <p:nvPr/>
        </p:nvSpPr>
        <p:spPr>
          <a:xfrm>
            <a:off x="10349689" y="553212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팬덤 전용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0" name="Google Shape;1150;p24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1" name="Google Shape;1151;p24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주제 선정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많이 사용하는 사용처의 트렌드를 참고하여 주제를 선정해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2" name="Google Shape;1152;p24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157" name="Shape 1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Google Shape;1158;p25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59" name="Google Shape;1159;p25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60" name="Google Shape;1160;p25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이미지 구성하기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1" name="Google Shape;1161;p25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2" name="Google Shape;1162;p25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 24종 이미지의 순서는 ‘방송 흐름’ 순서로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3" name="Google Shape;1163;p25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이용자의 사용 패턴을 참고하여 이모티콘을 구성해 보세요.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4" name="Google Shape;1164;p25"/>
          <p:cNvSpPr/>
          <p:nvPr/>
        </p:nvSpPr>
        <p:spPr>
          <a:xfrm>
            <a:off x="822960" y="2148840"/>
            <a:ext cx="5302446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5" name="Google Shape;1165;p25"/>
          <p:cNvSpPr/>
          <p:nvPr/>
        </p:nvSpPr>
        <p:spPr>
          <a:xfrm>
            <a:off x="822960" y="2148840"/>
            <a:ext cx="530244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 순서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6" name="Google Shape;1166;p25"/>
          <p:cNvSpPr/>
          <p:nvPr/>
        </p:nvSpPr>
        <p:spPr>
          <a:xfrm>
            <a:off x="822960" y="2569464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7" name="Google Shape;1167;p25"/>
          <p:cNvSpPr/>
          <p:nvPr/>
        </p:nvSpPr>
        <p:spPr>
          <a:xfrm>
            <a:off x="929008" y="2660904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8" name="Google Shape;1168;p25"/>
          <p:cNvSpPr/>
          <p:nvPr/>
        </p:nvSpPr>
        <p:spPr>
          <a:xfrm>
            <a:off x="929008" y="2660904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입장·인사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1~3번 · 3장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9" name="Google Shape;1169;p25"/>
          <p:cNvSpPr/>
          <p:nvPr/>
        </p:nvSpPr>
        <p:spPr>
          <a:xfrm>
            <a:off x="2060197" y="2671071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방송에 들어와 처음 치는 채팅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0" name="Google Shape;1170;p25"/>
          <p:cNvSpPr/>
          <p:nvPr/>
        </p:nvSpPr>
        <p:spPr>
          <a:xfrm>
            <a:off x="2060197" y="2916936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하이 · 안녕 · O하~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1" name="Google Shape;1171;p25"/>
          <p:cNvSpPr/>
          <p:nvPr/>
        </p:nvSpPr>
        <p:spPr>
          <a:xfrm>
            <a:off x="1353204" y="3154680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2" name="Google Shape;1172;p25"/>
          <p:cNvSpPr/>
          <p:nvPr/>
        </p:nvSpPr>
        <p:spPr>
          <a:xfrm>
            <a:off x="822960" y="3246120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3" name="Google Shape;1173;p25"/>
          <p:cNvSpPr/>
          <p:nvPr/>
        </p:nvSpPr>
        <p:spPr>
          <a:xfrm>
            <a:off x="929008" y="3337560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4" name="Google Shape;1174;p25"/>
          <p:cNvSpPr/>
          <p:nvPr/>
        </p:nvSpPr>
        <p:spPr>
          <a:xfrm>
            <a:off x="929008" y="3337560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시청·리액션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4~10번 · 7장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5" name="Google Shape;1175;p25"/>
          <p:cNvSpPr/>
          <p:nvPr/>
        </p:nvSpPr>
        <p:spPr>
          <a:xfrm>
            <a:off x="2060197" y="3347727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방송을 보면서 흘리듯 치는 가벼운 반응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6" name="Google Shape;1176;p25"/>
          <p:cNvSpPr/>
          <p:nvPr/>
        </p:nvSpPr>
        <p:spPr>
          <a:xfrm>
            <a:off x="2060197" y="3593592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ㅋㅋㅋ · ㅇㅈ · 확인 · 굿 · 두둥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7" name="Google Shape;1177;p25"/>
          <p:cNvSpPr/>
          <p:nvPr/>
        </p:nvSpPr>
        <p:spPr>
          <a:xfrm>
            <a:off x="1353204" y="3831336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8" name="Google Shape;1178;p25"/>
          <p:cNvSpPr/>
          <p:nvPr/>
        </p:nvSpPr>
        <p:spPr>
          <a:xfrm>
            <a:off x="822960" y="3922776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9" name="Google Shape;1179;p25"/>
          <p:cNvSpPr/>
          <p:nvPr/>
        </p:nvSpPr>
        <p:spPr>
          <a:xfrm>
            <a:off x="929008" y="4014216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0" name="Google Shape;1180;p25"/>
          <p:cNvSpPr/>
          <p:nvPr/>
        </p:nvSpPr>
        <p:spPr>
          <a:xfrm>
            <a:off x="929008" y="4014216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폭발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11~20번 · 10장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1" name="Google Shape;1181;p25"/>
          <p:cNvSpPr/>
          <p:nvPr/>
        </p:nvSpPr>
        <p:spPr>
          <a:xfrm>
            <a:off x="2060197" y="4024383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사건에 대한 반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응, 리액션 등 비중 큰 이미지 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2" name="Google Shape;1182;p25"/>
          <p:cNvSpPr/>
          <p:nvPr/>
        </p:nvSpPr>
        <p:spPr>
          <a:xfrm>
            <a:off x="2060197" y="4270248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대박 · 오열 · 심쿵 · 속터져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3" name="Google Shape;1183;p25"/>
          <p:cNvSpPr/>
          <p:nvPr/>
        </p:nvSpPr>
        <p:spPr>
          <a:xfrm>
            <a:off x="1353204" y="4507992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4" name="Google Shape;1184;p25"/>
          <p:cNvSpPr/>
          <p:nvPr/>
        </p:nvSpPr>
        <p:spPr>
          <a:xfrm>
            <a:off x="822960" y="4599432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5" name="Google Shape;1185;p25"/>
          <p:cNvSpPr/>
          <p:nvPr/>
        </p:nvSpPr>
        <p:spPr>
          <a:xfrm>
            <a:off x="929008" y="4690872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6" name="Google Shape;1186;p25"/>
          <p:cNvSpPr/>
          <p:nvPr/>
        </p:nvSpPr>
        <p:spPr>
          <a:xfrm>
            <a:off x="929008" y="4690872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반박·거절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21~22번 · 2장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7" name="Google Shape;1187;p25"/>
          <p:cNvSpPr/>
          <p:nvPr/>
        </p:nvSpPr>
        <p:spPr>
          <a:xfrm>
            <a:off x="2060197" y="4701039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도발·항의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등 강렬한 이모티콘 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8" name="Google Shape;1188;p25"/>
          <p:cNvSpPr/>
          <p:nvPr/>
        </p:nvSpPr>
        <p:spPr>
          <a:xfrm>
            <a:off x="2060197" y="4946904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안돼 · 그만 · 어쩌라고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9" name="Google Shape;1189;p25"/>
          <p:cNvSpPr/>
          <p:nvPr/>
        </p:nvSpPr>
        <p:spPr>
          <a:xfrm>
            <a:off x="1353204" y="5184648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0" name="Google Shape;1190;p25"/>
          <p:cNvSpPr/>
          <p:nvPr/>
        </p:nvSpPr>
        <p:spPr>
          <a:xfrm>
            <a:off x="822960" y="5276088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1" name="Google Shape;1191;p25"/>
          <p:cNvSpPr/>
          <p:nvPr/>
        </p:nvSpPr>
        <p:spPr>
          <a:xfrm>
            <a:off x="929008" y="5367528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2" name="Google Shape;1192;p25"/>
          <p:cNvSpPr/>
          <p:nvPr/>
        </p:nvSpPr>
        <p:spPr>
          <a:xfrm>
            <a:off x="929008" y="5367528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응원·작별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23~24번 · 2장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3" name="Google Shape;1193;p25"/>
          <p:cNvSpPr/>
          <p:nvPr/>
        </p:nvSpPr>
        <p:spPr>
          <a:xfrm>
            <a:off x="2060197" y="5377695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방송 마무리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4" name="Google Shape;1194;p25"/>
          <p:cNvSpPr/>
          <p:nvPr/>
        </p:nvSpPr>
        <p:spPr>
          <a:xfrm>
            <a:off x="2060197" y="5623560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화이팅 · 바이 · O바~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5" name="Google Shape;1195;p25"/>
          <p:cNvSpPr/>
          <p:nvPr/>
        </p:nvSpPr>
        <p:spPr>
          <a:xfrm>
            <a:off x="6390529" y="2148840"/>
            <a:ext cx="4975462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6" name="Google Shape;1196;p25"/>
          <p:cNvSpPr/>
          <p:nvPr/>
        </p:nvSpPr>
        <p:spPr>
          <a:xfrm>
            <a:off x="6390529" y="2148840"/>
            <a:ext cx="497546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24칸 배치도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7" name="Google Shape;1197;p25"/>
          <p:cNvSpPr/>
          <p:nvPr/>
        </p:nvSpPr>
        <p:spPr>
          <a:xfrm>
            <a:off x="6478903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8" name="Google Shape;1198;p25"/>
          <p:cNvSpPr/>
          <p:nvPr/>
        </p:nvSpPr>
        <p:spPr>
          <a:xfrm>
            <a:off x="6478903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입장·인사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9" name="Google Shape;1199;p25"/>
          <p:cNvSpPr/>
          <p:nvPr/>
        </p:nvSpPr>
        <p:spPr>
          <a:xfrm>
            <a:off x="7159384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0" name="Google Shape;1200;p25"/>
          <p:cNvSpPr/>
          <p:nvPr/>
        </p:nvSpPr>
        <p:spPr>
          <a:xfrm>
            <a:off x="7159384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1" name="Google Shape;1201;p25"/>
          <p:cNvSpPr/>
          <p:nvPr/>
        </p:nvSpPr>
        <p:spPr>
          <a:xfrm>
            <a:off x="7839864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2" name="Google Shape;1202;p25"/>
          <p:cNvSpPr/>
          <p:nvPr/>
        </p:nvSpPr>
        <p:spPr>
          <a:xfrm>
            <a:off x="7839864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3" name="Google Shape;1203;p25"/>
          <p:cNvSpPr/>
          <p:nvPr/>
        </p:nvSpPr>
        <p:spPr>
          <a:xfrm>
            <a:off x="8520345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4" name="Google Shape;1204;p25"/>
          <p:cNvSpPr/>
          <p:nvPr/>
        </p:nvSpPr>
        <p:spPr>
          <a:xfrm>
            <a:off x="8520345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시청·리액션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5" name="Google Shape;1205;p25"/>
          <p:cNvSpPr/>
          <p:nvPr/>
        </p:nvSpPr>
        <p:spPr>
          <a:xfrm>
            <a:off x="9200826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6" name="Google Shape;1206;p25"/>
          <p:cNvSpPr/>
          <p:nvPr/>
        </p:nvSpPr>
        <p:spPr>
          <a:xfrm>
            <a:off x="9200826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7" name="Google Shape;1207;p25"/>
          <p:cNvSpPr/>
          <p:nvPr/>
        </p:nvSpPr>
        <p:spPr>
          <a:xfrm>
            <a:off x="9881306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8" name="Google Shape;1208;p25"/>
          <p:cNvSpPr/>
          <p:nvPr/>
        </p:nvSpPr>
        <p:spPr>
          <a:xfrm>
            <a:off x="9881306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9" name="Google Shape;1209;p25"/>
          <p:cNvSpPr/>
          <p:nvPr/>
        </p:nvSpPr>
        <p:spPr>
          <a:xfrm>
            <a:off x="6478903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0" name="Google Shape;1210;p25"/>
          <p:cNvSpPr/>
          <p:nvPr/>
        </p:nvSpPr>
        <p:spPr>
          <a:xfrm>
            <a:off x="6478903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1" name="Google Shape;1211;p25"/>
          <p:cNvSpPr/>
          <p:nvPr/>
        </p:nvSpPr>
        <p:spPr>
          <a:xfrm>
            <a:off x="7159384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2" name="Google Shape;1212;p25"/>
          <p:cNvSpPr/>
          <p:nvPr/>
        </p:nvSpPr>
        <p:spPr>
          <a:xfrm>
            <a:off x="7159384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3" name="Google Shape;1213;p25"/>
          <p:cNvSpPr/>
          <p:nvPr/>
        </p:nvSpPr>
        <p:spPr>
          <a:xfrm>
            <a:off x="7839864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4" name="Google Shape;1214;p25"/>
          <p:cNvSpPr/>
          <p:nvPr/>
        </p:nvSpPr>
        <p:spPr>
          <a:xfrm>
            <a:off x="7839864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5" name="Google Shape;1215;p25"/>
          <p:cNvSpPr/>
          <p:nvPr/>
        </p:nvSpPr>
        <p:spPr>
          <a:xfrm>
            <a:off x="8520345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6" name="Google Shape;1216;p25"/>
          <p:cNvSpPr/>
          <p:nvPr/>
        </p:nvSpPr>
        <p:spPr>
          <a:xfrm>
            <a:off x="8520345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7" name="Google Shape;1217;p25"/>
          <p:cNvSpPr/>
          <p:nvPr/>
        </p:nvSpPr>
        <p:spPr>
          <a:xfrm>
            <a:off x="9200826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8" name="Google Shape;1218;p25"/>
          <p:cNvSpPr/>
          <p:nvPr/>
        </p:nvSpPr>
        <p:spPr>
          <a:xfrm>
            <a:off x="9200826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폭발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9" name="Google Shape;1219;p25"/>
          <p:cNvSpPr/>
          <p:nvPr/>
        </p:nvSpPr>
        <p:spPr>
          <a:xfrm>
            <a:off x="9881306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0" name="Google Shape;1220;p25"/>
          <p:cNvSpPr/>
          <p:nvPr/>
        </p:nvSpPr>
        <p:spPr>
          <a:xfrm>
            <a:off x="9881306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1" name="Google Shape;1221;p25"/>
          <p:cNvSpPr/>
          <p:nvPr/>
        </p:nvSpPr>
        <p:spPr>
          <a:xfrm>
            <a:off x="6478903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2" name="Google Shape;1222;p25"/>
          <p:cNvSpPr/>
          <p:nvPr/>
        </p:nvSpPr>
        <p:spPr>
          <a:xfrm>
            <a:off x="6478903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3" name="Google Shape;1223;p25"/>
          <p:cNvSpPr/>
          <p:nvPr/>
        </p:nvSpPr>
        <p:spPr>
          <a:xfrm>
            <a:off x="7159384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4" name="Google Shape;1224;p25"/>
          <p:cNvSpPr/>
          <p:nvPr/>
        </p:nvSpPr>
        <p:spPr>
          <a:xfrm>
            <a:off x="7159384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5" name="Google Shape;1225;p25"/>
          <p:cNvSpPr/>
          <p:nvPr/>
        </p:nvSpPr>
        <p:spPr>
          <a:xfrm>
            <a:off x="7839864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6" name="Google Shape;1226;p25"/>
          <p:cNvSpPr/>
          <p:nvPr/>
        </p:nvSpPr>
        <p:spPr>
          <a:xfrm>
            <a:off x="7839864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7" name="Google Shape;1227;p25"/>
          <p:cNvSpPr/>
          <p:nvPr/>
        </p:nvSpPr>
        <p:spPr>
          <a:xfrm>
            <a:off x="8520345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8" name="Google Shape;1228;p25"/>
          <p:cNvSpPr/>
          <p:nvPr/>
        </p:nvSpPr>
        <p:spPr>
          <a:xfrm>
            <a:off x="8520345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9" name="Google Shape;1229;p25"/>
          <p:cNvSpPr/>
          <p:nvPr/>
        </p:nvSpPr>
        <p:spPr>
          <a:xfrm>
            <a:off x="9200826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0" name="Google Shape;1230;p25"/>
          <p:cNvSpPr/>
          <p:nvPr/>
        </p:nvSpPr>
        <p:spPr>
          <a:xfrm>
            <a:off x="9200826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1" name="Google Shape;1231;p25"/>
          <p:cNvSpPr/>
          <p:nvPr/>
        </p:nvSpPr>
        <p:spPr>
          <a:xfrm>
            <a:off x="9881306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2" name="Google Shape;1232;p25"/>
          <p:cNvSpPr/>
          <p:nvPr/>
        </p:nvSpPr>
        <p:spPr>
          <a:xfrm>
            <a:off x="9881306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3" name="Google Shape;1233;p25"/>
          <p:cNvSpPr/>
          <p:nvPr/>
        </p:nvSpPr>
        <p:spPr>
          <a:xfrm>
            <a:off x="6478903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4" name="Google Shape;1234;p25"/>
          <p:cNvSpPr/>
          <p:nvPr/>
        </p:nvSpPr>
        <p:spPr>
          <a:xfrm>
            <a:off x="6478903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5" name="Google Shape;1235;p25"/>
          <p:cNvSpPr/>
          <p:nvPr/>
        </p:nvSpPr>
        <p:spPr>
          <a:xfrm>
            <a:off x="7159384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6" name="Google Shape;1236;p25"/>
          <p:cNvSpPr/>
          <p:nvPr/>
        </p:nvSpPr>
        <p:spPr>
          <a:xfrm>
            <a:off x="7159384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7" name="Google Shape;1237;p25"/>
          <p:cNvSpPr/>
          <p:nvPr/>
        </p:nvSpPr>
        <p:spPr>
          <a:xfrm>
            <a:off x="7839864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8" name="Google Shape;1238;p25"/>
          <p:cNvSpPr/>
          <p:nvPr/>
        </p:nvSpPr>
        <p:spPr>
          <a:xfrm>
            <a:off x="7839864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반박·거절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9" name="Google Shape;1239;p25"/>
          <p:cNvSpPr/>
          <p:nvPr/>
        </p:nvSpPr>
        <p:spPr>
          <a:xfrm>
            <a:off x="8520345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0" name="Google Shape;1240;p25"/>
          <p:cNvSpPr/>
          <p:nvPr/>
        </p:nvSpPr>
        <p:spPr>
          <a:xfrm>
            <a:off x="8520345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1" name="Google Shape;1241;p25"/>
          <p:cNvSpPr/>
          <p:nvPr/>
        </p:nvSpPr>
        <p:spPr>
          <a:xfrm>
            <a:off x="9200826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2" name="Google Shape;1242;p25"/>
          <p:cNvSpPr/>
          <p:nvPr/>
        </p:nvSpPr>
        <p:spPr>
          <a:xfrm>
            <a:off x="9200826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응원·작별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3" name="Google Shape;1243;p25"/>
          <p:cNvSpPr/>
          <p:nvPr/>
        </p:nvSpPr>
        <p:spPr>
          <a:xfrm>
            <a:off x="9881306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4" name="Google Shape;1244;p25"/>
          <p:cNvSpPr/>
          <p:nvPr/>
        </p:nvSpPr>
        <p:spPr>
          <a:xfrm>
            <a:off x="9881306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5" name="Google Shape;1245;p25"/>
          <p:cNvSpPr/>
          <p:nvPr/>
        </p:nvSpPr>
        <p:spPr>
          <a:xfrm>
            <a:off x="6443553" y="2532888"/>
            <a:ext cx="2067954" cy="457200"/>
          </a:xfrm>
          <a:prstGeom prst="roundRect">
            <a:avLst>
              <a:gd fmla="val 12000" name="adj"/>
            </a:avLst>
          </a:prstGeom>
          <a:noFill/>
          <a:ln cap="flat" cmpd="sng" w="19050">
            <a:solidFill>
              <a:srgbClr val="E0632F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6" name="Google Shape;1246;p25"/>
          <p:cNvSpPr/>
          <p:nvPr/>
        </p:nvSpPr>
        <p:spPr>
          <a:xfrm>
            <a:off x="10579462" y="2551176"/>
            <a:ext cx="883741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◀ 1~3번 이미지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선택의 첫인상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7" name="Google Shape;1247;p25"/>
          <p:cNvSpPr/>
          <p:nvPr/>
        </p:nvSpPr>
        <p:spPr>
          <a:xfrm>
            <a:off x="6390529" y="4398264"/>
            <a:ext cx="497546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 규칙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8" name="Google Shape;1248;p25"/>
          <p:cNvSpPr/>
          <p:nvPr/>
        </p:nvSpPr>
        <p:spPr>
          <a:xfrm>
            <a:off x="6390529" y="46177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1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1~3번</a:t>
            </a:r>
            <a:r>
              <a:rPr b="1" lang="en-US" sz="8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시작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장면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,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가장 많이 사용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할 것 같은 이미지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9" name="Google Shape;1249;p25"/>
          <p:cNvSpPr/>
          <p:nvPr/>
        </p:nvSpPr>
        <p:spPr>
          <a:xfrm>
            <a:off x="6390529" y="48463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2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스트리밍 리액션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스트리머 방송마다 사용하는 인기 리액션 배치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0" name="Google Shape;1250;p25"/>
          <p:cNvSpPr/>
          <p:nvPr/>
        </p:nvSpPr>
        <p:spPr>
          <a:xfrm>
            <a:off x="6390529" y="50749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3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감정을 가장 많이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중 10장은 감정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등의 표현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 드러나도록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1" name="Google Shape;1251;p25"/>
          <p:cNvSpPr/>
          <p:nvPr/>
        </p:nvSpPr>
        <p:spPr>
          <a:xfrm>
            <a:off x="6390529" y="53035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4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시작은 등장 인사, 마지막 장은 작별 인사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매출 이모티콘 중 다수가 인사로 시작과 종료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2" name="Google Shape;1252;p25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3" name="Google Shape;1253;p25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이미지 구성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입장에서 어떤 용도로 어떻게 사용할지를 전략적으로 구상해 보세요.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4" name="Google Shape;1254;p25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259" name="Shape 1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0" name="Google Shape;1260;p26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61" name="Google Shape;1261;p26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62" name="Google Shape;1262;p26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 전략 세우기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3" name="Google Shape;1263;p26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4" name="Google Shape;1264;p26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스트리머 방송 시간에 이모티콘 구매까지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5" name="Google Shape;1265;p26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lang="en-US" sz="11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통해 원하는 시간에 출시 예약을 설정할 수 있습니다. 전략적으로 이용해 보세요.</a:t>
            </a:r>
            <a:endParaRPr sz="1100">
              <a:solidFill>
                <a:srgbClr val="4B5563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66" name="Google Shape;1266;p26"/>
          <p:cNvSpPr/>
          <p:nvPr/>
        </p:nvSpPr>
        <p:spPr>
          <a:xfrm>
            <a:off x="822960" y="2148840"/>
            <a:ext cx="5655943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7" name="Google Shape;1267;p26"/>
          <p:cNvSpPr/>
          <p:nvPr/>
        </p:nvSpPr>
        <p:spPr>
          <a:xfrm>
            <a:off x="822960" y="2148840"/>
            <a:ext cx="5655943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시간대별 매출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68" name="Google Shape;1268;p26"/>
          <p:cNvCxnSpPr/>
          <p:nvPr/>
        </p:nvCxnSpPr>
        <p:spPr>
          <a:xfrm>
            <a:off x="955521" y="4526280"/>
            <a:ext cx="5390821" cy="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69" name="Google Shape;1269;p26"/>
          <p:cNvSpPr/>
          <p:nvPr/>
        </p:nvSpPr>
        <p:spPr>
          <a:xfrm>
            <a:off x="998198" y="3368842"/>
            <a:ext cx="139262" cy="1157438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0" name="Google Shape;1270;p26"/>
          <p:cNvSpPr/>
          <p:nvPr/>
        </p:nvSpPr>
        <p:spPr>
          <a:xfrm>
            <a:off x="95552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1" name="Google Shape;1271;p26"/>
          <p:cNvSpPr/>
          <p:nvPr/>
        </p:nvSpPr>
        <p:spPr>
          <a:xfrm>
            <a:off x="1222816" y="3600330"/>
            <a:ext cx="139262" cy="925950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2" name="Google Shape;1272;p26"/>
          <p:cNvSpPr/>
          <p:nvPr/>
        </p:nvSpPr>
        <p:spPr>
          <a:xfrm>
            <a:off x="1180138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3" name="Google Shape;1273;p26"/>
          <p:cNvSpPr/>
          <p:nvPr/>
        </p:nvSpPr>
        <p:spPr>
          <a:xfrm>
            <a:off x="1447433" y="3849624"/>
            <a:ext cx="139262" cy="676656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4" name="Google Shape;1274;p26"/>
          <p:cNvSpPr/>
          <p:nvPr/>
        </p:nvSpPr>
        <p:spPr>
          <a:xfrm>
            <a:off x="140475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5" name="Google Shape;1275;p26"/>
          <p:cNvSpPr/>
          <p:nvPr/>
        </p:nvSpPr>
        <p:spPr>
          <a:xfrm>
            <a:off x="1672051" y="4063305"/>
            <a:ext cx="139262" cy="462975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6" name="Google Shape;1276;p26"/>
          <p:cNvSpPr/>
          <p:nvPr/>
        </p:nvSpPr>
        <p:spPr>
          <a:xfrm>
            <a:off x="1629373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7" name="Google Shape;1277;p26"/>
          <p:cNvSpPr/>
          <p:nvPr/>
        </p:nvSpPr>
        <p:spPr>
          <a:xfrm>
            <a:off x="1896668" y="4223565"/>
            <a:ext cx="139262" cy="302715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8" name="Google Shape;1278;p26"/>
          <p:cNvSpPr/>
          <p:nvPr/>
        </p:nvSpPr>
        <p:spPr>
          <a:xfrm>
            <a:off x="185399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9" name="Google Shape;1279;p26"/>
          <p:cNvSpPr/>
          <p:nvPr/>
        </p:nvSpPr>
        <p:spPr>
          <a:xfrm>
            <a:off x="2121286" y="4276986"/>
            <a:ext cx="139262" cy="249294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0" name="Google Shape;1280;p26"/>
          <p:cNvSpPr/>
          <p:nvPr/>
        </p:nvSpPr>
        <p:spPr>
          <a:xfrm>
            <a:off x="2078608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1" name="Google Shape;1281;p26"/>
          <p:cNvSpPr/>
          <p:nvPr/>
        </p:nvSpPr>
        <p:spPr>
          <a:xfrm>
            <a:off x="2345903" y="4312599"/>
            <a:ext cx="139262" cy="213681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2" name="Google Shape;1282;p26"/>
          <p:cNvSpPr/>
          <p:nvPr/>
        </p:nvSpPr>
        <p:spPr>
          <a:xfrm>
            <a:off x="230322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3" name="Google Shape;1283;p26"/>
          <p:cNvSpPr/>
          <p:nvPr/>
        </p:nvSpPr>
        <p:spPr>
          <a:xfrm>
            <a:off x="2570521" y="4330406"/>
            <a:ext cx="139262" cy="195874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4" name="Google Shape;1284;p26"/>
          <p:cNvSpPr/>
          <p:nvPr/>
        </p:nvSpPr>
        <p:spPr>
          <a:xfrm>
            <a:off x="2527843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5" name="Google Shape;1285;p26"/>
          <p:cNvSpPr/>
          <p:nvPr/>
        </p:nvSpPr>
        <p:spPr>
          <a:xfrm>
            <a:off x="2439469" y="4184102"/>
            <a:ext cx="401365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6" name="Google Shape;1286;p26"/>
          <p:cNvSpPr/>
          <p:nvPr/>
        </p:nvSpPr>
        <p:spPr>
          <a:xfrm>
            <a:off x="2795138" y="4276986"/>
            <a:ext cx="139262" cy="249294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7" name="Google Shape;1287;p26"/>
          <p:cNvSpPr/>
          <p:nvPr/>
        </p:nvSpPr>
        <p:spPr>
          <a:xfrm>
            <a:off x="275246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8" name="Google Shape;1288;p26"/>
          <p:cNvSpPr/>
          <p:nvPr/>
        </p:nvSpPr>
        <p:spPr>
          <a:xfrm>
            <a:off x="3019756" y="4241372"/>
            <a:ext cx="139262" cy="284908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9" name="Google Shape;1289;p26"/>
          <p:cNvSpPr/>
          <p:nvPr/>
        </p:nvSpPr>
        <p:spPr>
          <a:xfrm>
            <a:off x="2977079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0" name="Google Shape;1290;p26"/>
          <p:cNvSpPr/>
          <p:nvPr/>
        </p:nvSpPr>
        <p:spPr>
          <a:xfrm>
            <a:off x="3244374" y="4152339"/>
            <a:ext cx="139262" cy="373941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1" name="Google Shape;1291;p26"/>
          <p:cNvSpPr/>
          <p:nvPr/>
        </p:nvSpPr>
        <p:spPr>
          <a:xfrm>
            <a:off x="320169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2" name="Google Shape;1292;p26"/>
          <p:cNvSpPr/>
          <p:nvPr/>
        </p:nvSpPr>
        <p:spPr>
          <a:xfrm>
            <a:off x="3468991" y="4081112"/>
            <a:ext cx="139262" cy="445168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3" name="Google Shape;1293;p26"/>
          <p:cNvSpPr/>
          <p:nvPr/>
        </p:nvSpPr>
        <p:spPr>
          <a:xfrm>
            <a:off x="3426314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4" name="Google Shape;1294;p26"/>
          <p:cNvSpPr/>
          <p:nvPr/>
        </p:nvSpPr>
        <p:spPr>
          <a:xfrm>
            <a:off x="3693609" y="4009885"/>
            <a:ext cx="139262" cy="516395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5" name="Google Shape;1295;p26"/>
          <p:cNvSpPr/>
          <p:nvPr/>
        </p:nvSpPr>
        <p:spPr>
          <a:xfrm>
            <a:off x="365093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6" name="Google Shape;1296;p26"/>
          <p:cNvSpPr/>
          <p:nvPr/>
        </p:nvSpPr>
        <p:spPr>
          <a:xfrm>
            <a:off x="3918226" y="3956464"/>
            <a:ext cx="139262" cy="569816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7" name="Google Shape;1297;p26"/>
          <p:cNvSpPr/>
          <p:nvPr/>
        </p:nvSpPr>
        <p:spPr>
          <a:xfrm>
            <a:off x="3875549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8" name="Google Shape;1298;p26"/>
          <p:cNvSpPr/>
          <p:nvPr/>
        </p:nvSpPr>
        <p:spPr>
          <a:xfrm>
            <a:off x="4142844" y="3867431"/>
            <a:ext cx="139262" cy="658849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9" name="Google Shape;1299;p26"/>
          <p:cNvSpPr/>
          <p:nvPr/>
        </p:nvSpPr>
        <p:spPr>
          <a:xfrm>
            <a:off x="410016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0" name="Google Shape;1300;p26"/>
          <p:cNvSpPr/>
          <p:nvPr/>
        </p:nvSpPr>
        <p:spPr>
          <a:xfrm>
            <a:off x="4367461" y="3814011"/>
            <a:ext cx="139262" cy="712269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1" name="Google Shape;1301;p26"/>
          <p:cNvSpPr/>
          <p:nvPr/>
        </p:nvSpPr>
        <p:spPr>
          <a:xfrm>
            <a:off x="4324784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2" name="Google Shape;1302;p26"/>
          <p:cNvSpPr/>
          <p:nvPr/>
        </p:nvSpPr>
        <p:spPr>
          <a:xfrm>
            <a:off x="4592079" y="3618136"/>
            <a:ext cx="139262" cy="908144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3" name="Google Shape;1303;p26"/>
          <p:cNvSpPr/>
          <p:nvPr/>
        </p:nvSpPr>
        <p:spPr>
          <a:xfrm>
            <a:off x="454940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4" name="Google Shape;1304;p26"/>
          <p:cNvSpPr/>
          <p:nvPr/>
        </p:nvSpPr>
        <p:spPr>
          <a:xfrm>
            <a:off x="4816696" y="3653750"/>
            <a:ext cx="139262" cy="872530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5" name="Google Shape;1305;p26"/>
          <p:cNvSpPr/>
          <p:nvPr/>
        </p:nvSpPr>
        <p:spPr>
          <a:xfrm>
            <a:off x="4774019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6" name="Google Shape;1306;p26"/>
          <p:cNvSpPr/>
          <p:nvPr/>
        </p:nvSpPr>
        <p:spPr>
          <a:xfrm>
            <a:off x="5041314" y="3511296"/>
            <a:ext cx="139262" cy="101498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7" name="Google Shape;1307;p26"/>
          <p:cNvSpPr/>
          <p:nvPr/>
        </p:nvSpPr>
        <p:spPr>
          <a:xfrm>
            <a:off x="499863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8" name="Google Shape;1308;p26"/>
          <p:cNvSpPr/>
          <p:nvPr/>
        </p:nvSpPr>
        <p:spPr>
          <a:xfrm>
            <a:off x="5265931" y="3262002"/>
            <a:ext cx="139262" cy="126427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9" name="Google Shape;1309;p26"/>
          <p:cNvSpPr/>
          <p:nvPr/>
        </p:nvSpPr>
        <p:spPr>
          <a:xfrm>
            <a:off x="5223254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0" name="Google Shape;1310;p26"/>
          <p:cNvSpPr/>
          <p:nvPr/>
        </p:nvSpPr>
        <p:spPr>
          <a:xfrm>
            <a:off x="5490549" y="3119548"/>
            <a:ext cx="139262" cy="140673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1" name="Google Shape;1311;p26"/>
          <p:cNvSpPr/>
          <p:nvPr/>
        </p:nvSpPr>
        <p:spPr>
          <a:xfrm>
            <a:off x="5447872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2" name="Google Shape;1312;p26"/>
          <p:cNvSpPr/>
          <p:nvPr/>
        </p:nvSpPr>
        <p:spPr>
          <a:xfrm>
            <a:off x="5715167" y="3066128"/>
            <a:ext cx="139262" cy="146015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3" name="Google Shape;1313;p26"/>
          <p:cNvSpPr/>
          <p:nvPr/>
        </p:nvSpPr>
        <p:spPr>
          <a:xfrm>
            <a:off x="5672489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4" name="Google Shape;1314;p26"/>
          <p:cNvSpPr/>
          <p:nvPr/>
        </p:nvSpPr>
        <p:spPr>
          <a:xfrm>
            <a:off x="5939784" y="3012707"/>
            <a:ext cx="139262" cy="1513573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5" name="Google Shape;1315;p26"/>
          <p:cNvSpPr/>
          <p:nvPr/>
        </p:nvSpPr>
        <p:spPr>
          <a:xfrm>
            <a:off x="5897107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6" name="Google Shape;1316;p26"/>
          <p:cNvSpPr/>
          <p:nvPr/>
        </p:nvSpPr>
        <p:spPr>
          <a:xfrm>
            <a:off x="5808733" y="2866403"/>
            <a:ext cx="401365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8.5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7" name="Google Shape;1317;p26"/>
          <p:cNvSpPr/>
          <p:nvPr/>
        </p:nvSpPr>
        <p:spPr>
          <a:xfrm>
            <a:off x="6164402" y="3155161"/>
            <a:ext cx="139262" cy="1371119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8" name="Google Shape;1318;p26"/>
          <p:cNvSpPr/>
          <p:nvPr/>
        </p:nvSpPr>
        <p:spPr>
          <a:xfrm>
            <a:off x="6121724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9" name="Google Shape;1319;p26"/>
          <p:cNvSpPr/>
          <p:nvPr/>
        </p:nvSpPr>
        <p:spPr>
          <a:xfrm>
            <a:off x="4980962" y="2816352"/>
            <a:ext cx="1383054" cy="1728216"/>
          </a:xfrm>
          <a:prstGeom prst="roundRect">
            <a:avLst>
              <a:gd fmla="val 3195" name="adj"/>
            </a:avLst>
          </a:prstGeom>
          <a:noFill/>
          <a:ln cap="flat" cmpd="sng" w="12700">
            <a:solidFill>
              <a:srgbClr val="E0632F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0" name="Google Shape;1320;p26"/>
          <p:cNvSpPr/>
          <p:nvPr/>
        </p:nvSpPr>
        <p:spPr>
          <a:xfrm>
            <a:off x="3584651" y="2633472"/>
            <a:ext cx="2761691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18~23시 집중 구간 — 하루 매출의 45%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1" name="Google Shape;1321;p26"/>
          <p:cNvSpPr/>
          <p:nvPr/>
        </p:nvSpPr>
        <p:spPr>
          <a:xfrm>
            <a:off x="822960" y="4709160"/>
            <a:ext cx="2651223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6B728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가로축: 시 (0~23시)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2" name="Google Shape;1322;p26"/>
          <p:cNvSpPr/>
          <p:nvPr/>
        </p:nvSpPr>
        <p:spPr>
          <a:xfrm>
            <a:off x="6637976" y="2148840"/>
            <a:ext cx="4728015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3" name="Google Shape;1323;p26"/>
          <p:cNvSpPr/>
          <p:nvPr/>
        </p:nvSpPr>
        <p:spPr>
          <a:xfrm>
            <a:off x="6637976" y="2148840"/>
            <a:ext cx="4728015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요일별 매출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24" name="Google Shape;1324;p26"/>
          <p:cNvCxnSpPr/>
          <p:nvPr/>
        </p:nvCxnSpPr>
        <p:spPr>
          <a:xfrm>
            <a:off x="6814725" y="4526280"/>
            <a:ext cx="4374518" cy="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25" name="Google Shape;1325;p26"/>
          <p:cNvSpPr/>
          <p:nvPr/>
        </p:nvSpPr>
        <p:spPr>
          <a:xfrm>
            <a:off x="6939711" y="3219958"/>
            <a:ext cx="374958" cy="1306322"/>
          </a:xfrm>
          <a:prstGeom prst="rect">
            <a:avLst/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6" name="Google Shape;1326;p26"/>
          <p:cNvSpPr/>
          <p:nvPr/>
        </p:nvSpPr>
        <p:spPr>
          <a:xfrm>
            <a:off x="6814725" y="3055366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13.9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7" name="Google Shape;1327;p26"/>
          <p:cNvSpPr/>
          <p:nvPr/>
        </p:nvSpPr>
        <p:spPr>
          <a:xfrm>
            <a:off x="6814725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8" name="Google Shape;1328;p26"/>
          <p:cNvSpPr/>
          <p:nvPr/>
        </p:nvSpPr>
        <p:spPr>
          <a:xfrm>
            <a:off x="7564642" y="3210560"/>
            <a:ext cx="374958" cy="1315720"/>
          </a:xfrm>
          <a:prstGeom prst="rect">
            <a:avLst/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9" name="Google Shape;1329;p26"/>
          <p:cNvSpPr/>
          <p:nvPr/>
        </p:nvSpPr>
        <p:spPr>
          <a:xfrm>
            <a:off x="7439655" y="3045968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14.0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0" name="Google Shape;1330;p26"/>
          <p:cNvSpPr/>
          <p:nvPr/>
        </p:nvSpPr>
        <p:spPr>
          <a:xfrm>
            <a:off x="7439655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1" name="Google Shape;1331;p26"/>
          <p:cNvSpPr/>
          <p:nvPr/>
        </p:nvSpPr>
        <p:spPr>
          <a:xfrm>
            <a:off x="8189573" y="3266948"/>
            <a:ext cx="374958" cy="1259332"/>
          </a:xfrm>
          <a:prstGeom prst="rect">
            <a:avLst/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2" name="Google Shape;1332;p26"/>
          <p:cNvSpPr/>
          <p:nvPr/>
        </p:nvSpPr>
        <p:spPr>
          <a:xfrm>
            <a:off x="8064587" y="3102356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13.4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3" name="Google Shape;1333;p26"/>
          <p:cNvSpPr/>
          <p:nvPr/>
        </p:nvSpPr>
        <p:spPr>
          <a:xfrm>
            <a:off x="8064587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4" name="Google Shape;1334;p26"/>
          <p:cNvSpPr/>
          <p:nvPr/>
        </p:nvSpPr>
        <p:spPr>
          <a:xfrm>
            <a:off x="8814505" y="3050794"/>
            <a:ext cx="374958" cy="147548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5" name="Google Shape;1335;p26"/>
          <p:cNvSpPr/>
          <p:nvPr/>
        </p:nvSpPr>
        <p:spPr>
          <a:xfrm>
            <a:off x="8689518" y="2886202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15.7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6" name="Google Shape;1336;p26"/>
          <p:cNvSpPr/>
          <p:nvPr/>
        </p:nvSpPr>
        <p:spPr>
          <a:xfrm>
            <a:off x="8689518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7" name="Google Shape;1337;p26"/>
          <p:cNvSpPr/>
          <p:nvPr/>
        </p:nvSpPr>
        <p:spPr>
          <a:xfrm>
            <a:off x="9439436" y="3031998"/>
            <a:ext cx="374958" cy="149428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8" name="Google Shape;1338;p26"/>
          <p:cNvSpPr/>
          <p:nvPr/>
        </p:nvSpPr>
        <p:spPr>
          <a:xfrm>
            <a:off x="9314450" y="2867406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15.9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9" name="Google Shape;1339;p26"/>
          <p:cNvSpPr/>
          <p:nvPr/>
        </p:nvSpPr>
        <p:spPr>
          <a:xfrm>
            <a:off x="9314450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0" name="Google Shape;1340;p26"/>
          <p:cNvSpPr/>
          <p:nvPr/>
        </p:nvSpPr>
        <p:spPr>
          <a:xfrm>
            <a:off x="10064367" y="3219958"/>
            <a:ext cx="374958" cy="1306322"/>
          </a:xfrm>
          <a:prstGeom prst="rect">
            <a:avLst/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1" name="Google Shape;1341;p26"/>
          <p:cNvSpPr/>
          <p:nvPr/>
        </p:nvSpPr>
        <p:spPr>
          <a:xfrm>
            <a:off x="9939381" y="3055366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13.9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2" name="Google Shape;1342;p26"/>
          <p:cNvSpPr/>
          <p:nvPr/>
        </p:nvSpPr>
        <p:spPr>
          <a:xfrm>
            <a:off x="9939381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3" name="Google Shape;1343;p26"/>
          <p:cNvSpPr/>
          <p:nvPr/>
        </p:nvSpPr>
        <p:spPr>
          <a:xfrm>
            <a:off x="10689298" y="3285744"/>
            <a:ext cx="374958" cy="1240536"/>
          </a:xfrm>
          <a:prstGeom prst="rect">
            <a:avLst/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4" name="Google Shape;1344;p26"/>
          <p:cNvSpPr/>
          <p:nvPr/>
        </p:nvSpPr>
        <p:spPr>
          <a:xfrm>
            <a:off x="10564312" y="3121152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13.2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5" name="Google Shape;1345;p26"/>
          <p:cNvSpPr/>
          <p:nvPr/>
        </p:nvSpPr>
        <p:spPr>
          <a:xfrm>
            <a:off x="10564312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6" name="Google Shape;1346;p26"/>
          <p:cNvSpPr/>
          <p:nvPr/>
        </p:nvSpPr>
        <p:spPr>
          <a:xfrm>
            <a:off x="6637975" y="4709150"/>
            <a:ext cx="45936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6B7280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목·금 31.6%  ·  주말 27.1%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7" name="Google Shape;1347;p26"/>
          <p:cNvSpPr/>
          <p:nvPr/>
        </p:nvSpPr>
        <p:spPr>
          <a:xfrm>
            <a:off x="822960" y="4956048"/>
            <a:ext cx="7069929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 하반기 캘린더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8" name="Google Shape;1348;p26"/>
          <p:cNvSpPr/>
          <p:nvPr/>
        </p:nvSpPr>
        <p:spPr>
          <a:xfrm>
            <a:off x="822960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9" name="Google Shape;1349;p26"/>
          <p:cNvSpPr/>
          <p:nvPr/>
        </p:nvSpPr>
        <p:spPr>
          <a:xfrm>
            <a:off x="955521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9월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0" name="Google Shape;1350;p26"/>
          <p:cNvSpPr/>
          <p:nvPr/>
        </p:nvSpPr>
        <p:spPr>
          <a:xfrm>
            <a:off x="955521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LCK 결승(9/13) · 추석(9/24~26) · 아시안게임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1" name="Google Shape;1351;p26"/>
          <p:cNvSpPr/>
          <p:nvPr/>
        </p:nvSpPr>
        <p:spPr>
          <a:xfrm>
            <a:off x="955521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응원·승리 리액션 · 명절 인사 · 국대 응원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2" name="Google Shape;1352;p26"/>
          <p:cNvSpPr/>
          <p:nvPr/>
        </p:nvSpPr>
        <p:spPr>
          <a:xfrm>
            <a:off x="3497160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3" name="Google Shape;1353;p26"/>
          <p:cNvSpPr/>
          <p:nvPr/>
        </p:nvSpPr>
        <p:spPr>
          <a:xfrm>
            <a:off x="3629721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10월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4" name="Google Shape;1354;p26"/>
          <p:cNvSpPr/>
          <p:nvPr/>
        </p:nvSpPr>
        <p:spPr>
          <a:xfrm>
            <a:off x="3629721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롤드컵 개막(10/15) · 할로윈 · 가을 신규 방송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5" name="Google Shape;1355;p26"/>
          <p:cNvSpPr/>
          <p:nvPr/>
        </p:nvSpPr>
        <p:spPr>
          <a:xfrm>
            <a:off x="3629721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LCK 응원 · 할로윈 리액션 · 첫 방송 인사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6" name="Google Shape;1356;p26"/>
          <p:cNvSpPr/>
          <p:nvPr/>
        </p:nvSpPr>
        <p:spPr>
          <a:xfrm>
            <a:off x="6171361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7" name="Google Shape;1357;p26"/>
          <p:cNvSpPr/>
          <p:nvPr/>
        </p:nvSpPr>
        <p:spPr>
          <a:xfrm>
            <a:off x="6303922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11월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8" name="Google Shape;1358;p26"/>
          <p:cNvSpPr/>
          <p:nvPr/>
        </p:nvSpPr>
        <p:spPr>
          <a:xfrm>
            <a:off x="6303922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롤드컵 결승(11/14) · 수능(11/19) · 빼빼로데이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9" name="Google Shape;1359;p26"/>
          <p:cNvSpPr/>
          <p:nvPr/>
        </p:nvSpPr>
        <p:spPr>
          <a:xfrm>
            <a:off x="6303922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우승 축하 리액션 · 수능 응원 · 고백·선물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0" name="Google Shape;1360;p26"/>
          <p:cNvSpPr/>
          <p:nvPr/>
        </p:nvSpPr>
        <p:spPr>
          <a:xfrm>
            <a:off x="8845562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1" name="Google Shape;1361;p26"/>
          <p:cNvSpPr/>
          <p:nvPr/>
        </p:nvSpPr>
        <p:spPr>
          <a:xfrm>
            <a:off x="8978123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12월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2" name="Google Shape;1362;p26"/>
          <p:cNvSpPr/>
          <p:nvPr/>
        </p:nvSpPr>
        <p:spPr>
          <a:xfrm>
            <a:off x="8978123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스트리머 대상 시상식(12월 말) · 크리스마스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3" name="Google Shape;1363;p26"/>
          <p:cNvSpPr/>
          <p:nvPr/>
        </p:nvSpPr>
        <p:spPr>
          <a:xfrm>
            <a:off x="8978123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수상 축하·감사 · 연말 결산 리액션 · 새해 인사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4" name="Google Shape;1364;p26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5" name="Google Shape;1365;p26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 전략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이용하여 전략적인 출시에 도전해 보세요.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6" name="Google Shape;1366;p26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371" name="Shape 1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" name="Google Shape;1372;p27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73" name="Google Shape;1373;p27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74" name="Google Shape;1374;p27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핵심 내용 요약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5" name="Google Shape;1375;p27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6" name="Google Shape;1376;p27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요약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7" name="Google Shape;1377;p27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플레이북으로 안내해 드린 방법을 참고해 주세요.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78" name="Google Shape;1378;p27"/>
          <p:cNvCxnSpPr/>
          <p:nvPr/>
        </p:nvCxnSpPr>
        <p:spPr>
          <a:xfrm>
            <a:off x="1826006" y="2231136"/>
            <a:ext cx="8536939" cy="0"/>
          </a:xfrm>
          <a:prstGeom prst="straightConnector1">
            <a:avLst/>
          </a:prstGeom>
          <a:noFill/>
          <a:ln cap="flat" cmpd="sng" w="19050">
            <a:solidFill>
              <a:srgbClr val="C5D6C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79" name="Google Shape;1379;p27"/>
          <p:cNvSpPr/>
          <p:nvPr/>
        </p:nvSpPr>
        <p:spPr>
          <a:xfrm>
            <a:off x="174646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0" name="Google Shape;1380;p27"/>
          <p:cNvSpPr/>
          <p:nvPr/>
        </p:nvSpPr>
        <p:spPr>
          <a:xfrm>
            <a:off x="822960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1" name="Google Shape;1381;p27"/>
          <p:cNvSpPr/>
          <p:nvPr/>
        </p:nvSpPr>
        <p:spPr>
          <a:xfrm>
            <a:off x="955521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2" name="Google Shape;1382;p27"/>
          <p:cNvSpPr/>
          <p:nvPr/>
        </p:nvSpPr>
        <p:spPr>
          <a:xfrm>
            <a:off x="982033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3" name="Google Shape;1383;p27"/>
          <p:cNvSpPr/>
          <p:nvPr/>
        </p:nvSpPr>
        <p:spPr>
          <a:xfrm>
            <a:off x="145925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탐색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4" name="Google Shape;1384;p27"/>
          <p:cNvSpPr/>
          <p:nvPr/>
        </p:nvSpPr>
        <p:spPr>
          <a:xfrm>
            <a:off x="228113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385" name="Google Shape;1385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7834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386" name="Google Shape;1386;p27"/>
          <p:cNvSpPr/>
          <p:nvPr/>
        </p:nvSpPr>
        <p:spPr>
          <a:xfrm>
            <a:off x="955521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7" name="Google Shape;1387;p27"/>
          <p:cNvSpPr/>
          <p:nvPr/>
        </p:nvSpPr>
        <p:spPr>
          <a:xfrm>
            <a:off x="999708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매출 이모티콘 탐색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8" name="Google Shape;1388;p27"/>
          <p:cNvSpPr/>
          <p:nvPr/>
        </p:nvSpPr>
        <p:spPr>
          <a:xfrm>
            <a:off x="982033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인기 이모티콘 큐레이션과 인기순 정렬로 실제 SOOP에서 인기 있는 </a:t>
            </a:r>
            <a:r>
              <a:rPr lang="en-US" sz="95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이모티콘을</a:t>
            </a: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확인해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9" name="Google Shape;1389;p27"/>
          <p:cNvSpPr/>
          <p:nvPr/>
        </p:nvSpPr>
        <p:spPr>
          <a:xfrm>
            <a:off x="955521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0" name="Google Shape;1390;p27"/>
          <p:cNvSpPr/>
          <p:nvPr/>
        </p:nvSpPr>
        <p:spPr>
          <a:xfrm>
            <a:off x="1061570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1" name="Google Shape;1391;p27"/>
          <p:cNvSpPr/>
          <p:nvPr/>
        </p:nvSpPr>
        <p:spPr>
          <a:xfrm>
            <a:off x="122948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큐레이션 · 인기순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2" name="Google Shape;1392;p27"/>
          <p:cNvSpPr/>
          <p:nvPr/>
        </p:nvSpPr>
        <p:spPr>
          <a:xfrm>
            <a:off x="955521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3" name="Google Shape;1393;p27"/>
          <p:cNvSpPr/>
          <p:nvPr/>
        </p:nvSpPr>
        <p:spPr>
          <a:xfrm>
            <a:off x="1061570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4" name="Google Shape;1394;p27"/>
          <p:cNvSpPr/>
          <p:nvPr/>
        </p:nvSpPr>
        <p:spPr>
          <a:xfrm>
            <a:off x="122948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실시간 순위 기록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5" name="Google Shape;1395;p27"/>
          <p:cNvSpPr/>
          <p:nvPr/>
        </p:nvSpPr>
        <p:spPr>
          <a:xfrm>
            <a:off x="2846727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6" name="Google Shape;1396;p27"/>
          <p:cNvSpPr/>
          <p:nvPr/>
        </p:nvSpPr>
        <p:spPr>
          <a:xfrm>
            <a:off x="3880704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7" name="Google Shape;1397;p27"/>
          <p:cNvSpPr/>
          <p:nvPr/>
        </p:nvSpPr>
        <p:spPr>
          <a:xfrm>
            <a:off x="2957194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8" name="Google Shape;1398;p27"/>
          <p:cNvSpPr/>
          <p:nvPr/>
        </p:nvSpPr>
        <p:spPr>
          <a:xfrm>
            <a:off x="3089756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9" name="Google Shape;1399;p27"/>
          <p:cNvSpPr/>
          <p:nvPr/>
        </p:nvSpPr>
        <p:spPr>
          <a:xfrm>
            <a:off x="3116268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0" name="Google Shape;1400;p27"/>
          <p:cNvSpPr/>
          <p:nvPr/>
        </p:nvSpPr>
        <p:spPr>
          <a:xfrm>
            <a:off x="3593488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</a:t>
            </a:r>
            <a:b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lang="en-US" sz="11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</a:t>
            </a: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분석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1" name="Google Shape;1401;p27"/>
          <p:cNvSpPr/>
          <p:nvPr/>
        </p:nvSpPr>
        <p:spPr>
          <a:xfrm>
            <a:off x="4415367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402" name="Google Shape;1402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12579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403" name="Google Shape;1403;p27"/>
          <p:cNvSpPr/>
          <p:nvPr/>
        </p:nvSpPr>
        <p:spPr>
          <a:xfrm>
            <a:off x="3089756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4" name="Google Shape;1404;p27"/>
          <p:cNvSpPr/>
          <p:nvPr/>
        </p:nvSpPr>
        <p:spPr>
          <a:xfrm>
            <a:off x="3133943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lang="en-US" sz="1150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</a:t>
            </a: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 상세 분석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5" name="Google Shape;1405;p27"/>
          <p:cNvSpPr/>
          <p:nvPr/>
        </p:nvSpPr>
        <p:spPr>
          <a:xfrm>
            <a:off x="3116268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매출 상위 </a:t>
            </a:r>
            <a:r>
              <a:rPr lang="en-US" sz="95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이모티콘을</a:t>
            </a: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분석하여 이모티콘 제작에 참고해 주세요.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6" name="Google Shape;1406;p27"/>
          <p:cNvSpPr/>
          <p:nvPr/>
        </p:nvSpPr>
        <p:spPr>
          <a:xfrm>
            <a:off x="3089756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7" name="Google Shape;1407;p27"/>
          <p:cNvSpPr/>
          <p:nvPr/>
        </p:nvSpPr>
        <p:spPr>
          <a:xfrm>
            <a:off x="3195805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8" name="Google Shape;1408;p27"/>
          <p:cNvSpPr/>
          <p:nvPr/>
        </p:nvSpPr>
        <p:spPr>
          <a:xfrm>
            <a:off x="3363715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유형별 매출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9" name="Google Shape;1409;p27"/>
          <p:cNvSpPr/>
          <p:nvPr/>
        </p:nvSpPr>
        <p:spPr>
          <a:xfrm>
            <a:off x="3089756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0" name="Google Shape;1410;p27"/>
          <p:cNvSpPr/>
          <p:nvPr/>
        </p:nvSpPr>
        <p:spPr>
          <a:xfrm>
            <a:off x="3195805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1" name="Google Shape;1411;p27"/>
          <p:cNvSpPr/>
          <p:nvPr/>
        </p:nvSpPr>
        <p:spPr>
          <a:xfrm>
            <a:off x="3363715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</a:t>
            </a: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속성별 데이터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2" name="Google Shape;1412;p27"/>
          <p:cNvSpPr/>
          <p:nvPr/>
        </p:nvSpPr>
        <p:spPr>
          <a:xfrm>
            <a:off x="4980962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3" name="Google Shape;1413;p27"/>
          <p:cNvSpPr/>
          <p:nvPr/>
        </p:nvSpPr>
        <p:spPr>
          <a:xfrm>
            <a:off x="601493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4" name="Google Shape;1414;p27"/>
          <p:cNvSpPr/>
          <p:nvPr/>
        </p:nvSpPr>
        <p:spPr>
          <a:xfrm>
            <a:off x="5091429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5" name="Google Shape;1415;p27"/>
          <p:cNvSpPr/>
          <p:nvPr/>
        </p:nvSpPr>
        <p:spPr>
          <a:xfrm>
            <a:off x="5223990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6" name="Google Shape;1416;p27"/>
          <p:cNvSpPr/>
          <p:nvPr/>
        </p:nvSpPr>
        <p:spPr>
          <a:xfrm>
            <a:off x="5250503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7" name="Google Shape;1417;p27"/>
          <p:cNvSpPr/>
          <p:nvPr/>
        </p:nvSpPr>
        <p:spPr>
          <a:xfrm>
            <a:off x="572772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주제 선정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8" name="Google Shape;1418;p27"/>
          <p:cNvSpPr/>
          <p:nvPr/>
        </p:nvSpPr>
        <p:spPr>
          <a:xfrm>
            <a:off x="654960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419" name="Google Shape;1419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64681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420" name="Google Shape;1420;p27"/>
          <p:cNvSpPr/>
          <p:nvPr/>
        </p:nvSpPr>
        <p:spPr>
          <a:xfrm>
            <a:off x="5223990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1" name="Google Shape;1421;p27"/>
          <p:cNvSpPr/>
          <p:nvPr/>
        </p:nvSpPr>
        <p:spPr>
          <a:xfrm>
            <a:off x="5268178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 주제 탐색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2" name="Google Shape;1422;p27"/>
          <p:cNvSpPr/>
          <p:nvPr/>
        </p:nvSpPr>
        <p:spPr>
          <a:xfrm>
            <a:off x="5250503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많이 사용하는 사용처의 트렌드를 참고하여 주제를 선정해 주세요.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3" name="Google Shape;1423;p27"/>
          <p:cNvSpPr/>
          <p:nvPr/>
        </p:nvSpPr>
        <p:spPr>
          <a:xfrm>
            <a:off x="5223990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4" name="Google Shape;1424;p27"/>
          <p:cNvSpPr/>
          <p:nvPr/>
        </p:nvSpPr>
        <p:spPr>
          <a:xfrm>
            <a:off x="5330039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5" name="Google Shape;1425;p27"/>
          <p:cNvSpPr/>
          <p:nvPr/>
        </p:nvSpPr>
        <p:spPr>
          <a:xfrm>
            <a:off x="549795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트렌드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6" name="Google Shape;1426;p27"/>
          <p:cNvSpPr/>
          <p:nvPr/>
        </p:nvSpPr>
        <p:spPr>
          <a:xfrm>
            <a:off x="5223990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7" name="Google Shape;1427;p27"/>
          <p:cNvSpPr/>
          <p:nvPr/>
        </p:nvSpPr>
        <p:spPr>
          <a:xfrm>
            <a:off x="5330039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8" name="Google Shape;1428;p27"/>
          <p:cNvSpPr/>
          <p:nvPr/>
        </p:nvSpPr>
        <p:spPr>
          <a:xfrm>
            <a:off x="549795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트렌드에 따른 이모티콘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9" name="Google Shape;1429;p27"/>
          <p:cNvSpPr/>
          <p:nvPr/>
        </p:nvSpPr>
        <p:spPr>
          <a:xfrm>
            <a:off x="7115197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0" name="Google Shape;1430;p27"/>
          <p:cNvSpPr/>
          <p:nvPr/>
        </p:nvSpPr>
        <p:spPr>
          <a:xfrm>
            <a:off x="8149174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1" name="Google Shape;1431;p27"/>
          <p:cNvSpPr/>
          <p:nvPr/>
        </p:nvSpPr>
        <p:spPr>
          <a:xfrm>
            <a:off x="7225664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2" name="Google Shape;1432;p27"/>
          <p:cNvSpPr/>
          <p:nvPr/>
        </p:nvSpPr>
        <p:spPr>
          <a:xfrm>
            <a:off x="7358225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3" name="Google Shape;1433;p27"/>
          <p:cNvSpPr/>
          <p:nvPr/>
        </p:nvSpPr>
        <p:spPr>
          <a:xfrm>
            <a:off x="7384738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4" name="Google Shape;1434;p27"/>
          <p:cNvSpPr/>
          <p:nvPr/>
        </p:nvSpPr>
        <p:spPr>
          <a:xfrm>
            <a:off x="7861958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구성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5" name="Google Shape;1435;p27"/>
          <p:cNvSpPr/>
          <p:nvPr/>
        </p:nvSpPr>
        <p:spPr>
          <a:xfrm>
            <a:off x="8683837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436" name="Google Shape;1436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781049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437" name="Google Shape;1437;p27"/>
          <p:cNvSpPr/>
          <p:nvPr/>
        </p:nvSpPr>
        <p:spPr>
          <a:xfrm>
            <a:off x="7358225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8" name="Google Shape;1438;p27"/>
          <p:cNvSpPr/>
          <p:nvPr/>
        </p:nvSpPr>
        <p:spPr>
          <a:xfrm>
            <a:off x="7402412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 환경과 구성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9" name="Google Shape;1439;p27"/>
          <p:cNvSpPr/>
          <p:nvPr/>
        </p:nvSpPr>
        <p:spPr>
          <a:xfrm>
            <a:off x="7384738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입장에서 어떤 용도로 어떻게 사용할지를 전략적으로 구상해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0" name="Google Shape;1440;p27"/>
          <p:cNvSpPr/>
          <p:nvPr/>
        </p:nvSpPr>
        <p:spPr>
          <a:xfrm>
            <a:off x="7358225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1" name="Google Shape;1441;p27"/>
          <p:cNvSpPr/>
          <p:nvPr/>
        </p:nvSpPr>
        <p:spPr>
          <a:xfrm>
            <a:off x="7464274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2" name="Google Shape;1442;p27"/>
          <p:cNvSpPr/>
          <p:nvPr/>
        </p:nvSpPr>
        <p:spPr>
          <a:xfrm>
            <a:off x="7632185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방송 흐름에 따른 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3" name="Google Shape;1443;p27"/>
          <p:cNvSpPr/>
          <p:nvPr/>
        </p:nvSpPr>
        <p:spPr>
          <a:xfrm>
            <a:off x="7358225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4" name="Google Shape;1444;p27"/>
          <p:cNvSpPr/>
          <p:nvPr/>
        </p:nvSpPr>
        <p:spPr>
          <a:xfrm>
            <a:off x="7464274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5" name="Google Shape;1445;p27"/>
          <p:cNvSpPr/>
          <p:nvPr/>
        </p:nvSpPr>
        <p:spPr>
          <a:xfrm>
            <a:off x="7632185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24칸 배치도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6" name="Google Shape;1446;p27"/>
          <p:cNvSpPr/>
          <p:nvPr/>
        </p:nvSpPr>
        <p:spPr>
          <a:xfrm>
            <a:off x="9249431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7" name="Google Shape;1447;p27"/>
          <p:cNvSpPr/>
          <p:nvPr/>
        </p:nvSpPr>
        <p:spPr>
          <a:xfrm>
            <a:off x="1028340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8" name="Google Shape;1448;p27"/>
          <p:cNvSpPr/>
          <p:nvPr/>
        </p:nvSpPr>
        <p:spPr>
          <a:xfrm>
            <a:off x="9359899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9" name="Google Shape;1449;p27"/>
          <p:cNvSpPr/>
          <p:nvPr/>
        </p:nvSpPr>
        <p:spPr>
          <a:xfrm>
            <a:off x="9492460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0" name="Google Shape;1450;p27"/>
          <p:cNvSpPr/>
          <p:nvPr/>
        </p:nvSpPr>
        <p:spPr>
          <a:xfrm>
            <a:off x="9518972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1" name="Google Shape;1451;p27"/>
          <p:cNvSpPr/>
          <p:nvPr/>
        </p:nvSpPr>
        <p:spPr>
          <a:xfrm>
            <a:off x="999619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2" name="Google Shape;1452;p27"/>
          <p:cNvSpPr/>
          <p:nvPr/>
        </p:nvSpPr>
        <p:spPr>
          <a:xfrm>
            <a:off x="1081807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453" name="Google Shape;1453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91528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454" name="Google Shape;1454;p27"/>
          <p:cNvSpPr/>
          <p:nvPr/>
        </p:nvSpPr>
        <p:spPr>
          <a:xfrm>
            <a:off x="9492460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5" name="Google Shape;1455;p27"/>
          <p:cNvSpPr/>
          <p:nvPr/>
        </p:nvSpPr>
        <p:spPr>
          <a:xfrm>
            <a:off x="9536647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이용자 패턴과 시즌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6" name="Google Shape;1456;p27"/>
          <p:cNvSpPr/>
          <p:nvPr/>
        </p:nvSpPr>
        <p:spPr>
          <a:xfrm>
            <a:off x="9518972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이용하여 전략적인 출시에 도전해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7" name="Google Shape;1457;p27"/>
          <p:cNvSpPr/>
          <p:nvPr/>
        </p:nvSpPr>
        <p:spPr>
          <a:xfrm>
            <a:off x="9492460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8" name="Google Shape;1458;p27"/>
          <p:cNvSpPr/>
          <p:nvPr/>
        </p:nvSpPr>
        <p:spPr>
          <a:xfrm>
            <a:off x="9598509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9" name="Google Shape;1459;p27"/>
          <p:cNvSpPr/>
          <p:nvPr/>
        </p:nvSpPr>
        <p:spPr>
          <a:xfrm>
            <a:off x="976642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시간대, 요일별 매출 비율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0" name="Google Shape;1460;p27"/>
          <p:cNvSpPr/>
          <p:nvPr/>
        </p:nvSpPr>
        <p:spPr>
          <a:xfrm>
            <a:off x="9492460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1" name="Google Shape;1461;p27"/>
          <p:cNvSpPr/>
          <p:nvPr/>
        </p:nvSpPr>
        <p:spPr>
          <a:xfrm>
            <a:off x="9598509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2" name="Google Shape;1462;p27"/>
          <p:cNvSpPr/>
          <p:nvPr/>
        </p:nvSpPr>
        <p:spPr>
          <a:xfrm>
            <a:off x="976642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시즌별 캘린더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3" name="Google Shape;1463;p27"/>
          <p:cNvSpPr/>
          <p:nvPr/>
        </p:nvSpPr>
        <p:spPr>
          <a:xfrm>
            <a:off x="822960" y="5798928"/>
            <a:ext cx="10542900" cy="457200"/>
          </a:xfrm>
          <a:prstGeom prst="roundRect">
            <a:avLst>
              <a:gd fmla="val 16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4" name="Google Shape;1464;p27"/>
          <p:cNvSpPr/>
          <p:nvPr/>
        </p:nvSpPr>
        <p:spPr>
          <a:xfrm>
            <a:off x="999439" y="5798928"/>
            <a:ext cx="10162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 자료는 크리에이터 님들의 OGQ </a:t>
            </a:r>
            <a:r>
              <a:rPr b="1" lang="en-US" sz="105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제작에 참고가 되도록 데이터를 정리한 것입니다. 정답이 아닌 출발점이니, 나만의 스타일과 아이디어에 맞게 자유롭게 활용해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5" name="Google Shape;1465;p27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538"/>
        </a:solidFill>
      </p:bgPr>
    </p:bg>
    <p:spTree>
      <p:nvGrpSpPr>
        <p:cNvPr id="1470" name="Shape 1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1" name="Google Shape;1471;p28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2" name="Google Shape;1472;p28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cap="flat" cmpd="sng" w="12700">
            <a:solidFill>
              <a:srgbClr val="356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3" name="Google Shape;1473;p28"/>
          <p:cNvSpPr/>
          <p:nvPr/>
        </p:nvSpPr>
        <p:spPr>
          <a:xfrm flipH="1" rot="10800000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4" name="Google Shape;1474;p28"/>
          <p:cNvSpPr/>
          <p:nvPr/>
        </p:nvSpPr>
        <p:spPr>
          <a:xfrm>
            <a:off x="731520" y="640080"/>
            <a:ext cx="640080" cy="640080"/>
          </a:xfrm>
          <a:prstGeom prst="ellipse">
            <a:avLst/>
          </a:prstGeom>
          <a:noFill/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5" name="Google Shape;1475;p28"/>
          <p:cNvSpPr/>
          <p:nvPr/>
        </p:nvSpPr>
        <p:spPr>
          <a:xfrm>
            <a:off x="731520" y="64008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6" name="Google Shape;1476;p28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 PLAYBOOK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7" name="Google Shape;1477;p28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600"/>
              <a:buFont typeface="Malgun Gothic"/>
              <a:buNone/>
            </a:pPr>
            <a:r>
              <a:rPr b="0" i="0" lang="en-US" sz="160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 OGQ마켓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8" name="Google Shape;1478;p28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483" name="Shape 1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" name="Google Shape;1484;p29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85" name="Google Shape;1485;p29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86" name="Google Shape;1486;p29"/>
          <p:cNvSpPr/>
          <p:nvPr/>
        </p:nvSpPr>
        <p:spPr>
          <a:xfrm>
            <a:off x="1783080" y="365760"/>
            <a:ext cx="9601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매출 이모티콘 탐색 방법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7" name="Google Shape;1487;p29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8" name="Google Shape;1488;p29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인기차트를 실시간으로 확인하는 방법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9" name="Google Shape;1489;p29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00"/>
              <a:buFont typeface="Malgun Gothic"/>
              <a:buNone/>
            </a:pPr>
            <a:r>
              <a:rPr lang="en-US" sz="12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인기차트를 통하여 실시간 마켓 트렌드를 확인해 보세요.</a:t>
            </a:r>
            <a:endParaRPr sz="1100">
              <a:solidFill>
                <a:srgbClr val="4B5563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descr="preencoded.png" id="1490" name="Google Shape;1490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960" y="2148840"/>
            <a:ext cx="3093094" cy="1535258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25400">
              <a:srgbClr val="000000">
                <a:alpha val="14902"/>
              </a:srgbClr>
            </a:outerShdw>
          </a:effectLst>
        </p:spPr>
      </p:pic>
      <p:sp>
        <p:nvSpPr>
          <p:cNvPr id="1491" name="Google Shape;1491;p29"/>
          <p:cNvSpPr/>
          <p:nvPr/>
        </p:nvSpPr>
        <p:spPr>
          <a:xfrm>
            <a:off x="2281132" y="2221992"/>
            <a:ext cx="1546547" cy="237744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2" name="Google Shape;1492;p29"/>
          <p:cNvSpPr/>
          <p:nvPr/>
        </p:nvSpPr>
        <p:spPr>
          <a:xfrm>
            <a:off x="2281132" y="2221992"/>
            <a:ext cx="1546547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 메인 ‘인기차트’ 큐레이션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493" name="Google Shape;1493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22960" y="3847064"/>
            <a:ext cx="3093094" cy="1946702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25400">
              <a:srgbClr val="000000">
                <a:alpha val="14902"/>
              </a:srgbClr>
            </a:outerShdw>
          </a:effectLst>
        </p:spPr>
      </p:pic>
      <p:sp>
        <p:nvSpPr>
          <p:cNvPr id="1494" name="Google Shape;1494;p29"/>
          <p:cNvSpPr/>
          <p:nvPr/>
        </p:nvSpPr>
        <p:spPr>
          <a:xfrm>
            <a:off x="2369507" y="3920216"/>
            <a:ext cx="1458172" cy="237744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5" name="Google Shape;1495;p29"/>
          <p:cNvSpPr/>
          <p:nvPr/>
        </p:nvSpPr>
        <p:spPr>
          <a:xfrm>
            <a:off x="2369507" y="3920216"/>
            <a:ext cx="145817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② 인기 탭 · 실시간 순위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6" name="Google Shape;1496;p29"/>
          <p:cNvSpPr/>
          <p:nvPr/>
        </p:nvSpPr>
        <p:spPr>
          <a:xfrm>
            <a:off x="822960" y="5961888"/>
            <a:ext cx="3093094" cy="274320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7" name="Google Shape;1497;p29"/>
          <p:cNvSpPr/>
          <p:nvPr/>
        </p:nvSpPr>
        <p:spPr>
          <a:xfrm>
            <a:off x="822960" y="5961888"/>
            <a:ext cx="309309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 OGQ마켓 › 홈 ‘인기차트’ / ‘인기’ 탭  </a:t>
            </a:r>
            <a:r>
              <a:rPr b="0" i="0" lang="en-US" sz="850" u="sng" cap="none" strike="noStrike">
                <a:solidFill>
                  <a:schemeClr val="hlink"/>
                </a:solidFill>
                <a:latin typeface="Malgun Gothic"/>
                <a:ea typeface="Malgun Gothic"/>
                <a:cs typeface="Malgun Gothic"/>
                <a:sym typeface="Malgun Gothic"/>
                <a:hlinkClick r:id="rId5"/>
              </a:rPr>
              <a:t>(바로가기)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8" name="Google Shape;1498;p29"/>
          <p:cNvSpPr/>
          <p:nvPr/>
        </p:nvSpPr>
        <p:spPr>
          <a:xfrm>
            <a:off x="4136989" y="2148840"/>
            <a:ext cx="7229002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9" name="Google Shape;1499;p29"/>
          <p:cNvSpPr/>
          <p:nvPr/>
        </p:nvSpPr>
        <p:spPr>
          <a:xfrm>
            <a:off x="4296062" y="2441448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0" name="Google Shape;1500;p29"/>
          <p:cNvSpPr/>
          <p:nvPr/>
        </p:nvSpPr>
        <p:spPr>
          <a:xfrm>
            <a:off x="4296062" y="2441448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1" name="Google Shape;1501;p29"/>
          <p:cNvSpPr/>
          <p:nvPr/>
        </p:nvSpPr>
        <p:spPr>
          <a:xfrm>
            <a:off x="4888169" y="2350008"/>
            <a:ext cx="630107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‘인기차트’ 큐레이션 확인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2" name="Google Shape;1502;p29"/>
          <p:cNvSpPr/>
          <p:nvPr/>
        </p:nvSpPr>
        <p:spPr>
          <a:xfrm>
            <a:off x="4888169" y="2642616"/>
            <a:ext cx="6301074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홈 인기차트 큐레이션을 통해 인기차트 확인 가능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3" name="Google Shape;1503;p29"/>
          <p:cNvSpPr/>
          <p:nvPr/>
        </p:nvSpPr>
        <p:spPr>
          <a:xfrm>
            <a:off x="4136989" y="3300984"/>
            <a:ext cx="7229002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4" name="Google Shape;1504;p29"/>
          <p:cNvSpPr/>
          <p:nvPr/>
        </p:nvSpPr>
        <p:spPr>
          <a:xfrm>
            <a:off x="4296062" y="3593592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5" name="Google Shape;1505;p29"/>
          <p:cNvSpPr/>
          <p:nvPr/>
        </p:nvSpPr>
        <p:spPr>
          <a:xfrm>
            <a:off x="4296062" y="3593592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6" name="Google Shape;1506;p29"/>
          <p:cNvSpPr/>
          <p:nvPr/>
        </p:nvSpPr>
        <p:spPr>
          <a:xfrm>
            <a:off x="4888169" y="3502152"/>
            <a:ext cx="630107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‘인기’ 탭에서 전체 순위 확인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7" name="Google Shape;1507;p29"/>
          <p:cNvSpPr/>
          <p:nvPr/>
        </p:nvSpPr>
        <p:spPr>
          <a:xfrm>
            <a:off x="4888169" y="3794760"/>
            <a:ext cx="6301074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탭에서 전체 실시간 인기 차트 확인 가능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8" name="Google Shape;1508;p29"/>
          <p:cNvSpPr/>
          <p:nvPr/>
        </p:nvSpPr>
        <p:spPr>
          <a:xfrm>
            <a:off x="4136989" y="4453128"/>
            <a:ext cx="7229002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9" name="Google Shape;1509;p29"/>
          <p:cNvSpPr/>
          <p:nvPr/>
        </p:nvSpPr>
        <p:spPr>
          <a:xfrm>
            <a:off x="4296062" y="4745736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0" name="Google Shape;1510;p29"/>
          <p:cNvSpPr/>
          <p:nvPr/>
        </p:nvSpPr>
        <p:spPr>
          <a:xfrm>
            <a:off x="4296062" y="4745736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1" name="Google Shape;1511;p29"/>
          <p:cNvSpPr/>
          <p:nvPr/>
        </p:nvSpPr>
        <p:spPr>
          <a:xfrm>
            <a:off x="4888169" y="4654296"/>
            <a:ext cx="630107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실시간이므로 기록하며 추적</a:t>
            </a:r>
            <a:endParaRPr b="1" i="0" sz="1300" u="none" cap="none" strike="noStrike">
              <a:solidFill>
                <a:srgbClr val="1F2937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12" name="Google Shape;1512;p29"/>
          <p:cNvSpPr/>
          <p:nvPr/>
        </p:nvSpPr>
        <p:spPr>
          <a:xfrm>
            <a:off x="4888169" y="4946904"/>
            <a:ext cx="6301074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기간을 설정하여 인기 차트 확인이 불가하여 주기적인 확인 필요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t/>
            </a:r>
            <a:endParaRPr b="0" i="0" sz="950" u="none" cap="none" strike="noStrike">
              <a:solidFill>
                <a:srgbClr val="4B5563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13" name="Google Shape;1513;p29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518" name="Shape 1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9" name="Google Shape;1519;p3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20" name="Google Shape;1520;p30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21" name="Google Shape;1521;p30"/>
          <p:cNvSpPr/>
          <p:nvPr/>
        </p:nvSpPr>
        <p:spPr>
          <a:xfrm>
            <a:off x="1783080" y="365760"/>
            <a:ext cx="9601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</a:t>
            </a:r>
            <a:r>
              <a:rPr b="1" lang="en-US" sz="26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</a:t>
            </a: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분석하기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2" name="Google Shape;1522;p30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3" name="Google Shape;1523;p30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TOP 25 상세 분석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4" name="Google Shape;1524;p30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2026년 상반기 월별 TOP 25 매출액 기준 데이터입니다.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5" name="Google Shape;1525;p30"/>
          <p:cNvSpPr/>
          <p:nvPr/>
        </p:nvSpPr>
        <p:spPr>
          <a:xfrm>
            <a:off x="822960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6" name="Google Shape;1526;p30"/>
          <p:cNvSpPr/>
          <p:nvPr/>
        </p:nvSpPr>
        <p:spPr>
          <a:xfrm>
            <a:off x="822960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.0%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7" name="Google Shape;1527;p30"/>
          <p:cNvSpPr/>
          <p:nvPr/>
        </p:nvSpPr>
        <p:spPr>
          <a:xfrm>
            <a:off x="822960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움직이는 이모티콘 비중 (</a:t>
            </a:r>
            <a:r>
              <a:rPr lang="en-US" sz="95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</a:t>
            </a: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수 기준)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8" name="Google Shape;1528;p30"/>
          <p:cNvSpPr/>
          <p:nvPr/>
        </p:nvSpPr>
        <p:spPr>
          <a:xfrm>
            <a:off x="3498494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9" name="Google Shape;1529;p30"/>
          <p:cNvSpPr/>
          <p:nvPr/>
        </p:nvSpPr>
        <p:spPr>
          <a:xfrm>
            <a:off x="3498494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99.4%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0" name="Google Shape;1530;p30"/>
          <p:cNvSpPr/>
          <p:nvPr/>
        </p:nvSpPr>
        <p:spPr>
          <a:xfrm>
            <a:off x="3498494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 포함 콘텐츠 비중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1" name="Google Shape;1531;p30"/>
          <p:cNvSpPr/>
          <p:nvPr/>
        </p:nvSpPr>
        <p:spPr>
          <a:xfrm>
            <a:off x="6174029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2" name="Google Shape;1532;p30"/>
          <p:cNvSpPr/>
          <p:nvPr/>
        </p:nvSpPr>
        <p:spPr>
          <a:xfrm>
            <a:off x="6174029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79.0%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3" name="Google Shape;1533;p30"/>
          <p:cNvSpPr/>
          <p:nvPr/>
        </p:nvSpPr>
        <p:spPr>
          <a:xfrm>
            <a:off x="6174029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표준어 비중 — 신조어는 10%뿐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4" name="Google Shape;1534;p30"/>
          <p:cNvSpPr/>
          <p:nvPr/>
        </p:nvSpPr>
        <p:spPr>
          <a:xfrm>
            <a:off x="8849563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5" name="Google Shape;1535;p30"/>
          <p:cNvSpPr/>
          <p:nvPr/>
        </p:nvSpPr>
        <p:spPr>
          <a:xfrm>
            <a:off x="8849563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90.6%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6" name="Google Shape;1536;p30"/>
          <p:cNvSpPr/>
          <p:nvPr/>
        </p:nvSpPr>
        <p:spPr>
          <a:xfrm>
            <a:off x="8849563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파스텔 톤 매출 비중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7" name="Google Shape;1537;p30"/>
          <p:cNvSpPr/>
          <p:nvPr/>
        </p:nvSpPr>
        <p:spPr>
          <a:xfrm>
            <a:off x="822960" y="3108960"/>
            <a:ext cx="4418705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8" name="Google Shape;1538;p30"/>
          <p:cNvSpPr/>
          <p:nvPr/>
        </p:nvSpPr>
        <p:spPr>
          <a:xfrm>
            <a:off x="822960" y="3108960"/>
            <a:ext cx="4418705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유형별 매출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9" name="Google Shape;1539;p30"/>
          <p:cNvSpPr/>
          <p:nvPr/>
        </p:nvSpPr>
        <p:spPr>
          <a:xfrm>
            <a:off x="822960" y="3566160"/>
            <a:ext cx="128142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인사·감사형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0" name="Google Shape;1540;p30"/>
          <p:cNvSpPr/>
          <p:nvPr/>
        </p:nvSpPr>
        <p:spPr>
          <a:xfrm>
            <a:off x="2192758" y="3566160"/>
            <a:ext cx="2607036" cy="20116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1" name="Google Shape;1541;p30"/>
          <p:cNvSpPr/>
          <p:nvPr/>
        </p:nvSpPr>
        <p:spPr>
          <a:xfrm>
            <a:off x="4852819" y="3566160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31.4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2" name="Google Shape;1542;p30"/>
          <p:cNvSpPr/>
          <p:nvPr/>
        </p:nvSpPr>
        <p:spPr>
          <a:xfrm>
            <a:off x="822960" y="3849624"/>
            <a:ext cx="128142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리액션 캐릭터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3" name="Google Shape;1543;p30"/>
          <p:cNvSpPr/>
          <p:nvPr/>
        </p:nvSpPr>
        <p:spPr>
          <a:xfrm>
            <a:off x="2192758" y="3849624"/>
            <a:ext cx="2424378" cy="20116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4" name="Google Shape;1544;p30"/>
          <p:cNvSpPr/>
          <p:nvPr/>
        </p:nvSpPr>
        <p:spPr>
          <a:xfrm>
            <a:off x="4670161" y="3849624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29.2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5" name="Google Shape;1545;p30"/>
          <p:cNvSpPr/>
          <p:nvPr/>
        </p:nvSpPr>
        <p:spPr>
          <a:xfrm>
            <a:off x="822960" y="4133088"/>
            <a:ext cx="128142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시즌·기념일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6" name="Google Shape;1546;p30"/>
          <p:cNvSpPr/>
          <p:nvPr/>
        </p:nvSpPr>
        <p:spPr>
          <a:xfrm>
            <a:off x="2192758" y="4133088"/>
            <a:ext cx="2042454" cy="20116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7" name="Google Shape;1547;p30"/>
          <p:cNvSpPr/>
          <p:nvPr/>
        </p:nvSpPr>
        <p:spPr>
          <a:xfrm>
            <a:off x="4288238" y="4133088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24.6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8" name="Google Shape;1548;p30"/>
          <p:cNvSpPr/>
          <p:nvPr/>
        </p:nvSpPr>
        <p:spPr>
          <a:xfrm>
            <a:off x="822960" y="4416552"/>
            <a:ext cx="128142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연애·애정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9" name="Google Shape;1549;p30"/>
          <p:cNvSpPr/>
          <p:nvPr/>
        </p:nvSpPr>
        <p:spPr>
          <a:xfrm>
            <a:off x="2192758" y="4416552"/>
            <a:ext cx="797055" cy="20116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0" name="Google Shape;1550;p30"/>
          <p:cNvSpPr/>
          <p:nvPr/>
        </p:nvSpPr>
        <p:spPr>
          <a:xfrm>
            <a:off x="3042838" y="4416552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9.6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1" name="Google Shape;1551;p30"/>
          <p:cNvSpPr/>
          <p:nvPr/>
        </p:nvSpPr>
        <p:spPr>
          <a:xfrm>
            <a:off x="822960" y="4700016"/>
            <a:ext cx="128142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손글씨·문구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2" name="Google Shape;1552;p30"/>
          <p:cNvSpPr/>
          <p:nvPr/>
        </p:nvSpPr>
        <p:spPr>
          <a:xfrm>
            <a:off x="2192758" y="4700016"/>
            <a:ext cx="431738" cy="20116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3" name="Google Shape;1553;p30"/>
          <p:cNvSpPr/>
          <p:nvPr/>
        </p:nvSpPr>
        <p:spPr>
          <a:xfrm>
            <a:off x="2677521" y="4700016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54" name="Google Shape;1554;p30"/>
          <p:cNvCxnSpPr/>
          <p:nvPr/>
        </p:nvCxnSpPr>
        <p:spPr>
          <a:xfrm>
            <a:off x="2192758" y="3520440"/>
            <a:ext cx="0" cy="1426464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55" name="Google Shape;1555;p30"/>
          <p:cNvSpPr/>
          <p:nvPr/>
        </p:nvSpPr>
        <p:spPr>
          <a:xfrm>
            <a:off x="822960" y="49377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인사·감사형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안녕하세요·감사합니다 등의 인사 </a:t>
            </a:r>
            <a:r>
              <a:rPr lang="en-US" sz="9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표현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형 </a:t>
            </a:r>
            <a:r>
              <a:rPr lang="en-US" sz="9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매출의 다수 차지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6" name="Google Shape;1556;p30"/>
          <p:cNvSpPr/>
          <p:nvPr/>
        </p:nvSpPr>
        <p:spPr>
          <a:xfrm>
            <a:off x="822960" y="51663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리액션 캐릭터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귀여운 파스텔 캐릭터의 공감·응원 리액션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7" name="Google Shape;1557;p30"/>
          <p:cNvSpPr/>
          <p:nvPr/>
        </p:nvSpPr>
        <p:spPr>
          <a:xfrm>
            <a:off x="822960" y="53949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시즌·기념일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설날·명절 인사의 경우 시즌성</a:t>
            </a:r>
            <a:r>
              <a:rPr lang="en-US" sz="9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상품으로 인기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8" name="Google Shape;1558;p30"/>
          <p:cNvSpPr/>
          <p:nvPr/>
        </p:nvSpPr>
        <p:spPr>
          <a:xfrm>
            <a:off x="5462601" y="3108960"/>
            <a:ext cx="5903390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9" name="Google Shape;1559;p30"/>
          <p:cNvSpPr/>
          <p:nvPr/>
        </p:nvSpPr>
        <p:spPr>
          <a:xfrm>
            <a:off x="5462601" y="3108960"/>
            <a:ext cx="590339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</a:t>
            </a:r>
            <a:r>
              <a:rPr b="1" lang="en-US" sz="11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</a:t>
            </a: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속성별 데이터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560" name="Google Shape;1560;p30"/>
          <p:cNvGraphicFramePr/>
          <p:nvPr/>
        </p:nvGraphicFramePr>
        <p:xfrm>
          <a:off x="5462601" y="347472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{AEBD00CC-FC0A-4C85-B4EB-CBDBD9B740B2}</a:tableStyleId>
              </a:tblPr>
              <a:tblGrid>
                <a:gridCol w="1237225"/>
                <a:gridCol w="1325600"/>
                <a:gridCol w="1007475"/>
                <a:gridCol w="1325600"/>
                <a:gridCol w="1007475"/>
              </a:tblGrid>
              <a:tr h="2011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속성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1위 값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매출 비중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2위 값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매출 비중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콘텐츠 유형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애니메이션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72.0%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정지형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28.0%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텍스트 비중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보통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61.2%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높음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32.4%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텍스트 종류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표준어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79.0%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신조어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10.0%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기반 분류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추상적 캐릭터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85.1%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동물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8.1%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콘텐츠 도메인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일상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84.3%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연애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10.3%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상세 성격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귀여운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90.4%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힐링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3.6%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색상 스타일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파스텔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90.6%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원색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9.0%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라인 스타일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굵은 선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96.9%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없음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2.0%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배경 유형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투명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95.6%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배경 꽉 참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2.1%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사용 맥락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공감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60.8%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축하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11.0%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61" name="Google Shape;1561;p30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2" name="Google Shape;1562;p30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lang="en-US" sz="1050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이모티콘 분석  </a:t>
            </a:r>
            <a:r>
              <a:rPr b="1" lang="en-US" sz="105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 전 매출 상위 이모티콘 분석 데이터를 참고해 주세요.</a:t>
            </a:r>
            <a:endParaRPr b="1" sz="1050">
              <a:solidFill>
                <a:srgbClr val="B7D5C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63" name="Google Shape;1563;p30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568" name="Shape 1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9" name="Google Shape;1569;p31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70" name="Google Shape;1570;p31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71" name="Google Shape;1571;p31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잘 팔리는 주제 선정하기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2" name="Google Shape;1572;p31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3" name="Google Shape;1573;p31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핵심은 문자를 보내는 ‘상대’와 ‘순간’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4" name="Google Shape;1574;p31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채팅+(RCS 문자) 대화의 흐름을 참고하여 스티커(이모티콘)로 표현해 보세요.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5" name="Google Shape;1575;p31"/>
          <p:cNvSpPr/>
          <p:nvPr/>
        </p:nvSpPr>
        <p:spPr>
          <a:xfrm>
            <a:off x="822960" y="2148840"/>
            <a:ext cx="3976835" cy="310896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6" name="Google Shape;1576;p31"/>
          <p:cNvSpPr/>
          <p:nvPr/>
        </p:nvSpPr>
        <p:spPr>
          <a:xfrm>
            <a:off x="822960" y="2148840"/>
            <a:ext cx="3976835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지금 채팅+ 메시지는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7" name="Google Shape;1577;p31"/>
          <p:cNvSpPr/>
          <p:nvPr/>
        </p:nvSpPr>
        <p:spPr>
          <a:xfrm>
            <a:off x="5241665" y="2148840"/>
            <a:ext cx="6124326" cy="31089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8" name="Google Shape;1578;p31"/>
          <p:cNvSpPr/>
          <p:nvPr/>
        </p:nvSpPr>
        <p:spPr>
          <a:xfrm>
            <a:off x="5241665" y="2148840"/>
            <a:ext cx="612432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문자 메시지에 이런 이모티콘을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9" name="Google Shape;1579;p31"/>
          <p:cNvSpPr/>
          <p:nvPr/>
        </p:nvSpPr>
        <p:spPr>
          <a:xfrm>
            <a:off x="822960" y="2532888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0" name="Google Shape;1580;p31"/>
          <p:cNvSpPr/>
          <p:nvPr/>
        </p:nvSpPr>
        <p:spPr>
          <a:xfrm>
            <a:off x="946683" y="2651760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581" name="Google Shape;1581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057" y="2743200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582" name="Google Shape;1582;p31"/>
          <p:cNvSpPr/>
          <p:nvPr/>
        </p:nvSpPr>
        <p:spPr>
          <a:xfrm>
            <a:off x="1423903" y="2615184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3" name="Google Shape;1583;p31"/>
          <p:cNvSpPr/>
          <p:nvPr/>
        </p:nvSpPr>
        <p:spPr>
          <a:xfrm>
            <a:off x="1423903" y="2615184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인사·감사 세트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4" name="Google Shape;1584;p31"/>
          <p:cNvSpPr/>
          <p:nvPr/>
        </p:nvSpPr>
        <p:spPr>
          <a:xfrm>
            <a:off x="1423903" y="2807208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문자는 예의 바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름을 중시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5" name="Google Shape;1585;p31"/>
          <p:cNvSpPr/>
          <p:nvPr/>
        </p:nvSpPr>
        <p:spPr>
          <a:xfrm>
            <a:off x="4897006" y="2734056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6" name="Google Shape;1586;p31"/>
          <p:cNvSpPr/>
          <p:nvPr/>
        </p:nvSpPr>
        <p:spPr>
          <a:xfrm>
            <a:off x="5241665" y="2532888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7" name="Google Shape;1587;p31"/>
          <p:cNvSpPr/>
          <p:nvPr/>
        </p:nvSpPr>
        <p:spPr>
          <a:xfrm>
            <a:off x="5347714" y="2615184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8" name="Google Shape;1588;p31"/>
          <p:cNvSpPr/>
          <p:nvPr/>
        </p:nvSpPr>
        <p:spPr>
          <a:xfrm>
            <a:off x="5347714" y="2615184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9" name="Google Shape;1589;p31"/>
          <p:cNvSpPr/>
          <p:nvPr/>
        </p:nvSpPr>
        <p:spPr>
          <a:xfrm>
            <a:off x="5860284" y="2587752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공손한 인사·감사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0" name="Google Shape;1590;p31"/>
          <p:cNvSpPr/>
          <p:nvPr/>
        </p:nvSpPr>
        <p:spPr>
          <a:xfrm>
            <a:off x="5347714" y="2834640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가족·어른·거래처에게 보내도 되는 말투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인사와 감사 표현을 한 세트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1" name="Google Shape;1591;p31"/>
          <p:cNvSpPr/>
          <p:nvPr/>
        </p:nvSpPr>
        <p:spPr>
          <a:xfrm>
            <a:off x="9306875" y="260604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2" name="Google Shape;1592;p31"/>
          <p:cNvSpPr/>
          <p:nvPr/>
        </p:nvSpPr>
        <p:spPr>
          <a:xfrm>
            <a:off x="9306875" y="260604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안녕하세요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3" name="Google Shape;1593;p31"/>
          <p:cNvSpPr/>
          <p:nvPr/>
        </p:nvSpPr>
        <p:spPr>
          <a:xfrm>
            <a:off x="10349689" y="260604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4" name="Google Shape;1594;p31"/>
          <p:cNvSpPr/>
          <p:nvPr/>
        </p:nvSpPr>
        <p:spPr>
          <a:xfrm>
            <a:off x="10349689" y="260604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감사합니다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5" name="Google Shape;1595;p31"/>
          <p:cNvSpPr/>
          <p:nvPr/>
        </p:nvSpPr>
        <p:spPr>
          <a:xfrm>
            <a:off x="9306875" y="286207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6" name="Google Shape;1596;p31"/>
          <p:cNvSpPr/>
          <p:nvPr/>
        </p:nvSpPr>
        <p:spPr>
          <a:xfrm>
            <a:off x="9306875" y="286207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수고하셨습니다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7" name="Google Shape;1597;p31"/>
          <p:cNvSpPr/>
          <p:nvPr/>
        </p:nvSpPr>
        <p:spPr>
          <a:xfrm>
            <a:off x="10349689" y="286207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8" name="Google Shape;1598;p31"/>
          <p:cNvSpPr/>
          <p:nvPr/>
        </p:nvSpPr>
        <p:spPr>
          <a:xfrm>
            <a:off x="10349689" y="286207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잘 부탁드립니다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9" name="Google Shape;1599;p31"/>
          <p:cNvSpPr/>
          <p:nvPr/>
        </p:nvSpPr>
        <p:spPr>
          <a:xfrm>
            <a:off x="822960" y="3200400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0" name="Google Shape;1600;p31"/>
          <p:cNvSpPr/>
          <p:nvPr/>
        </p:nvSpPr>
        <p:spPr>
          <a:xfrm>
            <a:off x="946683" y="3319272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601" name="Google Shape;1601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5057" y="3410712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602" name="Google Shape;1602;p31"/>
          <p:cNvSpPr/>
          <p:nvPr/>
        </p:nvSpPr>
        <p:spPr>
          <a:xfrm>
            <a:off x="1423903" y="3282696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3" name="Google Shape;1603;p31"/>
          <p:cNvSpPr/>
          <p:nvPr/>
        </p:nvSpPr>
        <p:spPr>
          <a:xfrm>
            <a:off x="1423903" y="3282696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표준어 사용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4" name="Google Shape;1604;p31"/>
          <p:cNvSpPr/>
          <p:nvPr/>
        </p:nvSpPr>
        <p:spPr>
          <a:xfrm>
            <a:off x="1423903" y="3474720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신조어보다 표준어 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5" name="Google Shape;1605;p31"/>
          <p:cNvSpPr/>
          <p:nvPr/>
        </p:nvSpPr>
        <p:spPr>
          <a:xfrm>
            <a:off x="4897006" y="3401568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6" name="Google Shape;1606;p31"/>
          <p:cNvSpPr/>
          <p:nvPr/>
        </p:nvSpPr>
        <p:spPr>
          <a:xfrm>
            <a:off x="5241665" y="3200400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7" name="Google Shape;1607;p31"/>
          <p:cNvSpPr/>
          <p:nvPr/>
        </p:nvSpPr>
        <p:spPr>
          <a:xfrm>
            <a:off x="5347714" y="3282696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8" name="Google Shape;1608;p31"/>
          <p:cNvSpPr/>
          <p:nvPr/>
        </p:nvSpPr>
        <p:spPr>
          <a:xfrm>
            <a:off x="5347714" y="3282696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9" name="Google Shape;1609;p31"/>
          <p:cNvSpPr/>
          <p:nvPr/>
        </p:nvSpPr>
        <p:spPr>
          <a:xfrm>
            <a:off x="5860284" y="3255264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사회생활 리액션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0" name="Google Shape;1610;p31"/>
          <p:cNvSpPr/>
          <p:nvPr/>
        </p:nvSpPr>
        <p:spPr>
          <a:xfrm>
            <a:off x="5347714" y="3502152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직장·단체방에서 쓰는 확인·사과·요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청 등의 표현 제작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1" name="Google Shape;1611;p31"/>
          <p:cNvSpPr/>
          <p:nvPr/>
        </p:nvSpPr>
        <p:spPr>
          <a:xfrm>
            <a:off x="9306875" y="327355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2" name="Google Shape;1612;p31"/>
          <p:cNvSpPr/>
          <p:nvPr/>
        </p:nvSpPr>
        <p:spPr>
          <a:xfrm>
            <a:off x="9306875" y="327355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네 알겠습니다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3" name="Google Shape;1613;p31"/>
          <p:cNvSpPr/>
          <p:nvPr/>
        </p:nvSpPr>
        <p:spPr>
          <a:xfrm>
            <a:off x="10349689" y="327355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4" name="Google Shape;1614;p31"/>
          <p:cNvSpPr/>
          <p:nvPr/>
        </p:nvSpPr>
        <p:spPr>
          <a:xfrm>
            <a:off x="10349689" y="327355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확인했습니다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5" name="Google Shape;1615;p31"/>
          <p:cNvSpPr/>
          <p:nvPr/>
        </p:nvSpPr>
        <p:spPr>
          <a:xfrm>
            <a:off x="9306875" y="352958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6" name="Google Shape;1616;p31"/>
          <p:cNvSpPr/>
          <p:nvPr/>
        </p:nvSpPr>
        <p:spPr>
          <a:xfrm>
            <a:off x="9306875" y="352958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죄송합니다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7" name="Google Shape;1617;p31"/>
          <p:cNvSpPr/>
          <p:nvPr/>
        </p:nvSpPr>
        <p:spPr>
          <a:xfrm>
            <a:off x="10349689" y="352958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8" name="Google Shape;1618;p31"/>
          <p:cNvSpPr/>
          <p:nvPr/>
        </p:nvSpPr>
        <p:spPr>
          <a:xfrm>
            <a:off x="10349689" y="352958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잠시만요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9" name="Google Shape;1619;p31"/>
          <p:cNvSpPr/>
          <p:nvPr/>
        </p:nvSpPr>
        <p:spPr>
          <a:xfrm>
            <a:off x="822960" y="3867912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0" name="Google Shape;1620;p31"/>
          <p:cNvSpPr/>
          <p:nvPr/>
        </p:nvSpPr>
        <p:spPr>
          <a:xfrm>
            <a:off x="946683" y="3986784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621" name="Google Shape;1621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35057" y="4078224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622" name="Google Shape;1622;p31"/>
          <p:cNvSpPr/>
          <p:nvPr/>
        </p:nvSpPr>
        <p:spPr>
          <a:xfrm>
            <a:off x="1423903" y="3950208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3" name="Google Shape;1623;p31"/>
          <p:cNvSpPr/>
          <p:nvPr/>
        </p:nvSpPr>
        <p:spPr>
          <a:xfrm>
            <a:off x="1423903" y="3950208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시즌성 콘텐츠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4" name="Google Shape;1624;p31"/>
          <p:cNvSpPr/>
          <p:nvPr/>
        </p:nvSpPr>
        <p:spPr>
          <a:xfrm>
            <a:off x="1423903" y="4142232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명절·기념일에 매출 집중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1~2월 설날 세트 36~41% · 5월 감사 세트 급증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5" name="Google Shape;1625;p31"/>
          <p:cNvSpPr/>
          <p:nvPr/>
        </p:nvSpPr>
        <p:spPr>
          <a:xfrm>
            <a:off x="4897006" y="4069080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6" name="Google Shape;1626;p31"/>
          <p:cNvSpPr/>
          <p:nvPr/>
        </p:nvSpPr>
        <p:spPr>
          <a:xfrm>
            <a:off x="5241665" y="3867912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7" name="Google Shape;1627;p31"/>
          <p:cNvSpPr/>
          <p:nvPr/>
        </p:nvSpPr>
        <p:spPr>
          <a:xfrm>
            <a:off x="5347714" y="3950208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8" name="Google Shape;1628;p31"/>
          <p:cNvSpPr/>
          <p:nvPr/>
        </p:nvSpPr>
        <p:spPr>
          <a:xfrm>
            <a:off x="5347714" y="3950208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9" name="Google Shape;1629;p31"/>
          <p:cNvSpPr/>
          <p:nvPr/>
        </p:nvSpPr>
        <p:spPr>
          <a:xfrm>
            <a:off x="5860284" y="3922776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시즌·기념일 인사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0" name="Google Shape;1630;p31"/>
          <p:cNvSpPr/>
          <p:nvPr/>
        </p:nvSpPr>
        <p:spPr>
          <a:xfrm>
            <a:off x="5347714" y="4169664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설·추석·새해·어버이날·생일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 시즌성 이모티콘 제작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1" name="Google Shape;1631;p31"/>
          <p:cNvSpPr/>
          <p:nvPr/>
        </p:nvSpPr>
        <p:spPr>
          <a:xfrm>
            <a:off x="9306875" y="394106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2" name="Google Shape;1632;p31"/>
          <p:cNvSpPr/>
          <p:nvPr/>
        </p:nvSpPr>
        <p:spPr>
          <a:xfrm>
            <a:off x="9306875" y="394106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새해 복 많이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3" name="Google Shape;1633;p31"/>
          <p:cNvSpPr/>
          <p:nvPr/>
        </p:nvSpPr>
        <p:spPr>
          <a:xfrm>
            <a:off x="10349689" y="394106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4" name="Google Shape;1634;p31"/>
          <p:cNvSpPr/>
          <p:nvPr/>
        </p:nvSpPr>
        <p:spPr>
          <a:xfrm>
            <a:off x="10349689" y="394106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즐거운 명절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5" name="Google Shape;1635;p31"/>
          <p:cNvSpPr/>
          <p:nvPr/>
        </p:nvSpPr>
        <p:spPr>
          <a:xfrm>
            <a:off x="9306875" y="419709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6" name="Google Shape;1636;p31"/>
          <p:cNvSpPr/>
          <p:nvPr/>
        </p:nvSpPr>
        <p:spPr>
          <a:xfrm>
            <a:off x="9306875" y="419709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생일 축하해요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7" name="Google Shape;1637;p31"/>
          <p:cNvSpPr/>
          <p:nvPr/>
        </p:nvSpPr>
        <p:spPr>
          <a:xfrm>
            <a:off x="10349689" y="419709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8" name="Google Shape;1638;p31"/>
          <p:cNvSpPr/>
          <p:nvPr/>
        </p:nvSpPr>
        <p:spPr>
          <a:xfrm>
            <a:off x="10349689" y="419709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감사합니다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9" name="Google Shape;1639;p31"/>
          <p:cNvSpPr/>
          <p:nvPr/>
        </p:nvSpPr>
        <p:spPr>
          <a:xfrm>
            <a:off x="822960" y="4535424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0" name="Google Shape;1640;p31"/>
          <p:cNvSpPr/>
          <p:nvPr/>
        </p:nvSpPr>
        <p:spPr>
          <a:xfrm>
            <a:off x="946683" y="4654296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641" name="Google Shape;1641;p3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35057" y="4745736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642" name="Google Shape;1642;p31"/>
          <p:cNvSpPr/>
          <p:nvPr/>
        </p:nvSpPr>
        <p:spPr>
          <a:xfrm>
            <a:off x="1423903" y="4617720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3" name="Google Shape;1643;p31"/>
          <p:cNvSpPr/>
          <p:nvPr/>
        </p:nvSpPr>
        <p:spPr>
          <a:xfrm>
            <a:off x="1423903" y="4617720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움직이는 이모티콘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4" name="Google Shape;1644;p31"/>
          <p:cNvSpPr/>
          <p:nvPr/>
        </p:nvSpPr>
        <p:spPr>
          <a:xfrm>
            <a:off x="1423903" y="4809744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귀엽고 움직이는 파스텔 캐릭터가 수요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5" name="Google Shape;1645;p31"/>
          <p:cNvSpPr/>
          <p:nvPr/>
        </p:nvSpPr>
        <p:spPr>
          <a:xfrm>
            <a:off x="4897006" y="4736592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6" name="Google Shape;1646;p31"/>
          <p:cNvSpPr/>
          <p:nvPr/>
        </p:nvSpPr>
        <p:spPr>
          <a:xfrm>
            <a:off x="5241665" y="4535424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7" name="Google Shape;1647;p31"/>
          <p:cNvSpPr/>
          <p:nvPr/>
        </p:nvSpPr>
        <p:spPr>
          <a:xfrm>
            <a:off x="5347714" y="4617720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8" name="Google Shape;1648;p31"/>
          <p:cNvSpPr/>
          <p:nvPr/>
        </p:nvSpPr>
        <p:spPr>
          <a:xfrm>
            <a:off x="5347714" y="4617720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9" name="Google Shape;1649;p31"/>
          <p:cNvSpPr/>
          <p:nvPr/>
        </p:nvSpPr>
        <p:spPr>
          <a:xfrm>
            <a:off x="5860284" y="4590288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귀여운 캐릭터 감정 리액션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0" name="Google Shape;1650;p31"/>
          <p:cNvSpPr/>
          <p:nvPr/>
        </p:nvSpPr>
        <p:spPr>
          <a:xfrm>
            <a:off x="5347714" y="4837176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공감·응원·놀람 같은 일상 감정을 짧은 루프로 문자 답장 한 번에 마음을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전달하는 표현 제작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1" name="Google Shape;1651;p31"/>
          <p:cNvSpPr/>
          <p:nvPr/>
        </p:nvSpPr>
        <p:spPr>
          <a:xfrm>
            <a:off x="9306875" y="460857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2" name="Google Shape;1652;p31"/>
          <p:cNvSpPr/>
          <p:nvPr/>
        </p:nvSpPr>
        <p:spPr>
          <a:xfrm>
            <a:off x="9306875" y="460857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좋아요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3" name="Google Shape;1653;p31"/>
          <p:cNvSpPr/>
          <p:nvPr/>
        </p:nvSpPr>
        <p:spPr>
          <a:xfrm>
            <a:off x="10349689" y="460857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4" name="Google Shape;1654;p31"/>
          <p:cNvSpPr/>
          <p:nvPr/>
        </p:nvSpPr>
        <p:spPr>
          <a:xfrm>
            <a:off x="10349689" y="460857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화이팅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5" name="Google Shape;1655;p31"/>
          <p:cNvSpPr/>
          <p:nvPr/>
        </p:nvSpPr>
        <p:spPr>
          <a:xfrm>
            <a:off x="9306875" y="486460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6" name="Google Shape;1656;p31"/>
          <p:cNvSpPr/>
          <p:nvPr/>
        </p:nvSpPr>
        <p:spPr>
          <a:xfrm>
            <a:off x="9306875" y="486460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헉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7" name="Google Shape;1657;p31"/>
          <p:cNvSpPr/>
          <p:nvPr/>
        </p:nvSpPr>
        <p:spPr>
          <a:xfrm>
            <a:off x="10349689" y="486460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8" name="Google Shape;1658;p31"/>
          <p:cNvSpPr/>
          <p:nvPr/>
        </p:nvSpPr>
        <p:spPr>
          <a:xfrm>
            <a:off x="10349689" y="486460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힝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9" name="Google Shape;1659;p31"/>
          <p:cNvSpPr/>
          <p:nvPr/>
        </p:nvSpPr>
        <p:spPr>
          <a:xfrm>
            <a:off x="822960" y="5202936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0" name="Google Shape;1660;p31"/>
          <p:cNvSpPr/>
          <p:nvPr/>
        </p:nvSpPr>
        <p:spPr>
          <a:xfrm>
            <a:off x="946683" y="5321808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661" name="Google Shape;1661;p3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35057" y="5413248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662" name="Google Shape;1662;p31"/>
          <p:cNvSpPr/>
          <p:nvPr/>
        </p:nvSpPr>
        <p:spPr>
          <a:xfrm>
            <a:off x="1423903" y="5285232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3" name="Google Shape;1663;p31"/>
          <p:cNvSpPr/>
          <p:nvPr/>
        </p:nvSpPr>
        <p:spPr>
          <a:xfrm>
            <a:off x="1423903" y="5285232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표현 세트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4" name="Google Shape;1664;p31"/>
          <p:cNvSpPr/>
          <p:nvPr/>
        </p:nvSpPr>
        <p:spPr>
          <a:xfrm>
            <a:off x="1423903" y="5477256"/>
            <a:ext cx="32697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연인·가족 간 애정 표현은 꾸준한 수요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5" name="Google Shape;1665;p31"/>
          <p:cNvSpPr/>
          <p:nvPr/>
        </p:nvSpPr>
        <p:spPr>
          <a:xfrm>
            <a:off x="4897006" y="5404104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6" name="Google Shape;1666;p31"/>
          <p:cNvSpPr/>
          <p:nvPr/>
        </p:nvSpPr>
        <p:spPr>
          <a:xfrm>
            <a:off x="5241665" y="5202936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7" name="Google Shape;1667;p31"/>
          <p:cNvSpPr/>
          <p:nvPr/>
        </p:nvSpPr>
        <p:spPr>
          <a:xfrm>
            <a:off x="5347714" y="5285232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8" name="Google Shape;1668;p31"/>
          <p:cNvSpPr/>
          <p:nvPr/>
        </p:nvSpPr>
        <p:spPr>
          <a:xfrm>
            <a:off x="5347714" y="5285232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9" name="Google Shape;1669;p31"/>
          <p:cNvSpPr/>
          <p:nvPr/>
        </p:nvSpPr>
        <p:spPr>
          <a:xfrm>
            <a:off x="5860284" y="5257800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애정·응원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0" name="Google Shape;1670;p31"/>
          <p:cNvSpPr/>
          <p:nvPr/>
        </p:nvSpPr>
        <p:spPr>
          <a:xfrm>
            <a:off x="5347714" y="5504688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매일 주고받는 짧은 애정 메시지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제작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1" name="Google Shape;1671;p31"/>
          <p:cNvSpPr/>
          <p:nvPr/>
        </p:nvSpPr>
        <p:spPr>
          <a:xfrm>
            <a:off x="9306875" y="527608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2" name="Google Shape;1672;p31"/>
          <p:cNvSpPr/>
          <p:nvPr/>
        </p:nvSpPr>
        <p:spPr>
          <a:xfrm>
            <a:off x="9306875" y="527608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사랑해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3" name="Google Shape;1673;p31"/>
          <p:cNvSpPr/>
          <p:nvPr/>
        </p:nvSpPr>
        <p:spPr>
          <a:xfrm>
            <a:off x="10349689" y="527608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4" name="Google Shape;1674;p31"/>
          <p:cNvSpPr/>
          <p:nvPr/>
        </p:nvSpPr>
        <p:spPr>
          <a:xfrm>
            <a:off x="10349689" y="527608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보고 싶어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5" name="Google Shape;1675;p31"/>
          <p:cNvSpPr/>
          <p:nvPr/>
        </p:nvSpPr>
        <p:spPr>
          <a:xfrm>
            <a:off x="9306875" y="553212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6" name="Google Shape;1676;p31"/>
          <p:cNvSpPr/>
          <p:nvPr/>
        </p:nvSpPr>
        <p:spPr>
          <a:xfrm>
            <a:off x="9306875" y="553212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오늘도 화이팅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7" name="Google Shape;1677;p31"/>
          <p:cNvSpPr/>
          <p:nvPr/>
        </p:nvSpPr>
        <p:spPr>
          <a:xfrm>
            <a:off x="10349689" y="553212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8" name="Google Shape;1678;p31"/>
          <p:cNvSpPr/>
          <p:nvPr/>
        </p:nvSpPr>
        <p:spPr>
          <a:xfrm>
            <a:off x="10349689" y="553212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잘 자요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9" name="Google Shape;1679;p31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0" name="Google Shape;1680;p31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주제 선정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많이 사용하는 사용처의 트렌드를 참고하여 주제를 선정해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1" name="Google Shape;1681;p31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686" name="Shape 1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7" name="Google Shape;1687;p32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88" name="Google Shape;1688;p32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89" name="Google Shape;1689;p32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이미지 구성하기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0" name="Google Shape;1690;p32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1" name="Google Shape;1691;p32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 24장의 순서는 대화의 ‘흐름'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2" name="Google Shape;1692;p32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 문자 메시지 이용자의 사용 패턴을 참고하여 이모티콘을 구성해 보세요.</a:t>
            </a:r>
            <a:endParaRPr b="0" i="0" sz="1100" u="none" cap="none" strike="noStrike">
              <a:solidFill>
                <a:srgbClr val="4B5563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93" name="Google Shape;1693;p32"/>
          <p:cNvSpPr/>
          <p:nvPr/>
        </p:nvSpPr>
        <p:spPr>
          <a:xfrm>
            <a:off x="822960" y="2148840"/>
            <a:ext cx="5302446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4" name="Google Shape;1694;p32"/>
          <p:cNvSpPr/>
          <p:nvPr/>
        </p:nvSpPr>
        <p:spPr>
          <a:xfrm>
            <a:off x="822960" y="2148840"/>
            <a:ext cx="530244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 순서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5" name="Google Shape;1695;p32"/>
          <p:cNvSpPr/>
          <p:nvPr/>
        </p:nvSpPr>
        <p:spPr>
          <a:xfrm>
            <a:off x="822960" y="2569464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6" name="Google Shape;1696;p32"/>
          <p:cNvSpPr/>
          <p:nvPr/>
        </p:nvSpPr>
        <p:spPr>
          <a:xfrm>
            <a:off x="929008" y="2660904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7" name="Google Shape;1697;p32"/>
          <p:cNvSpPr/>
          <p:nvPr/>
        </p:nvSpPr>
        <p:spPr>
          <a:xfrm>
            <a:off x="929008" y="2660904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시작 인사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1~3번 · 3장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8" name="Google Shape;1698;p32"/>
          <p:cNvSpPr/>
          <p:nvPr/>
        </p:nvSpPr>
        <p:spPr>
          <a:xfrm>
            <a:off x="2060197" y="2671071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대화를 여는 장면 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9" name="Google Shape;1699;p32"/>
          <p:cNvSpPr/>
          <p:nvPr/>
        </p:nvSpPr>
        <p:spPr>
          <a:xfrm>
            <a:off x="2060197" y="2916936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안녕하세요 · 좋은 아침 · 잘 지내셨어요?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0" name="Google Shape;1700;p32"/>
          <p:cNvSpPr/>
          <p:nvPr/>
        </p:nvSpPr>
        <p:spPr>
          <a:xfrm>
            <a:off x="1353204" y="3154680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1" name="Google Shape;1701;p32"/>
          <p:cNvSpPr/>
          <p:nvPr/>
        </p:nvSpPr>
        <p:spPr>
          <a:xfrm>
            <a:off x="822960" y="3246120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2" name="Google Shape;1702;p32"/>
          <p:cNvSpPr/>
          <p:nvPr/>
        </p:nvSpPr>
        <p:spPr>
          <a:xfrm>
            <a:off x="929008" y="3337560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3" name="Google Shape;1703;p32"/>
          <p:cNvSpPr/>
          <p:nvPr/>
        </p:nvSpPr>
        <p:spPr>
          <a:xfrm>
            <a:off x="929008" y="3337560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표현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4~11번 · 8장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4" name="Google Shape;1704;p32"/>
          <p:cNvSpPr/>
          <p:nvPr/>
        </p:nvSpPr>
        <p:spPr>
          <a:xfrm>
            <a:off x="2060197" y="3347727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기쁨·감동·놀람·미안함 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 감정 표현 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5" name="Google Shape;1705;p32"/>
          <p:cNvSpPr/>
          <p:nvPr/>
        </p:nvSpPr>
        <p:spPr>
          <a:xfrm>
            <a:off x="2060197" y="3593592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좋아요 · 감동 · 헉 · 힝 · 죄송해요 · 뿌듯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6" name="Google Shape;1706;p32"/>
          <p:cNvSpPr/>
          <p:nvPr/>
        </p:nvSpPr>
        <p:spPr>
          <a:xfrm>
            <a:off x="1353204" y="3831336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7" name="Google Shape;1707;p32"/>
          <p:cNvSpPr/>
          <p:nvPr/>
        </p:nvSpPr>
        <p:spPr>
          <a:xfrm>
            <a:off x="822960" y="3922776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8" name="Google Shape;1708;p32"/>
          <p:cNvSpPr/>
          <p:nvPr/>
        </p:nvSpPr>
        <p:spPr>
          <a:xfrm>
            <a:off x="929008" y="4014216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9" name="Google Shape;1709;p32"/>
          <p:cNvSpPr/>
          <p:nvPr/>
        </p:nvSpPr>
        <p:spPr>
          <a:xfrm>
            <a:off x="929008" y="4014216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리액션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12~15번 · 4장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0" name="Google Shape;1710;p32"/>
          <p:cNvSpPr/>
          <p:nvPr/>
        </p:nvSpPr>
        <p:spPr>
          <a:xfrm>
            <a:off x="2060197" y="4024383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상대 말에 바로 답하는 짧은 반응 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1" name="Google Shape;1711;p32"/>
          <p:cNvSpPr/>
          <p:nvPr/>
        </p:nvSpPr>
        <p:spPr>
          <a:xfrm>
            <a:off x="2060197" y="4270248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네! · 알겠습니다 · 화이팅 · 최고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2" name="Google Shape;1712;p32"/>
          <p:cNvSpPr/>
          <p:nvPr/>
        </p:nvSpPr>
        <p:spPr>
          <a:xfrm>
            <a:off x="1353204" y="4507992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3" name="Google Shape;1713;p32"/>
          <p:cNvSpPr/>
          <p:nvPr/>
        </p:nvSpPr>
        <p:spPr>
          <a:xfrm>
            <a:off x="822960" y="4599432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4" name="Google Shape;1714;p32"/>
          <p:cNvSpPr/>
          <p:nvPr/>
        </p:nvSpPr>
        <p:spPr>
          <a:xfrm>
            <a:off x="929008" y="4690872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5" name="Google Shape;1715;p32"/>
          <p:cNvSpPr/>
          <p:nvPr/>
        </p:nvSpPr>
        <p:spPr>
          <a:xfrm>
            <a:off x="929008" y="4690872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일상·상황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16~21번 · 6장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6" name="Google Shape;1716;p32"/>
          <p:cNvSpPr/>
          <p:nvPr/>
        </p:nvSpPr>
        <p:spPr>
          <a:xfrm>
            <a:off x="2060197" y="4701039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출근·식사·이동·휴식 등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평소</a:t>
            </a: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상황</a:t>
            </a: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7" name="Google Shape;1717;p32"/>
          <p:cNvSpPr/>
          <p:nvPr/>
        </p:nvSpPr>
        <p:spPr>
          <a:xfrm>
            <a:off x="2060197" y="4946904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출근 중 · 밥 먹자 · 가는 중 · 잠깐만 · 퇴근 · 쉬는 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8" name="Google Shape;1718;p32"/>
          <p:cNvSpPr/>
          <p:nvPr/>
        </p:nvSpPr>
        <p:spPr>
          <a:xfrm>
            <a:off x="1353204" y="5184648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9" name="Google Shape;1719;p32"/>
          <p:cNvSpPr/>
          <p:nvPr/>
        </p:nvSpPr>
        <p:spPr>
          <a:xfrm>
            <a:off x="822960" y="5276088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0" name="Google Shape;1720;p32"/>
          <p:cNvSpPr/>
          <p:nvPr/>
        </p:nvSpPr>
        <p:spPr>
          <a:xfrm>
            <a:off x="929008" y="5367528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1" name="Google Shape;1721;p32"/>
          <p:cNvSpPr/>
          <p:nvPr/>
        </p:nvSpPr>
        <p:spPr>
          <a:xfrm>
            <a:off x="929008" y="5367528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마무리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22~24번 · 3장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2" name="Google Shape;1722;p32"/>
          <p:cNvSpPr/>
          <p:nvPr/>
        </p:nvSpPr>
        <p:spPr>
          <a:xfrm>
            <a:off x="2060197" y="5377695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마지막 인사 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3" name="Google Shape;1723;p32"/>
          <p:cNvSpPr/>
          <p:nvPr/>
        </p:nvSpPr>
        <p:spPr>
          <a:xfrm>
            <a:off x="2060197" y="5623560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부탁드려요 · 감사합니다 · 잘 자요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4" name="Google Shape;1724;p32"/>
          <p:cNvSpPr/>
          <p:nvPr/>
        </p:nvSpPr>
        <p:spPr>
          <a:xfrm>
            <a:off x="6390529" y="2148840"/>
            <a:ext cx="4975462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5" name="Google Shape;1725;p32"/>
          <p:cNvSpPr/>
          <p:nvPr/>
        </p:nvSpPr>
        <p:spPr>
          <a:xfrm>
            <a:off x="6390529" y="2148840"/>
            <a:ext cx="497546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24칸 배치도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6" name="Google Shape;1726;p32"/>
          <p:cNvSpPr/>
          <p:nvPr/>
        </p:nvSpPr>
        <p:spPr>
          <a:xfrm>
            <a:off x="6478903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7" name="Google Shape;1727;p32"/>
          <p:cNvSpPr/>
          <p:nvPr/>
        </p:nvSpPr>
        <p:spPr>
          <a:xfrm>
            <a:off x="6478903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시작 인사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8" name="Google Shape;1728;p32"/>
          <p:cNvSpPr/>
          <p:nvPr/>
        </p:nvSpPr>
        <p:spPr>
          <a:xfrm>
            <a:off x="7159384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9" name="Google Shape;1729;p32"/>
          <p:cNvSpPr/>
          <p:nvPr/>
        </p:nvSpPr>
        <p:spPr>
          <a:xfrm>
            <a:off x="7159384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0" name="Google Shape;1730;p32"/>
          <p:cNvSpPr/>
          <p:nvPr/>
        </p:nvSpPr>
        <p:spPr>
          <a:xfrm>
            <a:off x="7839864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1" name="Google Shape;1731;p32"/>
          <p:cNvSpPr/>
          <p:nvPr/>
        </p:nvSpPr>
        <p:spPr>
          <a:xfrm>
            <a:off x="7839864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2" name="Google Shape;1732;p32"/>
          <p:cNvSpPr/>
          <p:nvPr/>
        </p:nvSpPr>
        <p:spPr>
          <a:xfrm>
            <a:off x="8520345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3" name="Google Shape;1733;p32"/>
          <p:cNvSpPr/>
          <p:nvPr/>
        </p:nvSpPr>
        <p:spPr>
          <a:xfrm>
            <a:off x="8520345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표현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4" name="Google Shape;1734;p32"/>
          <p:cNvSpPr/>
          <p:nvPr/>
        </p:nvSpPr>
        <p:spPr>
          <a:xfrm>
            <a:off x="9200826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5" name="Google Shape;1735;p32"/>
          <p:cNvSpPr/>
          <p:nvPr/>
        </p:nvSpPr>
        <p:spPr>
          <a:xfrm>
            <a:off x="9200826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6" name="Google Shape;1736;p32"/>
          <p:cNvSpPr/>
          <p:nvPr/>
        </p:nvSpPr>
        <p:spPr>
          <a:xfrm>
            <a:off x="9881306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7" name="Google Shape;1737;p32"/>
          <p:cNvSpPr/>
          <p:nvPr/>
        </p:nvSpPr>
        <p:spPr>
          <a:xfrm>
            <a:off x="9881306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8" name="Google Shape;1738;p32"/>
          <p:cNvSpPr/>
          <p:nvPr/>
        </p:nvSpPr>
        <p:spPr>
          <a:xfrm>
            <a:off x="6478903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9" name="Google Shape;1739;p32"/>
          <p:cNvSpPr/>
          <p:nvPr/>
        </p:nvSpPr>
        <p:spPr>
          <a:xfrm>
            <a:off x="6478903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0" name="Google Shape;1740;p32"/>
          <p:cNvSpPr/>
          <p:nvPr/>
        </p:nvSpPr>
        <p:spPr>
          <a:xfrm>
            <a:off x="7159384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1" name="Google Shape;1741;p32"/>
          <p:cNvSpPr/>
          <p:nvPr/>
        </p:nvSpPr>
        <p:spPr>
          <a:xfrm>
            <a:off x="7159384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2" name="Google Shape;1742;p32"/>
          <p:cNvSpPr/>
          <p:nvPr/>
        </p:nvSpPr>
        <p:spPr>
          <a:xfrm>
            <a:off x="7839864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3" name="Google Shape;1743;p32"/>
          <p:cNvSpPr/>
          <p:nvPr/>
        </p:nvSpPr>
        <p:spPr>
          <a:xfrm>
            <a:off x="7839864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4" name="Google Shape;1744;p32"/>
          <p:cNvSpPr/>
          <p:nvPr/>
        </p:nvSpPr>
        <p:spPr>
          <a:xfrm>
            <a:off x="8520345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5" name="Google Shape;1745;p32"/>
          <p:cNvSpPr/>
          <p:nvPr/>
        </p:nvSpPr>
        <p:spPr>
          <a:xfrm>
            <a:off x="8520345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6" name="Google Shape;1746;p32"/>
          <p:cNvSpPr/>
          <p:nvPr/>
        </p:nvSpPr>
        <p:spPr>
          <a:xfrm>
            <a:off x="9200826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7" name="Google Shape;1747;p32"/>
          <p:cNvSpPr/>
          <p:nvPr/>
        </p:nvSpPr>
        <p:spPr>
          <a:xfrm>
            <a:off x="9200826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8" name="Google Shape;1748;p32"/>
          <p:cNvSpPr/>
          <p:nvPr/>
        </p:nvSpPr>
        <p:spPr>
          <a:xfrm>
            <a:off x="9881306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9" name="Google Shape;1749;p32"/>
          <p:cNvSpPr/>
          <p:nvPr/>
        </p:nvSpPr>
        <p:spPr>
          <a:xfrm>
            <a:off x="9881306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리액션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0" name="Google Shape;1750;p32"/>
          <p:cNvSpPr/>
          <p:nvPr/>
        </p:nvSpPr>
        <p:spPr>
          <a:xfrm>
            <a:off x="6478903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1" name="Google Shape;1751;p32"/>
          <p:cNvSpPr/>
          <p:nvPr/>
        </p:nvSpPr>
        <p:spPr>
          <a:xfrm>
            <a:off x="6478903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2" name="Google Shape;1752;p32"/>
          <p:cNvSpPr/>
          <p:nvPr/>
        </p:nvSpPr>
        <p:spPr>
          <a:xfrm>
            <a:off x="7159384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3" name="Google Shape;1753;p32"/>
          <p:cNvSpPr/>
          <p:nvPr/>
        </p:nvSpPr>
        <p:spPr>
          <a:xfrm>
            <a:off x="7159384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4" name="Google Shape;1754;p32"/>
          <p:cNvSpPr/>
          <p:nvPr/>
        </p:nvSpPr>
        <p:spPr>
          <a:xfrm>
            <a:off x="7839864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5" name="Google Shape;1755;p32"/>
          <p:cNvSpPr/>
          <p:nvPr/>
        </p:nvSpPr>
        <p:spPr>
          <a:xfrm>
            <a:off x="7839864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6" name="Google Shape;1756;p32"/>
          <p:cNvSpPr/>
          <p:nvPr/>
        </p:nvSpPr>
        <p:spPr>
          <a:xfrm>
            <a:off x="8520345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7" name="Google Shape;1757;p32"/>
          <p:cNvSpPr/>
          <p:nvPr/>
        </p:nvSpPr>
        <p:spPr>
          <a:xfrm>
            <a:off x="8520345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일상·상황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8" name="Google Shape;1758;p32"/>
          <p:cNvSpPr/>
          <p:nvPr/>
        </p:nvSpPr>
        <p:spPr>
          <a:xfrm>
            <a:off x="9200826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9" name="Google Shape;1759;p32"/>
          <p:cNvSpPr/>
          <p:nvPr/>
        </p:nvSpPr>
        <p:spPr>
          <a:xfrm>
            <a:off x="9200826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0" name="Google Shape;1760;p32"/>
          <p:cNvSpPr/>
          <p:nvPr/>
        </p:nvSpPr>
        <p:spPr>
          <a:xfrm>
            <a:off x="9881306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1" name="Google Shape;1761;p32"/>
          <p:cNvSpPr/>
          <p:nvPr/>
        </p:nvSpPr>
        <p:spPr>
          <a:xfrm>
            <a:off x="9881306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2" name="Google Shape;1762;p32"/>
          <p:cNvSpPr/>
          <p:nvPr/>
        </p:nvSpPr>
        <p:spPr>
          <a:xfrm>
            <a:off x="6478903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3" name="Google Shape;1763;p32"/>
          <p:cNvSpPr/>
          <p:nvPr/>
        </p:nvSpPr>
        <p:spPr>
          <a:xfrm>
            <a:off x="6478903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4" name="Google Shape;1764;p32"/>
          <p:cNvSpPr/>
          <p:nvPr/>
        </p:nvSpPr>
        <p:spPr>
          <a:xfrm>
            <a:off x="7159384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5" name="Google Shape;1765;p32"/>
          <p:cNvSpPr/>
          <p:nvPr/>
        </p:nvSpPr>
        <p:spPr>
          <a:xfrm>
            <a:off x="7159384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6" name="Google Shape;1766;p32"/>
          <p:cNvSpPr/>
          <p:nvPr/>
        </p:nvSpPr>
        <p:spPr>
          <a:xfrm>
            <a:off x="7839864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7" name="Google Shape;1767;p32"/>
          <p:cNvSpPr/>
          <p:nvPr/>
        </p:nvSpPr>
        <p:spPr>
          <a:xfrm>
            <a:off x="7839864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8" name="Google Shape;1768;p32"/>
          <p:cNvSpPr/>
          <p:nvPr/>
        </p:nvSpPr>
        <p:spPr>
          <a:xfrm>
            <a:off x="8520345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9" name="Google Shape;1769;p32"/>
          <p:cNvSpPr/>
          <p:nvPr/>
        </p:nvSpPr>
        <p:spPr>
          <a:xfrm>
            <a:off x="8520345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메시지·마무리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0" name="Google Shape;1770;p32"/>
          <p:cNvSpPr/>
          <p:nvPr/>
        </p:nvSpPr>
        <p:spPr>
          <a:xfrm>
            <a:off x="9200826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1" name="Google Shape;1771;p32"/>
          <p:cNvSpPr/>
          <p:nvPr/>
        </p:nvSpPr>
        <p:spPr>
          <a:xfrm>
            <a:off x="9200826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2" name="Google Shape;1772;p32"/>
          <p:cNvSpPr/>
          <p:nvPr/>
        </p:nvSpPr>
        <p:spPr>
          <a:xfrm>
            <a:off x="9881306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3" name="Google Shape;1773;p32"/>
          <p:cNvSpPr/>
          <p:nvPr/>
        </p:nvSpPr>
        <p:spPr>
          <a:xfrm>
            <a:off x="9881306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4" name="Google Shape;1774;p32"/>
          <p:cNvSpPr/>
          <p:nvPr/>
        </p:nvSpPr>
        <p:spPr>
          <a:xfrm>
            <a:off x="6443553" y="2532888"/>
            <a:ext cx="2067954" cy="457200"/>
          </a:xfrm>
          <a:prstGeom prst="roundRect">
            <a:avLst>
              <a:gd fmla="val 12000" name="adj"/>
            </a:avLst>
          </a:prstGeom>
          <a:noFill/>
          <a:ln cap="flat" cmpd="sng" w="19050">
            <a:solidFill>
              <a:srgbClr val="E0632F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5" name="Google Shape;1775;p32"/>
          <p:cNvSpPr/>
          <p:nvPr/>
        </p:nvSpPr>
        <p:spPr>
          <a:xfrm>
            <a:off x="10579462" y="2551176"/>
            <a:ext cx="883741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◀ 1~3번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미리보기 첫인상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6" name="Google Shape;1776;p32"/>
          <p:cNvSpPr/>
          <p:nvPr/>
        </p:nvSpPr>
        <p:spPr>
          <a:xfrm>
            <a:off x="6390529" y="4398264"/>
            <a:ext cx="497546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 규칙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7" name="Google Shape;1777;p32"/>
          <p:cNvSpPr/>
          <p:nvPr/>
        </p:nvSpPr>
        <p:spPr>
          <a:xfrm>
            <a:off x="6390529" y="46177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1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1~3번에 </a:t>
            </a:r>
            <a:r>
              <a:rPr b="1" lang="en-US" sz="8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 장면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인사·감사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 대한 표현을 중시하여 가장 앞단에 배치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8" name="Google Shape;1778;p32"/>
          <p:cNvSpPr/>
          <p:nvPr/>
        </p:nvSpPr>
        <p:spPr>
          <a:xfrm>
            <a:off x="6390529" y="48463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2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같은 구간은 붙여서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감정끼리, 상황끼리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묶어 배치하면 사용성 증가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9" name="Google Shape;1779;p32"/>
          <p:cNvSpPr/>
          <p:nvPr/>
        </p:nvSpPr>
        <p:spPr>
          <a:xfrm>
            <a:off x="6390529" y="50749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3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긍정·부정은 짝으로 나란히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‘좋아요’ 옆에 ‘죄송해요’, ‘네!’ 옆에 ‘잠깐만’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 선택지 옆 배치 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0" name="Google Shape;1780;p32"/>
          <p:cNvSpPr/>
          <p:nvPr/>
        </p:nvSpPr>
        <p:spPr>
          <a:xfrm>
            <a:off x="6390529" y="53035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4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마지막 장은 항상 인사 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메시지를 마무리하는 내용은 가장 후방 배치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1" name="Google Shape;1781;p32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2" name="Google Shape;1782;p32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이미지 구성  </a:t>
            </a:r>
            <a:r>
              <a:rPr b="1" i="0" lang="en-US" sz="105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입장에서 어떤 용도로 어떻게 사용할지를 전략적으로 구상해 보세요.</a:t>
            </a:r>
            <a:endParaRPr b="1" i="0" sz="1050" u="none" cap="none" strike="noStrike">
              <a:solidFill>
                <a:srgbClr val="B7D5C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83" name="Google Shape;1783;p32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788" name="Shape 1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9" name="Google Shape;1789;p33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90" name="Google Shape;1790;p33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91" name="Google Shape;1791;p33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 전략 세우기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2" name="Google Shape;1792;p3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3" name="Google Shape;1793;p33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시간보다 시즌 — 시즌성 이모티콘에 대한 구매 수요 ▲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4" name="Google Shape;1794;p33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lang="en-US" sz="11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통해 원하는 시간에 출시 예약을 설정할 수 있습니다. 전략적으로 이용해 보세요.</a:t>
            </a:r>
            <a:endParaRPr sz="1100">
              <a:solidFill>
                <a:srgbClr val="4B5563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95" name="Google Shape;1795;p33"/>
          <p:cNvSpPr/>
          <p:nvPr/>
        </p:nvSpPr>
        <p:spPr>
          <a:xfrm>
            <a:off x="822960" y="2148840"/>
            <a:ext cx="5655943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6" name="Google Shape;1796;p33"/>
          <p:cNvSpPr/>
          <p:nvPr/>
        </p:nvSpPr>
        <p:spPr>
          <a:xfrm>
            <a:off x="822960" y="2148840"/>
            <a:ext cx="5655943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월별 매출 비중 (%) — 2026년 상반기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97" name="Google Shape;1797;p33"/>
          <p:cNvCxnSpPr/>
          <p:nvPr/>
        </p:nvCxnSpPr>
        <p:spPr>
          <a:xfrm>
            <a:off x="1088082" y="4526280"/>
            <a:ext cx="5125698" cy="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98" name="Google Shape;1798;p33"/>
          <p:cNvSpPr/>
          <p:nvPr/>
        </p:nvSpPr>
        <p:spPr>
          <a:xfrm>
            <a:off x="1280296" y="4071652"/>
            <a:ext cx="469855" cy="454628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9" name="Google Shape;1799;p33"/>
          <p:cNvSpPr/>
          <p:nvPr/>
        </p:nvSpPr>
        <p:spPr>
          <a:xfrm>
            <a:off x="1088082" y="3888772"/>
            <a:ext cx="854283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8.6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0" name="Google Shape;1800;p33"/>
          <p:cNvSpPr/>
          <p:nvPr/>
        </p:nvSpPr>
        <p:spPr>
          <a:xfrm>
            <a:off x="1088082" y="4553712"/>
            <a:ext cx="854283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1" name="Google Shape;1801;p33"/>
          <p:cNvSpPr/>
          <p:nvPr/>
        </p:nvSpPr>
        <p:spPr>
          <a:xfrm>
            <a:off x="2134579" y="3056668"/>
            <a:ext cx="469855" cy="146961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2" name="Google Shape;1802;p33"/>
          <p:cNvSpPr/>
          <p:nvPr/>
        </p:nvSpPr>
        <p:spPr>
          <a:xfrm>
            <a:off x="1942365" y="2873788"/>
            <a:ext cx="854283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27.8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3" name="Google Shape;1803;p33"/>
          <p:cNvSpPr/>
          <p:nvPr/>
        </p:nvSpPr>
        <p:spPr>
          <a:xfrm>
            <a:off x="1942365" y="4553712"/>
            <a:ext cx="854283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4" name="Google Shape;1804;p33"/>
          <p:cNvSpPr/>
          <p:nvPr/>
        </p:nvSpPr>
        <p:spPr>
          <a:xfrm>
            <a:off x="2988862" y="3469005"/>
            <a:ext cx="469855" cy="1057275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5" name="Google Shape;1805;p33"/>
          <p:cNvSpPr/>
          <p:nvPr/>
        </p:nvSpPr>
        <p:spPr>
          <a:xfrm>
            <a:off x="2796648" y="3286125"/>
            <a:ext cx="854283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20.0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6" name="Google Shape;1806;p33"/>
          <p:cNvSpPr/>
          <p:nvPr/>
        </p:nvSpPr>
        <p:spPr>
          <a:xfrm>
            <a:off x="2796648" y="4553712"/>
            <a:ext cx="854283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3월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7" name="Google Shape;1807;p33"/>
          <p:cNvSpPr/>
          <p:nvPr/>
        </p:nvSpPr>
        <p:spPr>
          <a:xfrm>
            <a:off x="3843145" y="3691033"/>
            <a:ext cx="469855" cy="835247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8" name="Google Shape;1808;p33"/>
          <p:cNvSpPr/>
          <p:nvPr/>
        </p:nvSpPr>
        <p:spPr>
          <a:xfrm>
            <a:off x="3650931" y="3508153"/>
            <a:ext cx="854283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15.8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9" name="Google Shape;1809;p33"/>
          <p:cNvSpPr/>
          <p:nvPr/>
        </p:nvSpPr>
        <p:spPr>
          <a:xfrm>
            <a:off x="3650931" y="4553712"/>
            <a:ext cx="854283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4월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0" name="Google Shape;1810;p33"/>
          <p:cNvSpPr/>
          <p:nvPr/>
        </p:nvSpPr>
        <p:spPr>
          <a:xfrm>
            <a:off x="4697428" y="3796760"/>
            <a:ext cx="469855" cy="729520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1" name="Google Shape;1811;p33"/>
          <p:cNvSpPr/>
          <p:nvPr/>
        </p:nvSpPr>
        <p:spPr>
          <a:xfrm>
            <a:off x="4505214" y="3613880"/>
            <a:ext cx="854283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13.8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2" name="Google Shape;1812;p33"/>
          <p:cNvSpPr/>
          <p:nvPr/>
        </p:nvSpPr>
        <p:spPr>
          <a:xfrm>
            <a:off x="4505214" y="4553712"/>
            <a:ext cx="854283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5월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3" name="Google Shape;1813;p33"/>
          <p:cNvSpPr/>
          <p:nvPr/>
        </p:nvSpPr>
        <p:spPr>
          <a:xfrm>
            <a:off x="5551711" y="3780901"/>
            <a:ext cx="469855" cy="745379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4" name="Google Shape;1814;p33"/>
          <p:cNvSpPr/>
          <p:nvPr/>
        </p:nvSpPr>
        <p:spPr>
          <a:xfrm>
            <a:off x="5359497" y="3598021"/>
            <a:ext cx="854283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14.0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5" name="Google Shape;1815;p33"/>
          <p:cNvSpPr/>
          <p:nvPr/>
        </p:nvSpPr>
        <p:spPr>
          <a:xfrm>
            <a:off x="5359497" y="4553712"/>
            <a:ext cx="854283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6월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6" name="Google Shape;1816;p33"/>
          <p:cNvSpPr/>
          <p:nvPr/>
        </p:nvSpPr>
        <p:spPr>
          <a:xfrm>
            <a:off x="1924690" y="2816352"/>
            <a:ext cx="889632" cy="1728216"/>
          </a:xfrm>
          <a:prstGeom prst="roundRect">
            <a:avLst>
              <a:gd fmla="val 4967" name="adj"/>
            </a:avLst>
          </a:prstGeom>
          <a:noFill/>
          <a:ln cap="flat" cmpd="sng" w="12700">
            <a:solidFill>
              <a:srgbClr val="E0632F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7" name="Google Shape;1817;p33"/>
          <p:cNvSpPr/>
          <p:nvPr/>
        </p:nvSpPr>
        <p:spPr>
          <a:xfrm>
            <a:off x="1942365" y="2615184"/>
            <a:ext cx="3976835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설날 시즌 — 1월의 3.2배 · 명절 테마가 그 달 매출의 39.2%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8" name="Google Shape;1818;p33"/>
          <p:cNvSpPr/>
          <p:nvPr/>
        </p:nvSpPr>
        <p:spPr>
          <a:xfrm>
            <a:off x="822960" y="4754880"/>
            <a:ext cx="5655943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Malgun Gothic"/>
                <a:ea typeface="Malgun Gothic"/>
                <a:cs typeface="Malgun Gothic"/>
                <a:sym typeface="Malgun Gothic"/>
              </a:rPr>
              <a:t>1~2월 설날 · 4~5월 가정의 달(인사·감사)이 두 번의 성수기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9" name="Google Shape;1819;p33"/>
          <p:cNvSpPr/>
          <p:nvPr/>
        </p:nvSpPr>
        <p:spPr>
          <a:xfrm>
            <a:off x="6637976" y="2148840"/>
            <a:ext cx="4728015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0" name="Google Shape;1820;p33"/>
          <p:cNvSpPr/>
          <p:nvPr/>
        </p:nvSpPr>
        <p:spPr>
          <a:xfrm>
            <a:off x="6637976" y="2148840"/>
            <a:ext cx="4728015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월별 TOP25 중 시즌·인사 세트 매출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21" name="Google Shape;1821;p33"/>
          <p:cNvCxnSpPr/>
          <p:nvPr/>
        </p:nvCxnSpPr>
        <p:spPr>
          <a:xfrm>
            <a:off x="6858912" y="4526280"/>
            <a:ext cx="4286144" cy="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22" name="Google Shape;1822;p33"/>
          <p:cNvSpPr/>
          <p:nvPr/>
        </p:nvSpPr>
        <p:spPr>
          <a:xfrm>
            <a:off x="7029827" y="3714293"/>
            <a:ext cx="240024" cy="811987"/>
          </a:xfrm>
          <a:prstGeom prst="rect">
            <a:avLst/>
          </a:prstGeom>
          <a:solidFill>
            <a:srgbClr val="E0632F"/>
          </a:solidFill>
          <a:ln cap="flat" cmpd="sng" w="12700">
            <a:solidFill>
              <a:srgbClr val="E063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3" name="Google Shape;1823;p33"/>
          <p:cNvSpPr/>
          <p:nvPr/>
        </p:nvSpPr>
        <p:spPr>
          <a:xfrm>
            <a:off x="6941453" y="3558845"/>
            <a:ext cx="416772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E0632F"/>
                </a:solidFill>
                <a:latin typeface="Arial"/>
                <a:ea typeface="Arial"/>
                <a:cs typeface="Arial"/>
                <a:sym typeface="Arial"/>
              </a:rPr>
              <a:t>36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4" name="Google Shape;1824;p33"/>
          <p:cNvSpPr/>
          <p:nvPr/>
        </p:nvSpPr>
        <p:spPr>
          <a:xfrm>
            <a:off x="7305201" y="3915034"/>
            <a:ext cx="240024" cy="61124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5" name="Google Shape;1825;p33"/>
          <p:cNvSpPr/>
          <p:nvPr/>
        </p:nvSpPr>
        <p:spPr>
          <a:xfrm>
            <a:off x="7216827" y="3759586"/>
            <a:ext cx="416772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6" name="Google Shape;1826;p33"/>
          <p:cNvSpPr/>
          <p:nvPr/>
        </p:nvSpPr>
        <p:spPr>
          <a:xfrm>
            <a:off x="6858912" y="4553712"/>
            <a:ext cx="8572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7" name="Google Shape;1827;p33"/>
          <p:cNvSpPr/>
          <p:nvPr/>
        </p:nvSpPr>
        <p:spPr>
          <a:xfrm>
            <a:off x="7887056" y="3599261"/>
            <a:ext cx="240024" cy="927019"/>
          </a:xfrm>
          <a:prstGeom prst="rect">
            <a:avLst/>
          </a:prstGeom>
          <a:solidFill>
            <a:srgbClr val="E0632F"/>
          </a:solidFill>
          <a:ln cap="flat" cmpd="sng" w="12700">
            <a:solidFill>
              <a:srgbClr val="E063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8" name="Google Shape;1828;p33"/>
          <p:cNvSpPr/>
          <p:nvPr/>
        </p:nvSpPr>
        <p:spPr>
          <a:xfrm>
            <a:off x="7798682" y="3443813"/>
            <a:ext cx="416772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E0632F"/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9" name="Google Shape;1829;p33"/>
          <p:cNvSpPr/>
          <p:nvPr/>
        </p:nvSpPr>
        <p:spPr>
          <a:xfrm>
            <a:off x="8162430" y="4118031"/>
            <a:ext cx="240024" cy="408249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0" name="Google Shape;1830;p33"/>
          <p:cNvSpPr/>
          <p:nvPr/>
        </p:nvSpPr>
        <p:spPr>
          <a:xfrm>
            <a:off x="8074056" y="3962583"/>
            <a:ext cx="416772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1" name="Google Shape;1831;p33"/>
          <p:cNvSpPr/>
          <p:nvPr/>
        </p:nvSpPr>
        <p:spPr>
          <a:xfrm>
            <a:off x="7716141" y="4553712"/>
            <a:ext cx="8572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2" name="Google Shape;1832;p33"/>
          <p:cNvSpPr/>
          <p:nvPr/>
        </p:nvSpPr>
        <p:spPr>
          <a:xfrm>
            <a:off x="9019659" y="3930823"/>
            <a:ext cx="240024" cy="595457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3" name="Google Shape;1833;p33"/>
          <p:cNvSpPr/>
          <p:nvPr/>
        </p:nvSpPr>
        <p:spPr>
          <a:xfrm>
            <a:off x="8931285" y="3775375"/>
            <a:ext cx="416772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4" name="Google Shape;1834;p33"/>
          <p:cNvSpPr/>
          <p:nvPr/>
        </p:nvSpPr>
        <p:spPr>
          <a:xfrm>
            <a:off x="8573369" y="4553712"/>
            <a:ext cx="8572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3월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5" name="Google Shape;1835;p33"/>
          <p:cNvSpPr/>
          <p:nvPr/>
        </p:nvSpPr>
        <p:spPr>
          <a:xfrm>
            <a:off x="9876888" y="2958694"/>
            <a:ext cx="240024" cy="156758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6" name="Google Shape;1836;p33"/>
          <p:cNvSpPr/>
          <p:nvPr/>
        </p:nvSpPr>
        <p:spPr>
          <a:xfrm>
            <a:off x="9788514" y="2803246"/>
            <a:ext cx="416772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7" name="Google Shape;1837;p33"/>
          <p:cNvSpPr/>
          <p:nvPr/>
        </p:nvSpPr>
        <p:spPr>
          <a:xfrm>
            <a:off x="9430598" y="4553712"/>
            <a:ext cx="8572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4월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8" name="Google Shape;1838;p33"/>
          <p:cNvSpPr/>
          <p:nvPr/>
        </p:nvSpPr>
        <p:spPr>
          <a:xfrm>
            <a:off x="10734117" y="3130113"/>
            <a:ext cx="240024" cy="1396167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9" name="Google Shape;1839;p33"/>
          <p:cNvSpPr/>
          <p:nvPr/>
        </p:nvSpPr>
        <p:spPr>
          <a:xfrm>
            <a:off x="10645742" y="2974665"/>
            <a:ext cx="416772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0" name="Google Shape;1840;p33"/>
          <p:cNvSpPr/>
          <p:nvPr/>
        </p:nvSpPr>
        <p:spPr>
          <a:xfrm>
            <a:off x="10287827" y="4553712"/>
            <a:ext cx="8572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5월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1" name="Google Shape;1841;p33"/>
          <p:cNvSpPr/>
          <p:nvPr/>
        </p:nvSpPr>
        <p:spPr>
          <a:xfrm>
            <a:off x="6858912" y="2551176"/>
            <a:ext cx="106048" cy="109728"/>
          </a:xfrm>
          <a:prstGeom prst="rect">
            <a:avLst/>
          </a:prstGeom>
          <a:solidFill>
            <a:srgbClr val="E0632F"/>
          </a:solidFill>
          <a:ln cap="flat" cmpd="sng" w="12700">
            <a:solidFill>
              <a:srgbClr val="E063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2" name="Google Shape;1842;p33"/>
          <p:cNvSpPr/>
          <p:nvPr/>
        </p:nvSpPr>
        <p:spPr>
          <a:xfrm>
            <a:off x="6991473" y="2514600"/>
            <a:ext cx="1237237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시즌·기념일(설날)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3" name="Google Shape;1843;p33"/>
          <p:cNvSpPr/>
          <p:nvPr/>
        </p:nvSpPr>
        <p:spPr>
          <a:xfrm>
            <a:off x="8272897" y="2551176"/>
            <a:ext cx="106048" cy="10972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4" name="Google Shape;1844;p33"/>
          <p:cNvSpPr/>
          <p:nvPr/>
        </p:nvSpPr>
        <p:spPr>
          <a:xfrm>
            <a:off x="8405459" y="2514600"/>
            <a:ext cx="106048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인사·감사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5" name="Google Shape;1845;p33"/>
          <p:cNvSpPr/>
          <p:nvPr/>
        </p:nvSpPr>
        <p:spPr>
          <a:xfrm>
            <a:off x="6637975" y="4754875"/>
            <a:ext cx="45936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설날이 지나면 인사·감사 세트가 그 자리를 채움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6" name="Google Shape;1846;p33"/>
          <p:cNvSpPr/>
          <p:nvPr/>
        </p:nvSpPr>
        <p:spPr>
          <a:xfrm>
            <a:off x="822960" y="4956048"/>
            <a:ext cx="7069929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 하반기 시즌 캘린더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7" name="Google Shape;1847;p33"/>
          <p:cNvSpPr/>
          <p:nvPr/>
        </p:nvSpPr>
        <p:spPr>
          <a:xfrm>
            <a:off x="822960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8" name="Google Shape;1848;p33"/>
          <p:cNvSpPr/>
          <p:nvPr/>
        </p:nvSpPr>
        <p:spPr>
          <a:xfrm>
            <a:off x="955521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9월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9" name="Google Shape;1849;p33"/>
          <p:cNvSpPr/>
          <p:nvPr/>
        </p:nvSpPr>
        <p:spPr>
          <a:xfrm>
            <a:off x="955521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추석 연휴(9/24~26) · 개학 · 가을 안부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0" name="Google Shape;1850;p33"/>
          <p:cNvSpPr/>
          <p:nvPr/>
        </p:nvSpPr>
        <p:spPr>
          <a:xfrm>
            <a:off x="955521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명절 인사 · 건강 안부 · 감사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1" name="Google Shape;1851;p33"/>
          <p:cNvSpPr/>
          <p:nvPr/>
        </p:nvSpPr>
        <p:spPr>
          <a:xfrm>
            <a:off x="3497160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2" name="Google Shape;1852;p33"/>
          <p:cNvSpPr/>
          <p:nvPr/>
        </p:nvSpPr>
        <p:spPr>
          <a:xfrm>
            <a:off x="3629721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10월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3" name="Google Shape;1853;p33"/>
          <p:cNvSpPr/>
          <p:nvPr/>
        </p:nvSpPr>
        <p:spPr>
          <a:xfrm>
            <a:off x="3629721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한글날 · 가을 나들이 · 할로윈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4" name="Google Shape;1854;p33"/>
          <p:cNvSpPr/>
          <p:nvPr/>
        </p:nvSpPr>
        <p:spPr>
          <a:xfrm>
            <a:off x="3629721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가을 안부 · 나들이 · 할로윈 인사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5" name="Google Shape;1855;p33"/>
          <p:cNvSpPr/>
          <p:nvPr/>
        </p:nvSpPr>
        <p:spPr>
          <a:xfrm>
            <a:off x="6171361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6" name="Google Shape;1856;p33"/>
          <p:cNvSpPr/>
          <p:nvPr/>
        </p:nvSpPr>
        <p:spPr>
          <a:xfrm>
            <a:off x="6303922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11월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7" name="Google Shape;1857;p33"/>
          <p:cNvSpPr/>
          <p:nvPr/>
        </p:nvSpPr>
        <p:spPr>
          <a:xfrm>
            <a:off x="6303922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수능(11/19) · 빼빼로데이 · 첫눈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8" name="Google Shape;1858;p33"/>
          <p:cNvSpPr/>
          <p:nvPr/>
        </p:nvSpPr>
        <p:spPr>
          <a:xfrm>
            <a:off x="6303922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응원 · 고백·선물 · 날씨 안부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9" name="Google Shape;1859;p33"/>
          <p:cNvSpPr/>
          <p:nvPr/>
        </p:nvSpPr>
        <p:spPr>
          <a:xfrm>
            <a:off x="8845562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0" name="Google Shape;1860;p33"/>
          <p:cNvSpPr/>
          <p:nvPr/>
        </p:nvSpPr>
        <p:spPr>
          <a:xfrm>
            <a:off x="8978123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12월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1" name="Google Shape;1861;p33"/>
          <p:cNvSpPr/>
          <p:nvPr/>
        </p:nvSpPr>
        <p:spPr>
          <a:xfrm>
            <a:off x="8978123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크리스마스 · 연말 감사 · 새해 인사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2" name="Google Shape;1862;p33"/>
          <p:cNvSpPr/>
          <p:nvPr/>
        </p:nvSpPr>
        <p:spPr>
          <a:xfrm>
            <a:off x="8978123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송년·감사 · 새해 복 · 설날 인사 예약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3" name="Google Shape;1863;p33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4" name="Google Shape;1864;p33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 전략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이용하여 전략적인 출시에 도전해 보세요.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5" name="Google Shape;1865;p33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870" name="Shape 1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1" name="Google Shape;1871;p34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72" name="Google Shape;1872;p34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73" name="Google Shape;1873;p34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핵심 내용 요약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4" name="Google Shape;1874;p34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5" name="Google Shape;1875;p34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요약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6" name="Google Shape;1876;p34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플레이북으로 안내해 드린 방법을 참고해 주세요.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77" name="Google Shape;1877;p34"/>
          <p:cNvCxnSpPr/>
          <p:nvPr/>
        </p:nvCxnSpPr>
        <p:spPr>
          <a:xfrm>
            <a:off x="1826006" y="2231136"/>
            <a:ext cx="8536939" cy="0"/>
          </a:xfrm>
          <a:prstGeom prst="straightConnector1">
            <a:avLst/>
          </a:prstGeom>
          <a:noFill/>
          <a:ln cap="flat" cmpd="sng" w="19050">
            <a:solidFill>
              <a:srgbClr val="C5D6C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78" name="Google Shape;1878;p34"/>
          <p:cNvSpPr/>
          <p:nvPr/>
        </p:nvSpPr>
        <p:spPr>
          <a:xfrm>
            <a:off x="174646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9" name="Google Shape;1879;p34"/>
          <p:cNvSpPr/>
          <p:nvPr/>
        </p:nvSpPr>
        <p:spPr>
          <a:xfrm>
            <a:off x="822960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0" name="Google Shape;1880;p34"/>
          <p:cNvSpPr/>
          <p:nvPr/>
        </p:nvSpPr>
        <p:spPr>
          <a:xfrm>
            <a:off x="955521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1" name="Google Shape;1881;p34"/>
          <p:cNvSpPr/>
          <p:nvPr/>
        </p:nvSpPr>
        <p:spPr>
          <a:xfrm>
            <a:off x="982033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2" name="Google Shape;1882;p34"/>
          <p:cNvSpPr/>
          <p:nvPr/>
        </p:nvSpPr>
        <p:spPr>
          <a:xfrm>
            <a:off x="145925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탐색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3" name="Google Shape;1883;p34"/>
          <p:cNvSpPr/>
          <p:nvPr/>
        </p:nvSpPr>
        <p:spPr>
          <a:xfrm>
            <a:off x="228113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884" name="Google Shape;1884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7834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885" name="Google Shape;1885;p34"/>
          <p:cNvSpPr/>
          <p:nvPr/>
        </p:nvSpPr>
        <p:spPr>
          <a:xfrm>
            <a:off x="955521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6" name="Google Shape;1886;p34"/>
          <p:cNvSpPr/>
          <p:nvPr/>
        </p:nvSpPr>
        <p:spPr>
          <a:xfrm>
            <a:off x="999708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매출 이모티콘 탐색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7" name="Google Shape;1887;p34"/>
          <p:cNvSpPr/>
          <p:nvPr/>
        </p:nvSpPr>
        <p:spPr>
          <a:xfrm>
            <a:off x="982033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탭과 테마 큐레이션으로 지금 </a:t>
            </a:r>
            <a:r>
              <a:rPr lang="en-US" sz="95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 내</a:t>
            </a: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인기 있는 </a:t>
            </a:r>
            <a:r>
              <a:rPr lang="en-US" sz="95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이모티콘을</a:t>
            </a: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확인해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8" name="Google Shape;1888;p34"/>
          <p:cNvSpPr/>
          <p:nvPr/>
        </p:nvSpPr>
        <p:spPr>
          <a:xfrm>
            <a:off x="955521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9" name="Google Shape;1889;p34"/>
          <p:cNvSpPr/>
          <p:nvPr/>
        </p:nvSpPr>
        <p:spPr>
          <a:xfrm>
            <a:off x="1061570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0" name="Google Shape;1890;p34"/>
          <p:cNvSpPr/>
          <p:nvPr/>
        </p:nvSpPr>
        <p:spPr>
          <a:xfrm>
            <a:off x="122948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탭 · 테마 큐레이션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1" name="Google Shape;1891;p34"/>
          <p:cNvSpPr/>
          <p:nvPr/>
        </p:nvSpPr>
        <p:spPr>
          <a:xfrm>
            <a:off x="955521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2" name="Google Shape;1892;p34"/>
          <p:cNvSpPr/>
          <p:nvPr/>
        </p:nvSpPr>
        <p:spPr>
          <a:xfrm>
            <a:off x="1061570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3" name="Google Shape;1893;p34"/>
          <p:cNvSpPr/>
          <p:nvPr/>
        </p:nvSpPr>
        <p:spPr>
          <a:xfrm>
            <a:off x="122948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 캘린더 역산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4" name="Google Shape;1894;p34"/>
          <p:cNvSpPr/>
          <p:nvPr/>
        </p:nvSpPr>
        <p:spPr>
          <a:xfrm>
            <a:off x="2846727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5" name="Google Shape;1895;p34"/>
          <p:cNvSpPr/>
          <p:nvPr/>
        </p:nvSpPr>
        <p:spPr>
          <a:xfrm>
            <a:off x="3880704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6" name="Google Shape;1896;p34"/>
          <p:cNvSpPr/>
          <p:nvPr/>
        </p:nvSpPr>
        <p:spPr>
          <a:xfrm>
            <a:off x="2957194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7" name="Google Shape;1897;p34"/>
          <p:cNvSpPr/>
          <p:nvPr/>
        </p:nvSpPr>
        <p:spPr>
          <a:xfrm>
            <a:off x="3089756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8" name="Google Shape;1898;p34"/>
          <p:cNvSpPr/>
          <p:nvPr/>
        </p:nvSpPr>
        <p:spPr>
          <a:xfrm>
            <a:off x="3116268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9" name="Google Shape;1899;p34"/>
          <p:cNvSpPr/>
          <p:nvPr/>
        </p:nvSpPr>
        <p:spPr>
          <a:xfrm>
            <a:off x="3593488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</a:t>
            </a:r>
            <a:br>
              <a:rPr b="1" lang="en-US" sz="11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lang="en-US" sz="11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</a:t>
            </a: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분석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0" name="Google Shape;1900;p34"/>
          <p:cNvSpPr/>
          <p:nvPr/>
        </p:nvSpPr>
        <p:spPr>
          <a:xfrm>
            <a:off x="4415367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901" name="Google Shape;1901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12579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902" name="Google Shape;1902;p34"/>
          <p:cNvSpPr/>
          <p:nvPr/>
        </p:nvSpPr>
        <p:spPr>
          <a:xfrm>
            <a:off x="3089756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3" name="Google Shape;1903;p34"/>
          <p:cNvSpPr/>
          <p:nvPr/>
        </p:nvSpPr>
        <p:spPr>
          <a:xfrm>
            <a:off x="3133943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lang="en-US" sz="1150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</a:t>
            </a: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 상세 분석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4" name="Google Shape;1904;p34"/>
          <p:cNvSpPr/>
          <p:nvPr/>
        </p:nvSpPr>
        <p:spPr>
          <a:xfrm>
            <a:off x="3116268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매출 상위 </a:t>
            </a:r>
            <a:r>
              <a:rPr lang="en-US" sz="95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이모티콘을</a:t>
            </a: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 분석하여 이모티콘 제작에 참고해 주세요.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5" name="Google Shape;1905;p34"/>
          <p:cNvSpPr/>
          <p:nvPr/>
        </p:nvSpPr>
        <p:spPr>
          <a:xfrm>
            <a:off x="3089756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6" name="Google Shape;1906;p34"/>
          <p:cNvSpPr/>
          <p:nvPr/>
        </p:nvSpPr>
        <p:spPr>
          <a:xfrm>
            <a:off x="3195805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7" name="Google Shape;1907;p34"/>
          <p:cNvSpPr/>
          <p:nvPr/>
        </p:nvSpPr>
        <p:spPr>
          <a:xfrm>
            <a:off x="3363715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유형별 매출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8" name="Google Shape;1908;p34"/>
          <p:cNvSpPr/>
          <p:nvPr/>
        </p:nvSpPr>
        <p:spPr>
          <a:xfrm>
            <a:off x="3089756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9" name="Google Shape;1909;p34"/>
          <p:cNvSpPr/>
          <p:nvPr/>
        </p:nvSpPr>
        <p:spPr>
          <a:xfrm>
            <a:off x="3195805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0" name="Google Shape;1910;p34"/>
          <p:cNvSpPr/>
          <p:nvPr/>
        </p:nvSpPr>
        <p:spPr>
          <a:xfrm>
            <a:off x="3363715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lang="en-US" sz="9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</a:t>
            </a: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속성별 데이터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1" name="Google Shape;1911;p34"/>
          <p:cNvSpPr/>
          <p:nvPr/>
        </p:nvSpPr>
        <p:spPr>
          <a:xfrm>
            <a:off x="4980962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2" name="Google Shape;1912;p34"/>
          <p:cNvSpPr/>
          <p:nvPr/>
        </p:nvSpPr>
        <p:spPr>
          <a:xfrm>
            <a:off x="601493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3" name="Google Shape;1913;p34"/>
          <p:cNvSpPr/>
          <p:nvPr/>
        </p:nvSpPr>
        <p:spPr>
          <a:xfrm>
            <a:off x="5091429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4" name="Google Shape;1914;p34"/>
          <p:cNvSpPr/>
          <p:nvPr/>
        </p:nvSpPr>
        <p:spPr>
          <a:xfrm>
            <a:off x="5223990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5" name="Google Shape;1915;p34"/>
          <p:cNvSpPr/>
          <p:nvPr/>
        </p:nvSpPr>
        <p:spPr>
          <a:xfrm>
            <a:off x="5250503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6" name="Google Shape;1916;p34"/>
          <p:cNvSpPr/>
          <p:nvPr/>
        </p:nvSpPr>
        <p:spPr>
          <a:xfrm>
            <a:off x="572772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주제 선정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7" name="Google Shape;1917;p34"/>
          <p:cNvSpPr/>
          <p:nvPr/>
        </p:nvSpPr>
        <p:spPr>
          <a:xfrm>
            <a:off x="654960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918" name="Google Shape;1918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64681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919" name="Google Shape;1919;p34"/>
          <p:cNvSpPr/>
          <p:nvPr/>
        </p:nvSpPr>
        <p:spPr>
          <a:xfrm>
            <a:off x="5223990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0" name="Google Shape;1920;p34"/>
          <p:cNvSpPr/>
          <p:nvPr/>
        </p:nvSpPr>
        <p:spPr>
          <a:xfrm>
            <a:off x="5268178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 주제 탐색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1" name="Google Shape;1921;p34"/>
          <p:cNvSpPr/>
          <p:nvPr/>
        </p:nvSpPr>
        <p:spPr>
          <a:xfrm>
            <a:off x="5250503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많이 사용하는 사용처의 트렌드를 참고하여 주제를 선정해 주세요.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2" name="Google Shape;1922;p34"/>
          <p:cNvSpPr/>
          <p:nvPr/>
        </p:nvSpPr>
        <p:spPr>
          <a:xfrm>
            <a:off x="5223990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3" name="Google Shape;1923;p34"/>
          <p:cNvSpPr/>
          <p:nvPr/>
        </p:nvSpPr>
        <p:spPr>
          <a:xfrm>
            <a:off x="5330039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4" name="Google Shape;1924;p34"/>
          <p:cNvSpPr/>
          <p:nvPr/>
        </p:nvSpPr>
        <p:spPr>
          <a:xfrm>
            <a:off x="549795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 메시지 트렌드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5" name="Google Shape;1925;p34"/>
          <p:cNvSpPr/>
          <p:nvPr/>
        </p:nvSpPr>
        <p:spPr>
          <a:xfrm>
            <a:off x="5223990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6" name="Google Shape;1926;p34"/>
          <p:cNvSpPr/>
          <p:nvPr/>
        </p:nvSpPr>
        <p:spPr>
          <a:xfrm>
            <a:off x="5330039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7" name="Google Shape;1927;p34"/>
          <p:cNvSpPr/>
          <p:nvPr/>
        </p:nvSpPr>
        <p:spPr>
          <a:xfrm>
            <a:off x="549795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메시지 트렌드에 따른 스티커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8" name="Google Shape;1928;p34"/>
          <p:cNvSpPr/>
          <p:nvPr/>
        </p:nvSpPr>
        <p:spPr>
          <a:xfrm>
            <a:off x="7115197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9" name="Google Shape;1929;p34"/>
          <p:cNvSpPr/>
          <p:nvPr/>
        </p:nvSpPr>
        <p:spPr>
          <a:xfrm>
            <a:off x="8149174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0" name="Google Shape;1930;p34"/>
          <p:cNvSpPr/>
          <p:nvPr/>
        </p:nvSpPr>
        <p:spPr>
          <a:xfrm>
            <a:off x="7225664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1" name="Google Shape;1931;p34"/>
          <p:cNvSpPr/>
          <p:nvPr/>
        </p:nvSpPr>
        <p:spPr>
          <a:xfrm>
            <a:off x="7358225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2" name="Google Shape;1932;p34"/>
          <p:cNvSpPr/>
          <p:nvPr/>
        </p:nvSpPr>
        <p:spPr>
          <a:xfrm>
            <a:off x="7384738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3" name="Google Shape;1933;p34"/>
          <p:cNvSpPr/>
          <p:nvPr/>
        </p:nvSpPr>
        <p:spPr>
          <a:xfrm>
            <a:off x="7861958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구성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4" name="Google Shape;1934;p34"/>
          <p:cNvSpPr/>
          <p:nvPr/>
        </p:nvSpPr>
        <p:spPr>
          <a:xfrm>
            <a:off x="8683837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935" name="Google Shape;1935;p3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781049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936" name="Google Shape;1936;p34"/>
          <p:cNvSpPr/>
          <p:nvPr/>
        </p:nvSpPr>
        <p:spPr>
          <a:xfrm>
            <a:off x="7358225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7" name="Google Shape;1937;p34"/>
          <p:cNvSpPr/>
          <p:nvPr/>
        </p:nvSpPr>
        <p:spPr>
          <a:xfrm>
            <a:off x="7402412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 환경과 구성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8" name="Google Shape;1938;p34"/>
          <p:cNvSpPr/>
          <p:nvPr/>
        </p:nvSpPr>
        <p:spPr>
          <a:xfrm>
            <a:off x="7384738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입장에서 어떤 용도로 어떻게 사용할지를 전략적으로 구상해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9" name="Google Shape;1939;p34"/>
          <p:cNvSpPr/>
          <p:nvPr/>
        </p:nvSpPr>
        <p:spPr>
          <a:xfrm>
            <a:off x="7358225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0" name="Google Shape;1940;p34"/>
          <p:cNvSpPr/>
          <p:nvPr/>
        </p:nvSpPr>
        <p:spPr>
          <a:xfrm>
            <a:off x="7464274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1" name="Google Shape;1941;p34"/>
          <p:cNvSpPr/>
          <p:nvPr/>
        </p:nvSpPr>
        <p:spPr>
          <a:xfrm>
            <a:off x="7632185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대화 흐름에 따른 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2" name="Google Shape;1942;p34"/>
          <p:cNvSpPr/>
          <p:nvPr/>
        </p:nvSpPr>
        <p:spPr>
          <a:xfrm>
            <a:off x="7358225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3" name="Google Shape;1943;p34"/>
          <p:cNvSpPr/>
          <p:nvPr/>
        </p:nvSpPr>
        <p:spPr>
          <a:xfrm>
            <a:off x="7464274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4" name="Google Shape;1944;p34"/>
          <p:cNvSpPr/>
          <p:nvPr/>
        </p:nvSpPr>
        <p:spPr>
          <a:xfrm>
            <a:off x="7632185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24칸 배치도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5" name="Google Shape;1945;p34"/>
          <p:cNvSpPr/>
          <p:nvPr/>
        </p:nvSpPr>
        <p:spPr>
          <a:xfrm>
            <a:off x="9249431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6" name="Google Shape;1946;p34"/>
          <p:cNvSpPr/>
          <p:nvPr/>
        </p:nvSpPr>
        <p:spPr>
          <a:xfrm>
            <a:off x="1028340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7" name="Google Shape;1947;p34"/>
          <p:cNvSpPr/>
          <p:nvPr/>
        </p:nvSpPr>
        <p:spPr>
          <a:xfrm>
            <a:off x="9359899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8" name="Google Shape;1948;p34"/>
          <p:cNvSpPr/>
          <p:nvPr/>
        </p:nvSpPr>
        <p:spPr>
          <a:xfrm>
            <a:off x="9492460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9" name="Google Shape;1949;p34"/>
          <p:cNvSpPr/>
          <p:nvPr/>
        </p:nvSpPr>
        <p:spPr>
          <a:xfrm>
            <a:off x="9518972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0" name="Google Shape;1950;p34"/>
          <p:cNvSpPr/>
          <p:nvPr/>
        </p:nvSpPr>
        <p:spPr>
          <a:xfrm>
            <a:off x="999619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1" name="Google Shape;1951;p34"/>
          <p:cNvSpPr/>
          <p:nvPr/>
        </p:nvSpPr>
        <p:spPr>
          <a:xfrm>
            <a:off x="1081807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952" name="Google Shape;1952;p3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91528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953" name="Google Shape;1953;p34"/>
          <p:cNvSpPr/>
          <p:nvPr/>
        </p:nvSpPr>
        <p:spPr>
          <a:xfrm>
            <a:off x="9492460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4" name="Google Shape;1954;p34"/>
          <p:cNvSpPr/>
          <p:nvPr/>
        </p:nvSpPr>
        <p:spPr>
          <a:xfrm>
            <a:off x="9536647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이용자 패턴과 시즌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5" name="Google Shape;1955;p34"/>
          <p:cNvSpPr/>
          <p:nvPr/>
        </p:nvSpPr>
        <p:spPr>
          <a:xfrm>
            <a:off x="9518972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이용하여 전략적인 출시에 도전해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6" name="Google Shape;1956;p34"/>
          <p:cNvSpPr/>
          <p:nvPr/>
        </p:nvSpPr>
        <p:spPr>
          <a:xfrm>
            <a:off x="9492460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7" name="Google Shape;1957;p34"/>
          <p:cNvSpPr/>
          <p:nvPr/>
        </p:nvSpPr>
        <p:spPr>
          <a:xfrm>
            <a:off x="9598509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8" name="Google Shape;1958;p34"/>
          <p:cNvSpPr/>
          <p:nvPr/>
        </p:nvSpPr>
        <p:spPr>
          <a:xfrm>
            <a:off x="976642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월별 매출 비율 · 시즌 성수기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9" name="Google Shape;1959;p34"/>
          <p:cNvSpPr/>
          <p:nvPr/>
        </p:nvSpPr>
        <p:spPr>
          <a:xfrm>
            <a:off x="9492460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0" name="Google Shape;1960;p34"/>
          <p:cNvSpPr/>
          <p:nvPr/>
        </p:nvSpPr>
        <p:spPr>
          <a:xfrm>
            <a:off x="9598509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1" name="Google Shape;1961;p34"/>
          <p:cNvSpPr/>
          <p:nvPr/>
        </p:nvSpPr>
        <p:spPr>
          <a:xfrm>
            <a:off x="976642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시즌별 캘린더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2" name="Google Shape;1962;p34"/>
          <p:cNvSpPr/>
          <p:nvPr/>
        </p:nvSpPr>
        <p:spPr>
          <a:xfrm>
            <a:off x="822960" y="5870448"/>
            <a:ext cx="10543032" cy="457200"/>
          </a:xfrm>
          <a:prstGeom prst="roundRect">
            <a:avLst>
              <a:gd fmla="val 16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3" name="Google Shape;1963;p34"/>
          <p:cNvSpPr/>
          <p:nvPr/>
        </p:nvSpPr>
        <p:spPr>
          <a:xfrm>
            <a:off x="999439" y="5870448"/>
            <a:ext cx="101626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 자료는 크리에이터 님들의 OGQ </a:t>
            </a:r>
            <a:r>
              <a:rPr b="1" lang="en-US" sz="105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제작에 참고가 되도록 데이터를 정리한 것입니다. 정답이 아닌 출발점이니, 나만의 스타일과 아이디어에 맞게 자유롭게 활용해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4" name="Google Shape;1964;p34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538"/>
        </a:solidFill>
      </p:bgPr>
    </p:bg>
    <p:spTree>
      <p:nvGrpSpPr>
        <p:cNvPr id="1969" name="Shape 1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0" name="Google Shape;1970;p35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1" name="Google Shape;1971;p35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cap="flat" cmpd="sng" w="12700">
            <a:solidFill>
              <a:srgbClr val="356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2" name="Google Shape;1972;p35"/>
          <p:cNvSpPr/>
          <p:nvPr/>
        </p:nvSpPr>
        <p:spPr>
          <a:xfrm flipH="1" rot="10800000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3" name="Google Shape;1973;p35"/>
          <p:cNvSpPr/>
          <p:nvPr/>
        </p:nvSpPr>
        <p:spPr>
          <a:xfrm>
            <a:off x="731520" y="640080"/>
            <a:ext cx="640080" cy="640080"/>
          </a:xfrm>
          <a:prstGeom prst="ellipse">
            <a:avLst/>
          </a:prstGeom>
          <a:noFill/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4" name="Google Shape;1974;p35"/>
          <p:cNvSpPr/>
          <p:nvPr/>
        </p:nvSpPr>
        <p:spPr>
          <a:xfrm>
            <a:off x="731520" y="64008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5" name="Google Shape;1975;p35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GUIDE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6" name="Google Shape;1976;p35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600"/>
              <a:buFont typeface="Malgun Gothic"/>
              <a:buNone/>
            </a:pPr>
            <a:r>
              <a:rPr b="0" i="0" lang="en-US" sz="160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 · 등록 · 심사 가이드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7" name="Google Shape;1977;p35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982" name="Shape 1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3" name="Google Shape;1983;p36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84" name="Google Shape;1984;p36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85" name="Google Shape;1985;p36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제작 가이드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6" name="Google Shape;1986;p36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7" name="Google Shape;1987;p36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규격만 지켜도 반려 사유의 상당수를 피할 수 있습니다.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8" name="Google Shape;1988;p36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업로드 전 파일 종류 · 크기 · 배경 처리를 한 번 더 확인해 주세요.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9" name="Google Shape;1989;p36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0" name="Google Shape;1990;p36"/>
          <p:cNvSpPr/>
          <p:nvPr/>
        </p:nvSpPr>
        <p:spPr>
          <a:xfrm>
            <a:off x="822960" y="2148840"/>
            <a:ext cx="5214072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1" name="Google Shape;1991;p36"/>
          <p:cNvSpPr/>
          <p:nvPr/>
        </p:nvSpPr>
        <p:spPr>
          <a:xfrm>
            <a:off x="822960" y="2148840"/>
            <a:ext cx="521407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파일 규격 · 종류 및 개수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2" name="Google Shape;1992;p36"/>
          <p:cNvSpPr/>
          <p:nvPr/>
        </p:nvSpPr>
        <p:spPr>
          <a:xfrm>
            <a:off x="822960" y="2560320"/>
            <a:ext cx="5214072" cy="914400"/>
          </a:xfrm>
          <a:prstGeom prst="roundRect">
            <a:avLst>
              <a:gd fmla="val 8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993" name="Google Shape;1993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9008" y="2651760"/>
            <a:ext cx="1272587" cy="706992"/>
          </a:xfrm>
          <a:prstGeom prst="rect">
            <a:avLst/>
          </a:prstGeom>
          <a:noFill/>
          <a:ln>
            <a:noFill/>
          </a:ln>
        </p:spPr>
      </p:pic>
      <p:sp>
        <p:nvSpPr>
          <p:cNvPr id="1994" name="Google Shape;1994;p36"/>
          <p:cNvSpPr/>
          <p:nvPr/>
        </p:nvSpPr>
        <p:spPr>
          <a:xfrm>
            <a:off x="2325319" y="2651760"/>
            <a:ext cx="159073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이미지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5" name="Google Shape;1995;p36"/>
          <p:cNvSpPr/>
          <p:nvPr/>
        </p:nvSpPr>
        <p:spPr>
          <a:xfrm>
            <a:off x="2325319" y="2889504"/>
            <a:ext cx="194423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1장 · PNG · 투명 배경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6" name="Google Shape;1996;p36"/>
          <p:cNvSpPr/>
          <p:nvPr/>
        </p:nvSpPr>
        <p:spPr>
          <a:xfrm>
            <a:off x="2325319" y="3108960"/>
            <a:ext cx="212097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마켓에서 보여질 대표 이미지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7" name="Google Shape;1997;p36"/>
          <p:cNvSpPr/>
          <p:nvPr/>
        </p:nvSpPr>
        <p:spPr>
          <a:xfrm>
            <a:off x="4446298" y="2816352"/>
            <a:ext cx="1458172" cy="402336"/>
          </a:xfrm>
          <a:prstGeom prst="roundRect">
            <a:avLst>
              <a:gd fmla="val 13636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8" name="Google Shape;1998;p36"/>
          <p:cNvSpPr/>
          <p:nvPr/>
        </p:nvSpPr>
        <p:spPr>
          <a:xfrm>
            <a:off x="4446298" y="2816352"/>
            <a:ext cx="145817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240 × 240 px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9" name="Google Shape;1999;p36"/>
          <p:cNvSpPr/>
          <p:nvPr/>
        </p:nvSpPr>
        <p:spPr>
          <a:xfrm>
            <a:off x="822960" y="3547872"/>
            <a:ext cx="5214072" cy="914400"/>
          </a:xfrm>
          <a:prstGeom prst="roundRect">
            <a:avLst>
              <a:gd fmla="val 8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000" name="Google Shape;2000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29008" y="3639312"/>
            <a:ext cx="1272587" cy="706992"/>
          </a:xfrm>
          <a:prstGeom prst="rect">
            <a:avLst/>
          </a:prstGeom>
          <a:noFill/>
          <a:ln>
            <a:noFill/>
          </a:ln>
        </p:spPr>
      </p:pic>
      <p:sp>
        <p:nvSpPr>
          <p:cNvPr id="2001" name="Google Shape;2001;p36"/>
          <p:cNvSpPr/>
          <p:nvPr/>
        </p:nvSpPr>
        <p:spPr>
          <a:xfrm>
            <a:off x="2325319" y="3639312"/>
            <a:ext cx="159073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이미지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2" name="Google Shape;2002;p36"/>
          <p:cNvSpPr/>
          <p:nvPr/>
        </p:nvSpPr>
        <p:spPr>
          <a:xfrm>
            <a:off x="2325319" y="3877056"/>
            <a:ext cx="194423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24장 · PNG · 투명 배경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3" name="Google Shape;2003;p36"/>
          <p:cNvSpPr/>
          <p:nvPr/>
        </p:nvSpPr>
        <p:spPr>
          <a:xfrm>
            <a:off x="2325319" y="4096512"/>
            <a:ext cx="212097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스티커(이모티콘) 이미지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4" name="Google Shape;2004;p36"/>
          <p:cNvSpPr/>
          <p:nvPr/>
        </p:nvSpPr>
        <p:spPr>
          <a:xfrm>
            <a:off x="4446298" y="3803904"/>
            <a:ext cx="1458172" cy="402336"/>
          </a:xfrm>
          <a:prstGeom prst="roundRect">
            <a:avLst>
              <a:gd fmla="val 13636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5" name="Google Shape;2005;p36"/>
          <p:cNvSpPr/>
          <p:nvPr/>
        </p:nvSpPr>
        <p:spPr>
          <a:xfrm>
            <a:off x="4446298" y="3803904"/>
            <a:ext cx="145817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740 × 640 px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6" name="Google Shape;2006;p36"/>
          <p:cNvSpPr/>
          <p:nvPr/>
        </p:nvSpPr>
        <p:spPr>
          <a:xfrm>
            <a:off x="822960" y="4535424"/>
            <a:ext cx="5214072" cy="914400"/>
          </a:xfrm>
          <a:prstGeom prst="roundRect">
            <a:avLst>
              <a:gd fmla="val 8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007" name="Google Shape;2007;p3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29008" y="4626864"/>
            <a:ext cx="1272587" cy="706992"/>
          </a:xfrm>
          <a:prstGeom prst="rect">
            <a:avLst/>
          </a:prstGeom>
          <a:noFill/>
          <a:ln>
            <a:noFill/>
          </a:ln>
        </p:spPr>
      </p:pic>
      <p:sp>
        <p:nvSpPr>
          <p:cNvPr id="2008" name="Google Shape;2008;p36"/>
          <p:cNvSpPr/>
          <p:nvPr/>
        </p:nvSpPr>
        <p:spPr>
          <a:xfrm>
            <a:off x="2325319" y="4626864"/>
            <a:ext cx="159073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탭 이미지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9" name="Google Shape;2009;p36"/>
          <p:cNvSpPr/>
          <p:nvPr/>
        </p:nvSpPr>
        <p:spPr>
          <a:xfrm>
            <a:off x="2325319" y="4864608"/>
            <a:ext cx="194423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1장 · PNG · 투명 배경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0" name="Google Shape;2010;p36"/>
          <p:cNvSpPr/>
          <p:nvPr/>
        </p:nvSpPr>
        <p:spPr>
          <a:xfrm>
            <a:off x="2325319" y="5084064"/>
            <a:ext cx="212097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선택 시 보여질 작은 이미지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1" name="Google Shape;2011;p36"/>
          <p:cNvSpPr/>
          <p:nvPr/>
        </p:nvSpPr>
        <p:spPr>
          <a:xfrm>
            <a:off x="4446298" y="4791456"/>
            <a:ext cx="1458172" cy="402336"/>
          </a:xfrm>
          <a:prstGeom prst="roundRect">
            <a:avLst>
              <a:gd fmla="val 13636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2" name="Google Shape;2012;p36"/>
          <p:cNvSpPr/>
          <p:nvPr/>
        </p:nvSpPr>
        <p:spPr>
          <a:xfrm>
            <a:off x="4446298" y="4791456"/>
            <a:ext cx="145817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96 × 74 px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3" name="Google Shape;2013;p36"/>
          <p:cNvSpPr/>
          <p:nvPr/>
        </p:nvSpPr>
        <p:spPr>
          <a:xfrm>
            <a:off x="822960" y="5532120"/>
            <a:ext cx="5214072" cy="347472"/>
          </a:xfrm>
          <a:prstGeom prst="roundRect">
            <a:avLst>
              <a:gd fmla="val 15789" name="adj"/>
            </a:avLst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4" name="Google Shape;2014;p36"/>
          <p:cNvSpPr/>
          <p:nvPr/>
        </p:nvSpPr>
        <p:spPr>
          <a:xfrm>
            <a:off x="955521" y="5532120"/>
            <a:ext cx="503732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공통 규격  </a:t>
            </a: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72dpi · RGB · 1MB 이하 · 24장 크기·비율·정렬 통일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5" name="Google Shape;2015;p36"/>
          <p:cNvSpPr/>
          <p:nvPr/>
        </p:nvSpPr>
        <p:spPr>
          <a:xfrm>
            <a:off x="6213781" y="2148840"/>
            <a:ext cx="5152210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6" name="Google Shape;2016;p36"/>
          <p:cNvSpPr/>
          <p:nvPr/>
        </p:nvSpPr>
        <p:spPr>
          <a:xfrm>
            <a:off x="6213781" y="2148840"/>
            <a:ext cx="515221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주의사항 — 놓치기 쉬운 4가지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7" name="Google Shape;2017;p36"/>
          <p:cNvSpPr/>
          <p:nvPr/>
        </p:nvSpPr>
        <p:spPr>
          <a:xfrm>
            <a:off x="6213781" y="2560320"/>
            <a:ext cx="2527499" cy="1627632"/>
          </a:xfrm>
          <a:prstGeom prst="roundRect">
            <a:avLst>
              <a:gd fmla="val 4494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8" name="Google Shape;2018;p36"/>
          <p:cNvSpPr/>
          <p:nvPr/>
        </p:nvSpPr>
        <p:spPr>
          <a:xfrm>
            <a:off x="6319829" y="2615184"/>
            <a:ext cx="2315401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투명 배경 적용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019" name="Google Shape;2019;p3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19829" y="2852928"/>
            <a:ext cx="2315401" cy="927928"/>
          </a:xfrm>
          <a:prstGeom prst="rect">
            <a:avLst/>
          </a:prstGeom>
          <a:noFill/>
          <a:ln>
            <a:noFill/>
          </a:ln>
        </p:spPr>
      </p:pic>
      <p:sp>
        <p:nvSpPr>
          <p:cNvPr id="2020" name="Google Shape;2020;p36"/>
          <p:cNvSpPr/>
          <p:nvPr/>
        </p:nvSpPr>
        <p:spPr>
          <a:xfrm>
            <a:off x="6319829" y="3822192"/>
            <a:ext cx="2315401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메인·탭·24장 모두 투명 PNG. 흰 배경은 반려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1" name="Google Shape;2021;p36"/>
          <p:cNvSpPr/>
          <p:nvPr/>
        </p:nvSpPr>
        <p:spPr>
          <a:xfrm>
            <a:off x="8838492" y="2560320"/>
            <a:ext cx="2527499" cy="1627632"/>
          </a:xfrm>
          <a:prstGeom prst="roundRect">
            <a:avLst>
              <a:gd fmla="val 4494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2" name="Google Shape;2022;p36"/>
          <p:cNvSpPr/>
          <p:nvPr/>
        </p:nvSpPr>
        <p:spPr>
          <a:xfrm>
            <a:off x="8944541" y="2615184"/>
            <a:ext cx="2315401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가독성 고려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023" name="Google Shape;2023;p3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944541" y="2852928"/>
            <a:ext cx="2315401" cy="927928"/>
          </a:xfrm>
          <a:prstGeom prst="rect">
            <a:avLst/>
          </a:prstGeom>
          <a:noFill/>
          <a:ln>
            <a:noFill/>
          </a:ln>
        </p:spPr>
      </p:pic>
      <p:sp>
        <p:nvSpPr>
          <p:cNvPr id="2024" name="Google Shape;2024;p36"/>
          <p:cNvSpPr/>
          <p:nvPr/>
        </p:nvSpPr>
        <p:spPr>
          <a:xfrm>
            <a:off x="8944541" y="3822192"/>
            <a:ext cx="2315401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텍스트는 크게·적게. 유료협찬 문구는 색상·크기 강조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5" name="Google Shape;2025;p36"/>
          <p:cNvSpPr/>
          <p:nvPr/>
        </p:nvSpPr>
        <p:spPr>
          <a:xfrm>
            <a:off x="6213781" y="4288536"/>
            <a:ext cx="2527499" cy="1627632"/>
          </a:xfrm>
          <a:prstGeom prst="roundRect">
            <a:avLst>
              <a:gd fmla="val 4494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6" name="Google Shape;2026;p36"/>
          <p:cNvSpPr/>
          <p:nvPr/>
        </p:nvSpPr>
        <p:spPr>
          <a:xfrm>
            <a:off x="6319829" y="4343400"/>
            <a:ext cx="2315401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다크모드 설정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027" name="Google Shape;2027;p3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319829" y="4581144"/>
            <a:ext cx="2315401" cy="927928"/>
          </a:xfrm>
          <a:prstGeom prst="rect">
            <a:avLst/>
          </a:prstGeom>
          <a:noFill/>
          <a:ln>
            <a:noFill/>
          </a:ln>
        </p:spPr>
      </p:pic>
      <p:sp>
        <p:nvSpPr>
          <p:cNvPr id="2028" name="Google Shape;2028;p36"/>
          <p:cNvSpPr/>
          <p:nvPr/>
        </p:nvSpPr>
        <p:spPr>
          <a:xfrm>
            <a:off x="6319829" y="5550408"/>
            <a:ext cx="2315401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흰색 테두리를 추가 </a:t>
            </a:r>
            <a:r>
              <a:rPr lang="en-US" sz="80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필수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9" name="Google Shape;2029;p36"/>
          <p:cNvSpPr/>
          <p:nvPr/>
        </p:nvSpPr>
        <p:spPr>
          <a:xfrm>
            <a:off x="8838492" y="4288536"/>
            <a:ext cx="2527499" cy="1627632"/>
          </a:xfrm>
          <a:prstGeom prst="roundRect">
            <a:avLst>
              <a:gd fmla="val 4494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0" name="Google Shape;2030;p36"/>
          <p:cNvSpPr/>
          <p:nvPr/>
        </p:nvSpPr>
        <p:spPr>
          <a:xfrm>
            <a:off x="8944541" y="4343400"/>
            <a:ext cx="2315401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태그 입력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031" name="Google Shape;2031;p3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944541" y="4581144"/>
            <a:ext cx="2315401" cy="728010"/>
          </a:xfrm>
          <a:prstGeom prst="rect">
            <a:avLst/>
          </a:prstGeom>
          <a:noFill/>
          <a:ln>
            <a:noFill/>
          </a:ln>
        </p:spPr>
      </p:pic>
      <p:sp>
        <p:nvSpPr>
          <p:cNvPr id="2032" name="Google Shape;2032;p36"/>
          <p:cNvSpPr/>
          <p:nvPr/>
        </p:nvSpPr>
        <p:spPr>
          <a:xfrm>
            <a:off x="8944541" y="5550408"/>
            <a:ext cx="2315401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명확한 명사로 3~20개 (강아지·고양이·구분선)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3" name="Google Shape;2033;p36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4" name="Google Shape;2034;p36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 가이드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정지형 스티커(이모티콘)는 PNG 24장 + 메인 1장 + 탭 1장 — 세 가지 모두 투명 배경</a:t>
            </a:r>
            <a:r>
              <a:rPr b="1" lang="en-US" sz="105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을 적용해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2039" name="Shape 2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0" name="Google Shape;2040;p37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41" name="Google Shape;2041;p37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42" name="Google Shape;2042;p37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애니메이션 스티커(이모티콘) 제작 가이드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3" name="Google Shape;2043;p37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4" name="Google Shape;2044;p37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움직이는 스티커(이모티콘)는 프레임 규칙이 하나 더 있습니다.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5" name="Google Shape;2045;p37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정지형 규격에 더해 프레임 수와 시작·마지막 프레임 일치를 확인해 주세요.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6" name="Google Shape;2046;p37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7" name="Google Shape;2047;p37"/>
          <p:cNvSpPr/>
          <p:nvPr/>
        </p:nvSpPr>
        <p:spPr>
          <a:xfrm>
            <a:off x="822960" y="2148840"/>
            <a:ext cx="5214072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8" name="Google Shape;2048;p37"/>
          <p:cNvSpPr/>
          <p:nvPr/>
        </p:nvSpPr>
        <p:spPr>
          <a:xfrm>
            <a:off x="822960" y="2148840"/>
            <a:ext cx="521407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파일 규격 · 종류 및 개수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9" name="Google Shape;2049;p37"/>
          <p:cNvSpPr/>
          <p:nvPr/>
        </p:nvSpPr>
        <p:spPr>
          <a:xfrm>
            <a:off x="822960" y="2560320"/>
            <a:ext cx="5214072" cy="914400"/>
          </a:xfrm>
          <a:prstGeom prst="roundRect">
            <a:avLst>
              <a:gd fmla="val 8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050" name="Google Shape;2050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9008" y="2651760"/>
            <a:ext cx="1272587" cy="706992"/>
          </a:xfrm>
          <a:prstGeom prst="rect">
            <a:avLst/>
          </a:prstGeom>
          <a:noFill/>
          <a:ln>
            <a:noFill/>
          </a:ln>
        </p:spPr>
      </p:pic>
      <p:sp>
        <p:nvSpPr>
          <p:cNvPr id="2051" name="Google Shape;2051;p37"/>
          <p:cNvSpPr/>
          <p:nvPr/>
        </p:nvSpPr>
        <p:spPr>
          <a:xfrm>
            <a:off x="2325319" y="2651760"/>
            <a:ext cx="159073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이미지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2" name="Google Shape;2052;p37"/>
          <p:cNvSpPr/>
          <p:nvPr/>
        </p:nvSpPr>
        <p:spPr>
          <a:xfrm>
            <a:off x="2325319" y="2889504"/>
            <a:ext cx="194423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1장 · PNG · 투명 배경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3" name="Google Shape;2053;p37"/>
          <p:cNvSpPr/>
          <p:nvPr/>
        </p:nvSpPr>
        <p:spPr>
          <a:xfrm>
            <a:off x="2325319" y="3108960"/>
            <a:ext cx="212097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마켓에서 보여질 대표 이미지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4" name="Google Shape;2054;p37"/>
          <p:cNvSpPr/>
          <p:nvPr/>
        </p:nvSpPr>
        <p:spPr>
          <a:xfrm>
            <a:off x="4446298" y="2816352"/>
            <a:ext cx="1458172" cy="402336"/>
          </a:xfrm>
          <a:prstGeom prst="roundRect">
            <a:avLst>
              <a:gd fmla="val 13636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5" name="Google Shape;2055;p37"/>
          <p:cNvSpPr/>
          <p:nvPr/>
        </p:nvSpPr>
        <p:spPr>
          <a:xfrm>
            <a:off x="4446298" y="2816352"/>
            <a:ext cx="145817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240 × 240 px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6" name="Google Shape;2056;p37"/>
          <p:cNvSpPr/>
          <p:nvPr/>
        </p:nvSpPr>
        <p:spPr>
          <a:xfrm>
            <a:off x="822960" y="3547872"/>
            <a:ext cx="5214072" cy="914400"/>
          </a:xfrm>
          <a:prstGeom prst="roundRect">
            <a:avLst>
              <a:gd fmla="val 8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057" name="Google Shape;2057;p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29008" y="3639312"/>
            <a:ext cx="1272587" cy="706992"/>
          </a:xfrm>
          <a:prstGeom prst="rect">
            <a:avLst/>
          </a:prstGeom>
          <a:noFill/>
          <a:ln>
            <a:noFill/>
          </a:ln>
        </p:spPr>
      </p:pic>
      <p:sp>
        <p:nvSpPr>
          <p:cNvPr id="2058" name="Google Shape;2058;p37"/>
          <p:cNvSpPr/>
          <p:nvPr/>
        </p:nvSpPr>
        <p:spPr>
          <a:xfrm>
            <a:off x="2325319" y="3639312"/>
            <a:ext cx="159073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이미지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9" name="Google Shape;2059;p37"/>
          <p:cNvSpPr/>
          <p:nvPr/>
        </p:nvSpPr>
        <p:spPr>
          <a:xfrm>
            <a:off x="2325319" y="3877056"/>
            <a:ext cx="194423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24장 · GIF · 투명 배경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0" name="Google Shape;2060;p37"/>
          <p:cNvSpPr/>
          <p:nvPr/>
        </p:nvSpPr>
        <p:spPr>
          <a:xfrm>
            <a:off x="2325319" y="4096512"/>
            <a:ext cx="212097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스티커(이모티콘) 애니메이션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1" name="Google Shape;2061;p37"/>
          <p:cNvSpPr/>
          <p:nvPr/>
        </p:nvSpPr>
        <p:spPr>
          <a:xfrm>
            <a:off x="4446298" y="3803904"/>
            <a:ext cx="1458172" cy="402336"/>
          </a:xfrm>
          <a:prstGeom prst="roundRect">
            <a:avLst>
              <a:gd fmla="val 13636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2" name="Google Shape;2062;p37"/>
          <p:cNvSpPr/>
          <p:nvPr/>
        </p:nvSpPr>
        <p:spPr>
          <a:xfrm>
            <a:off x="4446298" y="3803904"/>
            <a:ext cx="145817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740 × 640 px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3" name="Google Shape;2063;p37"/>
          <p:cNvSpPr/>
          <p:nvPr/>
        </p:nvSpPr>
        <p:spPr>
          <a:xfrm>
            <a:off x="822960" y="4535424"/>
            <a:ext cx="5214072" cy="914400"/>
          </a:xfrm>
          <a:prstGeom prst="roundRect">
            <a:avLst>
              <a:gd fmla="val 8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064" name="Google Shape;2064;p3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29008" y="4626864"/>
            <a:ext cx="1272587" cy="706992"/>
          </a:xfrm>
          <a:prstGeom prst="rect">
            <a:avLst/>
          </a:prstGeom>
          <a:noFill/>
          <a:ln>
            <a:noFill/>
          </a:ln>
        </p:spPr>
      </p:pic>
      <p:sp>
        <p:nvSpPr>
          <p:cNvPr id="2065" name="Google Shape;2065;p37"/>
          <p:cNvSpPr/>
          <p:nvPr/>
        </p:nvSpPr>
        <p:spPr>
          <a:xfrm>
            <a:off x="2325319" y="4626864"/>
            <a:ext cx="159073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탭 이미지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6" name="Google Shape;2066;p37"/>
          <p:cNvSpPr/>
          <p:nvPr/>
        </p:nvSpPr>
        <p:spPr>
          <a:xfrm>
            <a:off x="2325319" y="4864608"/>
            <a:ext cx="194423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1장 · PNG · 투명 배경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7" name="Google Shape;2067;p37"/>
          <p:cNvSpPr/>
          <p:nvPr/>
        </p:nvSpPr>
        <p:spPr>
          <a:xfrm>
            <a:off x="2325319" y="5084064"/>
            <a:ext cx="212097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선택 시 보여질 작은 이미지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8" name="Google Shape;2068;p37"/>
          <p:cNvSpPr/>
          <p:nvPr/>
        </p:nvSpPr>
        <p:spPr>
          <a:xfrm>
            <a:off x="4446298" y="4791456"/>
            <a:ext cx="1458172" cy="402336"/>
          </a:xfrm>
          <a:prstGeom prst="roundRect">
            <a:avLst>
              <a:gd fmla="val 13636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9" name="Google Shape;2069;p37"/>
          <p:cNvSpPr/>
          <p:nvPr/>
        </p:nvSpPr>
        <p:spPr>
          <a:xfrm>
            <a:off x="4446298" y="4791456"/>
            <a:ext cx="145817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96 × 74 px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0" name="Google Shape;2070;p37"/>
          <p:cNvSpPr/>
          <p:nvPr/>
        </p:nvSpPr>
        <p:spPr>
          <a:xfrm>
            <a:off x="822960" y="5532120"/>
            <a:ext cx="5214072" cy="347472"/>
          </a:xfrm>
          <a:prstGeom prst="roundRect">
            <a:avLst>
              <a:gd fmla="val 15789" name="adj"/>
            </a:avLst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1" name="Google Shape;2071;p37"/>
          <p:cNvSpPr/>
          <p:nvPr/>
        </p:nvSpPr>
        <p:spPr>
          <a:xfrm>
            <a:off x="955521" y="5532120"/>
            <a:ext cx="503732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공통 규격  </a:t>
            </a: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72dpi 이상 · RGB · 1MB 이하 · 프레임 수 각 100 이하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2" name="Google Shape;2072;p37"/>
          <p:cNvSpPr/>
          <p:nvPr/>
        </p:nvSpPr>
        <p:spPr>
          <a:xfrm>
            <a:off x="6213781" y="2148840"/>
            <a:ext cx="5152210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3" name="Google Shape;2073;p37"/>
          <p:cNvSpPr/>
          <p:nvPr/>
        </p:nvSpPr>
        <p:spPr>
          <a:xfrm>
            <a:off x="6213781" y="2148840"/>
            <a:ext cx="515221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애니메이션 스티커(이모티콘) 주의사항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074" name="Google Shape;2074;p3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13781" y="2560320"/>
            <a:ext cx="5152210" cy="1473112"/>
          </a:xfrm>
          <a:prstGeom prst="rect">
            <a:avLst/>
          </a:prstGeom>
          <a:noFill/>
          <a:ln>
            <a:noFill/>
          </a:ln>
        </p:spPr>
      </p:pic>
      <p:sp>
        <p:nvSpPr>
          <p:cNvPr id="2075" name="Google Shape;2075;p37"/>
          <p:cNvSpPr/>
          <p:nvPr/>
        </p:nvSpPr>
        <p:spPr>
          <a:xfrm>
            <a:off x="6213781" y="4194266"/>
            <a:ext cx="5152210" cy="366468"/>
          </a:xfrm>
          <a:prstGeom prst="roundRect">
            <a:avLst>
              <a:gd fmla="val 1497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6" name="Google Shape;2076;p37"/>
          <p:cNvSpPr/>
          <p:nvPr/>
        </p:nvSpPr>
        <p:spPr>
          <a:xfrm>
            <a:off x="6319829" y="4267772"/>
            <a:ext cx="212097" cy="21945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7" name="Google Shape;2077;p37"/>
          <p:cNvSpPr/>
          <p:nvPr/>
        </p:nvSpPr>
        <p:spPr>
          <a:xfrm>
            <a:off x="6319829" y="4267772"/>
            <a:ext cx="212097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8" name="Google Shape;2078;p37"/>
          <p:cNvSpPr/>
          <p:nvPr/>
        </p:nvSpPr>
        <p:spPr>
          <a:xfrm>
            <a:off x="6611464" y="4194266"/>
            <a:ext cx="4683828" cy="366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시작 = 마지막 프레임  </a:t>
            </a: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두 프레임이 다르면 마켓 상세 페이지에서 빈칸으로 보일 수 있음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9" name="Google Shape;2079;p37"/>
          <p:cNvSpPr/>
          <p:nvPr/>
        </p:nvSpPr>
        <p:spPr>
          <a:xfrm>
            <a:off x="6213781" y="4633885"/>
            <a:ext cx="5152210" cy="366468"/>
          </a:xfrm>
          <a:prstGeom prst="roundRect">
            <a:avLst>
              <a:gd fmla="val 1497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0" name="Google Shape;2080;p37"/>
          <p:cNvSpPr/>
          <p:nvPr/>
        </p:nvSpPr>
        <p:spPr>
          <a:xfrm>
            <a:off x="6319829" y="4707391"/>
            <a:ext cx="212097" cy="21945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1" name="Google Shape;2081;p37"/>
          <p:cNvSpPr/>
          <p:nvPr/>
        </p:nvSpPr>
        <p:spPr>
          <a:xfrm>
            <a:off x="6319829" y="4707391"/>
            <a:ext cx="212097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2" name="Google Shape;2082;p37"/>
          <p:cNvSpPr/>
          <p:nvPr/>
        </p:nvSpPr>
        <p:spPr>
          <a:xfrm>
            <a:off x="6611464" y="4633885"/>
            <a:ext cx="4683828" cy="366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매끄러운 움직임  </a:t>
            </a: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프레임이 튀거나 끊기면 반려. 루프 지점이 자연스러운지 확인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3" name="Google Shape;2083;p37"/>
          <p:cNvSpPr/>
          <p:nvPr/>
        </p:nvSpPr>
        <p:spPr>
          <a:xfrm>
            <a:off x="6213781" y="5073505"/>
            <a:ext cx="5152210" cy="366468"/>
          </a:xfrm>
          <a:prstGeom prst="roundRect">
            <a:avLst>
              <a:gd fmla="val 1497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4" name="Google Shape;2084;p37"/>
          <p:cNvSpPr/>
          <p:nvPr/>
        </p:nvSpPr>
        <p:spPr>
          <a:xfrm>
            <a:off x="6319829" y="5147011"/>
            <a:ext cx="212097" cy="21945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5" name="Google Shape;2085;p37"/>
          <p:cNvSpPr/>
          <p:nvPr/>
        </p:nvSpPr>
        <p:spPr>
          <a:xfrm>
            <a:off x="6319829" y="5147011"/>
            <a:ext cx="212097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6" name="Google Shape;2086;p37"/>
          <p:cNvSpPr/>
          <p:nvPr/>
        </p:nvSpPr>
        <p:spPr>
          <a:xfrm>
            <a:off x="6611464" y="5073505"/>
            <a:ext cx="4683828" cy="366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프레임 전반 통일  </a:t>
            </a: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텍스트·배경·오브젝트가 모든 프레임에서 동일하게 유지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7" name="Google Shape;2087;p37"/>
          <p:cNvSpPr/>
          <p:nvPr/>
        </p:nvSpPr>
        <p:spPr>
          <a:xfrm>
            <a:off x="6213781" y="5513124"/>
            <a:ext cx="5152210" cy="366468"/>
          </a:xfrm>
          <a:prstGeom prst="roundRect">
            <a:avLst>
              <a:gd fmla="val 1497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8" name="Google Shape;2088;p37"/>
          <p:cNvSpPr/>
          <p:nvPr/>
        </p:nvSpPr>
        <p:spPr>
          <a:xfrm>
            <a:off x="6319829" y="5586630"/>
            <a:ext cx="212097" cy="21945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9" name="Google Shape;2089;p37"/>
          <p:cNvSpPr/>
          <p:nvPr/>
        </p:nvSpPr>
        <p:spPr>
          <a:xfrm>
            <a:off x="6319829" y="5586630"/>
            <a:ext cx="212097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0" name="Google Shape;2090;p37"/>
          <p:cNvSpPr/>
          <p:nvPr/>
        </p:nvSpPr>
        <p:spPr>
          <a:xfrm>
            <a:off x="6611464" y="5513124"/>
            <a:ext cx="4683828" cy="366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채색·투명도  </a:t>
            </a: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일부 채색 누락이나 반투명 영역은 다크모드에서 색이 변해 반려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1" name="Google Shape;2091;p37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2" name="Google Shape;2092;p37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 가이드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GIF의 시작 프레임과 마지막 프레임이 반드시 동일</a:t>
            </a:r>
            <a:r>
              <a:rPr b="1" lang="en-US" sz="105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하게 제작해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2097" name="Shape 20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8" name="Google Shape;2098;p38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99" name="Google Shape;2099;p38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00" name="Google Shape;2100;p38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등록 가이드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1" name="Google Shape;2101;p38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2" name="Google Shape;2102;p38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제작이 끝났다면 OGQ 크리에이터 스튜디오에서 등록과 심사를 진행합니다.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3" name="Google Shape;2103;p38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등록 단계에서 입력하는 정보가 검색 노출과 심사 결과에 함께 영향을 줍니다.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4" name="Google Shape;2104;p38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5" name="Google Shape;2105;p38"/>
          <p:cNvSpPr/>
          <p:nvPr/>
        </p:nvSpPr>
        <p:spPr>
          <a:xfrm>
            <a:off x="822960" y="2148840"/>
            <a:ext cx="10543032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6" name="Google Shape;2106;p38"/>
          <p:cNvSpPr/>
          <p:nvPr/>
        </p:nvSpPr>
        <p:spPr>
          <a:xfrm>
            <a:off x="822960" y="2148840"/>
            <a:ext cx="1054303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등록 절차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7" name="Google Shape;2107;p38"/>
          <p:cNvSpPr/>
          <p:nvPr/>
        </p:nvSpPr>
        <p:spPr>
          <a:xfrm>
            <a:off x="822960" y="2606040"/>
            <a:ext cx="1988417" cy="1554480"/>
          </a:xfrm>
          <a:prstGeom prst="roundRect">
            <a:avLst>
              <a:gd fmla="val 58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8" name="Google Shape;2108;p38"/>
          <p:cNvSpPr/>
          <p:nvPr/>
        </p:nvSpPr>
        <p:spPr>
          <a:xfrm>
            <a:off x="955521" y="2743200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9" name="Google Shape;2109;p38"/>
          <p:cNvSpPr/>
          <p:nvPr/>
        </p:nvSpPr>
        <p:spPr>
          <a:xfrm>
            <a:off x="955521" y="2743200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0" name="Google Shape;2110;p38"/>
          <p:cNvSpPr/>
          <p:nvPr/>
        </p:nvSpPr>
        <p:spPr>
          <a:xfrm>
            <a:off x="955521" y="3264408"/>
            <a:ext cx="1723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크리에이터 가입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1" name="Google Shape;2111;p38"/>
          <p:cNvSpPr/>
          <p:nvPr/>
        </p:nvSpPr>
        <p:spPr>
          <a:xfrm>
            <a:off x="955521" y="3538728"/>
            <a:ext cx="17232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크리에이터 스튜디오에 가입하고 정산 정보를 등록합니다.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2" name="Google Shape;2112;p38"/>
          <p:cNvSpPr/>
          <p:nvPr/>
        </p:nvSpPr>
        <p:spPr>
          <a:xfrm>
            <a:off x="2837889" y="3319272"/>
            <a:ext cx="97211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3" name="Google Shape;2113;p38"/>
          <p:cNvSpPr/>
          <p:nvPr/>
        </p:nvSpPr>
        <p:spPr>
          <a:xfrm>
            <a:off x="2961613" y="2606040"/>
            <a:ext cx="1988417" cy="1554480"/>
          </a:xfrm>
          <a:prstGeom prst="roundRect">
            <a:avLst>
              <a:gd fmla="val 58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4" name="Google Shape;2114;p38"/>
          <p:cNvSpPr/>
          <p:nvPr/>
        </p:nvSpPr>
        <p:spPr>
          <a:xfrm>
            <a:off x="3094174" y="2743200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5" name="Google Shape;2115;p38"/>
          <p:cNvSpPr/>
          <p:nvPr/>
        </p:nvSpPr>
        <p:spPr>
          <a:xfrm>
            <a:off x="3094174" y="2743200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6" name="Google Shape;2116;p38"/>
          <p:cNvSpPr/>
          <p:nvPr/>
        </p:nvSpPr>
        <p:spPr>
          <a:xfrm>
            <a:off x="3094174" y="3264408"/>
            <a:ext cx="1723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등록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7" name="Google Shape;2117;p38"/>
          <p:cNvSpPr/>
          <p:nvPr/>
        </p:nvSpPr>
        <p:spPr>
          <a:xfrm>
            <a:off x="3094174" y="3538728"/>
            <a:ext cx="17232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1장 · 스티커(이모티콘) 24장 · 탭 1장을 규격에 맞춰 올립니다.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8" name="Google Shape;2118;p38"/>
          <p:cNvSpPr/>
          <p:nvPr/>
        </p:nvSpPr>
        <p:spPr>
          <a:xfrm>
            <a:off x="4976543" y="3319272"/>
            <a:ext cx="97211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9" name="Google Shape;2119;p38"/>
          <p:cNvSpPr/>
          <p:nvPr/>
        </p:nvSpPr>
        <p:spPr>
          <a:xfrm>
            <a:off x="5100267" y="2606040"/>
            <a:ext cx="1988417" cy="1554480"/>
          </a:xfrm>
          <a:prstGeom prst="roundRect">
            <a:avLst>
              <a:gd fmla="val 58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0" name="Google Shape;2120;p38"/>
          <p:cNvSpPr/>
          <p:nvPr/>
        </p:nvSpPr>
        <p:spPr>
          <a:xfrm>
            <a:off x="5232828" y="2743200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1" name="Google Shape;2121;p38"/>
          <p:cNvSpPr/>
          <p:nvPr/>
        </p:nvSpPr>
        <p:spPr>
          <a:xfrm>
            <a:off x="5232828" y="2743200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2" name="Google Shape;2122;p38"/>
          <p:cNvSpPr/>
          <p:nvPr/>
        </p:nvSpPr>
        <p:spPr>
          <a:xfrm>
            <a:off x="5232828" y="3264408"/>
            <a:ext cx="1723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정보 입력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3" name="Google Shape;2123;p38"/>
          <p:cNvSpPr/>
          <p:nvPr/>
        </p:nvSpPr>
        <p:spPr>
          <a:xfrm>
            <a:off x="5232828" y="3538728"/>
            <a:ext cx="17232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제목 · 설명 · 태그 입력. AI 사용 여부를 체크합니다.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4" name="Google Shape;2124;p38"/>
          <p:cNvSpPr/>
          <p:nvPr/>
        </p:nvSpPr>
        <p:spPr>
          <a:xfrm>
            <a:off x="7115197" y="3319272"/>
            <a:ext cx="97211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5" name="Google Shape;2125;p38"/>
          <p:cNvSpPr/>
          <p:nvPr/>
        </p:nvSpPr>
        <p:spPr>
          <a:xfrm>
            <a:off x="7238920" y="2606040"/>
            <a:ext cx="1988417" cy="1554480"/>
          </a:xfrm>
          <a:prstGeom prst="roundRect">
            <a:avLst>
              <a:gd fmla="val 58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6" name="Google Shape;2126;p38"/>
          <p:cNvSpPr/>
          <p:nvPr/>
        </p:nvSpPr>
        <p:spPr>
          <a:xfrm>
            <a:off x="7371481" y="2743200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7" name="Google Shape;2127;p38"/>
          <p:cNvSpPr/>
          <p:nvPr/>
        </p:nvSpPr>
        <p:spPr>
          <a:xfrm>
            <a:off x="7371481" y="2743200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8" name="Google Shape;2128;p38"/>
          <p:cNvSpPr/>
          <p:nvPr/>
        </p:nvSpPr>
        <p:spPr>
          <a:xfrm>
            <a:off x="7371481" y="3264408"/>
            <a:ext cx="1723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심사 요청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9" name="Google Shape;2129;p38"/>
          <p:cNvSpPr/>
          <p:nvPr/>
        </p:nvSpPr>
        <p:spPr>
          <a:xfrm>
            <a:off x="7371481" y="3538728"/>
            <a:ext cx="17232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제출하면 심사가 시작되고, 결과는 OGQ 크리에이터 스튜디오와 이메일로 안내됩니다.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0" name="Google Shape;2130;p38"/>
          <p:cNvSpPr/>
          <p:nvPr/>
        </p:nvSpPr>
        <p:spPr>
          <a:xfrm>
            <a:off x="9253850" y="3319272"/>
            <a:ext cx="97211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1" name="Google Shape;2131;p38"/>
          <p:cNvSpPr/>
          <p:nvPr/>
        </p:nvSpPr>
        <p:spPr>
          <a:xfrm>
            <a:off x="9377574" y="2606040"/>
            <a:ext cx="1988417" cy="1554480"/>
          </a:xfrm>
          <a:prstGeom prst="roundRect">
            <a:avLst>
              <a:gd fmla="val 58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2" name="Google Shape;2132;p38"/>
          <p:cNvSpPr/>
          <p:nvPr/>
        </p:nvSpPr>
        <p:spPr>
          <a:xfrm>
            <a:off x="9510135" y="2743200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3" name="Google Shape;2133;p38"/>
          <p:cNvSpPr/>
          <p:nvPr/>
        </p:nvSpPr>
        <p:spPr>
          <a:xfrm>
            <a:off x="9510135" y="2743200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4" name="Google Shape;2134;p38"/>
          <p:cNvSpPr/>
          <p:nvPr/>
        </p:nvSpPr>
        <p:spPr>
          <a:xfrm>
            <a:off x="9510135" y="3264408"/>
            <a:ext cx="1723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승인 후 판매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5" name="Google Shape;2135;p38"/>
          <p:cNvSpPr/>
          <p:nvPr/>
        </p:nvSpPr>
        <p:spPr>
          <a:xfrm>
            <a:off x="9510135" y="3538728"/>
            <a:ext cx="17232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승인된 콘텐츠가 마켓에 노출되고 판매가 시작됩니다.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6" name="Google Shape;2136;p38"/>
          <p:cNvSpPr/>
          <p:nvPr/>
        </p:nvSpPr>
        <p:spPr>
          <a:xfrm>
            <a:off x="822960" y="4439631"/>
            <a:ext cx="10542900" cy="329100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7" name="Google Shape;2137;p38"/>
          <p:cNvSpPr/>
          <p:nvPr/>
        </p:nvSpPr>
        <p:spPr>
          <a:xfrm>
            <a:off x="822960" y="4439631"/>
            <a:ext cx="10542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등록 단계에서 자주 놓치는 것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8" name="Google Shape;2138;p38"/>
          <p:cNvSpPr/>
          <p:nvPr/>
        </p:nvSpPr>
        <p:spPr>
          <a:xfrm>
            <a:off x="822960" y="4823679"/>
            <a:ext cx="3446700" cy="658368"/>
          </a:xfrm>
          <a:prstGeom prst="roundRect">
            <a:avLst>
              <a:gd fmla="val 14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9" name="Google Shape;2139;p38"/>
          <p:cNvSpPr/>
          <p:nvPr/>
        </p:nvSpPr>
        <p:spPr>
          <a:xfrm>
            <a:off x="929008" y="4942551"/>
            <a:ext cx="265200" cy="274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0" name="Google Shape;2140;p38"/>
          <p:cNvSpPr/>
          <p:nvPr/>
        </p:nvSpPr>
        <p:spPr>
          <a:xfrm>
            <a:off x="929008" y="4942551"/>
            <a:ext cx="265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1" name="Google Shape;2141;p38"/>
          <p:cNvSpPr/>
          <p:nvPr/>
        </p:nvSpPr>
        <p:spPr>
          <a:xfrm>
            <a:off x="1282505" y="4869399"/>
            <a:ext cx="2898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태그는 명확한 명사로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2" name="Google Shape;2142;p38"/>
          <p:cNvSpPr/>
          <p:nvPr/>
        </p:nvSpPr>
        <p:spPr>
          <a:xfrm>
            <a:off x="1282505" y="5070567"/>
            <a:ext cx="28986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‘강아지 · 구분선’처럼 입력. 문장형 태그는 검색에 잡히지 않음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3" name="Google Shape;2143;p38"/>
          <p:cNvSpPr/>
          <p:nvPr/>
        </p:nvSpPr>
        <p:spPr>
          <a:xfrm>
            <a:off x="4371180" y="4823679"/>
            <a:ext cx="3446700" cy="658368"/>
          </a:xfrm>
          <a:prstGeom prst="roundRect">
            <a:avLst>
              <a:gd fmla="val 14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4" name="Google Shape;2144;p38"/>
          <p:cNvSpPr/>
          <p:nvPr/>
        </p:nvSpPr>
        <p:spPr>
          <a:xfrm>
            <a:off x="4477229" y="4942551"/>
            <a:ext cx="265200" cy="274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5" name="Google Shape;2145;p38"/>
          <p:cNvSpPr/>
          <p:nvPr/>
        </p:nvSpPr>
        <p:spPr>
          <a:xfrm>
            <a:off x="4477229" y="4942551"/>
            <a:ext cx="265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6" name="Google Shape;2146;p38"/>
          <p:cNvSpPr/>
          <p:nvPr/>
        </p:nvSpPr>
        <p:spPr>
          <a:xfrm>
            <a:off x="4830726" y="4869399"/>
            <a:ext cx="2898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제목과 24종 내용 일치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7" name="Google Shape;2147;p38"/>
          <p:cNvSpPr/>
          <p:nvPr/>
        </p:nvSpPr>
        <p:spPr>
          <a:xfrm>
            <a:off x="4830726" y="5070567"/>
            <a:ext cx="28986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제목과 다른 소재가 섞이거나 1장만 디자인이 다르면 반려될 수 있음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8" name="Google Shape;2148;p38"/>
          <p:cNvSpPr/>
          <p:nvPr/>
        </p:nvSpPr>
        <p:spPr>
          <a:xfrm>
            <a:off x="7919401" y="4823679"/>
            <a:ext cx="3446700" cy="658368"/>
          </a:xfrm>
          <a:prstGeom prst="roundRect">
            <a:avLst>
              <a:gd fmla="val 14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9" name="Google Shape;2149;p38"/>
          <p:cNvSpPr/>
          <p:nvPr/>
        </p:nvSpPr>
        <p:spPr>
          <a:xfrm>
            <a:off x="8025450" y="4942551"/>
            <a:ext cx="265200" cy="274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0" name="Google Shape;2150;p38"/>
          <p:cNvSpPr/>
          <p:nvPr/>
        </p:nvSpPr>
        <p:spPr>
          <a:xfrm>
            <a:off x="8025450" y="4942551"/>
            <a:ext cx="265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1" name="Google Shape;2151;p38"/>
          <p:cNvSpPr/>
          <p:nvPr/>
        </p:nvSpPr>
        <p:spPr>
          <a:xfrm>
            <a:off x="8378946" y="4869399"/>
            <a:ext cx="2898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중복 업로드 금지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2" name="Google Shape;2152;p38"/>
          <p:cNvSpPr/>
          <p:nvPr/>
        </p:nvSpPr>
        <p:spPr>
          <a:xfrm>
            <a:off x="8378946" y="5070567"/>
            <a:ext cx="28986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같은 콘텐츠를 두 번 올리거나 마켓에 이미 있는 콘텐츠와 동일하면 반려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3" name="Google Shape;2153;p38"/>
          <p:cNvSpPr/>
          <p:nvPr/>
        </p:nvSpPr>
        <p:spPr>
          <a:xfrm>
            <a:off x="822960" y="5961979"/>
            <a:ext cx="10543032" cy="36570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4" name="Google Shape;2154;p38"/>
          <p:cNvSpPr/>
          <p:nvPr/>
        </p:nvSpPr>
        <p:spPr>
          <a:xfrm>
            <a:off x="999439" y="5961979"/>
            <a:ext cx="10162642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등록 가이드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· 탭 이미지의 투명 배경과 AI 사용 여부 체크는 제출 직전에 한 번 더 확인해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2159" name="Shape 2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0" name="Google Shape;2160;p39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61" name="Google Shape;2161;p39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62" name="Google Shape;2162;p39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lang="en-US" sz="2600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</a:t>
            </a: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 심사 반려 현황 — 반려 사유 TOP 3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3" name="Google Shape;2163;p39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4" name="Google Shape;2164;p39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반려의 62.5%는 ‘내부 심사 규정’, 그다음은 ‘다크모드’와 ‘중복 콘텐츠’입니다.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5" name="Google Shape;2165;p39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2026년 6월 기준의 OGQ 크리에이터 스튜디오 반려 데이터입니다.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6" name="Google Shape;2166;p39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7" name="Google Shape;2167;p39"/>
          <p:cNvSpPr/>
          <p:nvPr/>
        </p:nvSpPr>
        <p:spPr>
          <a:xfrm>
            <a:off x="822960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8" name="Google Shape;2168;p39"/>
          <p:cNvSpPr/>
          <p:nvPr/>
        </p:nvSpPr>
        <p:spPr>
          <a:xfrm>
            <a:off x="822960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62.5%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9" name="Google Shape;2169;p39"/>
          <p:cNvSpPr/>
          <p:nvPr/>
        </p:nvSpPr>
        <p:spPr>
          <a:xfrm>
            <a:off x="822960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내부 심사 규정 — 완성도·표현 중복·컨셉 일관성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0" name="Google Shape;2170;p39"/>
          <p:cNvSpPr/>
          <p:nvPr/>
        </p:nvSpPr>
        <p:spPr>
          <a:xfrm>
            <a:off x="3498494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1" name="Google Shape;2171;p39"/>
          <p:cNvSpPr/>
          <p:nvPr/>
        </p:nvSpPr>
        <p:spPr>
          <a:xfrm>
            <a:off x="3498494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10.5%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2" name="Google Shape;2172;p39"/>
          <p:cNvSpPr/>
          <p:nvPr/>
        </p:nvSpPr>
        <p:spPr>
          <a:xfrm>
            <a:off x="3498494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다크모드 대응 — 흰 테두리 누락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3" name="Google Shape;2173;p39"/>
          <p:cNvSpPr/>
          <p:nvPr/>
        </p:nvSpPr>
        <p:spPr>
          <a:xfrm>
            <a:off x="6174029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4" name="Google Shape;2174;p39"/>
          <p:cNvSpPr/>
          <p:nvPr/>
        </p:nvSpPr>
        <p:spPr>
          <a:xfrm>
            <a:off x="6174029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6.5%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5" name="Google Shape;2175;p39"/>
          <p:cNvSpPr/>
          <p:nvPr/>
        </p:nvSpPr>
        <p:spPr>
          <a:xfrm>
            <a:off x="6174029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중복 콘텐츠 — 중복 업로드·마켓 내 동일·세트 내 유사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6" name="Google Shape;2176;p39"/>
          <p:cNvSpPr/>
          <p:nvPr/>
        </p:nvSpPr>
        <p:spPr>
          <a:xfrm>
            <a:off x="8849563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7" name="Google Shape;2177;p39"/>
          <p:cNvSpPr/>
          <p:nvPr/>
        </p:nvSpPr>
        <p:spPr>
          <a:xfrm>
            <a:off x="8849563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5.2%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8" name="Google Shape;2178;p39"/>
          <p:cNvSpPr/>
          <p:nvPr/>
        </p:nvSpPr>
        <p:spPr>
          <a:xfrm>
            <a:off x="8849563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사진·화질 — 노이즈·저해상도 탭·초점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9" name="Google Shape;2179;p39"/>
          <p:cNvSpPr/>
          <p:nvPr/>
        </p:nvSpPr>
        <p:spPr>
          <a:xfrm>
            <a:off x="822960" y="3108960"/>
            <a:ext cx="4948950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0" name="Google Shape;2180;p39"/>
          <p:cNvSpPr/>
          <p:nvPr/>
        </p:nvSpPr>
        <p:spPr>
          <a:xfrm>
            <a:off x="822960" y="3108960"/>
            <a:ext cx="494895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 사유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1" name="Google Shape;2181;p39"/>
          <p:cNvSpPr/>
          <p:nvPr/>
        </p:nvSpPr>
        <p:spPr>
          <a:xfrm>
            <a:off x="822960" y="3529584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내부 심사 규정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2" name="Google Shape;2182;p39"/>
          <p:cNvSpPr/>
          <p:nvPr/>
        </p:nvSpPr>
        <p:spPr>
          <a:xfrm>
            <a:off x="2192758" y="3529584"/>
            <a:ext cx="3004719" cy="16459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3" name="Google Shape;2183;p39"/>
          <p:cNvSpPr/>
          <p:nvPr/>
        </p:nvSpPr>
        <p:spPr>
          <a:xfrm>
            <a:off x="5232828" y="3529584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62.5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4" name="Google Shape;2184;p39"/>
          <p:cNvSpPr/>
          <p:nvPr/>
        </p:nvSpPr>
        <p:spPr>
          <a:xfrm>
            <a:off x="822960" y="3744468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다크모드 대응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5" name="Google Shape;2185;p39"/>
          <p:cNvSpPr/>
          <p:nvPr/>
        </p:nvSpPr>
        <p:spPr>
          <a:xfrm>
            <a:off x="2192758" y="3744468"/>
            <a:ext cx="504792" cy="16459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6" name="Google Shape;2186;p39"/>
          <p:cNvSpPr/>
          <p:nvPr/>
        </p:nvSpPr>
        <p:spPr>
          <a:xfrm>
            <a:off x="2732901" y="3744468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10.5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7" name="Google Shape;2187;p39"/>
          <p:cNvSpPr/>
          <p:nvPr/>
        </p:nvSpPr>
        <p:spPr>
          <a:xfrm>
            <a:off x="822960" y="3959352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중복 콘텐츠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8" name="Google Shape;2188;p39"/>
          <p:cNvSpPr/>
          <p:nvPr/>
        </p:nvSpPr>
        <p:spPr>
          <a:xfrm>
            <a:off x="2192758" y="3959352"/>
            <a:ext cx="312491" cy="16459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9" name="Google Shape;2189;p39"/>
          <p:cNvSpPr/>
          <p:nvPr/>
        </p:nvSpPr>
        <p:spPr>
          <a:xfrm>
            <a:off x="2540599" y="3959352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6.5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0" name="Google Shape;2190;p39"/>
          <p:cNvSpPr/>
          <p:nvPr/>
        </p:nvSpPr>
        <p:spPr>
          <a:xfrm>
            <a:off x="822960" y="4174236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사진·화질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1" name="Google Shape;2191;p39"/>
          <p:cNvSpPr/>
          <p:nvPr/>
        </p:nvSpPr>
        <p:spPr>
          <a:xfrm>
            <a:off x="2192758" y="4174236"/>
            <a:ext cx="249992" cy="164592"/>
          </a:xfrm>
          <a:prstGeom prst="rect">
            <a:avLst/>
          </a:prstGeom>
          <a:solidFill>
            <a:srgbClr val="9DB89B"/>
          </a:solidFill>
          <a:ln cap="flat" cmpd="sng" w="12700">
            <a:solidFill>
              <a:srgbClr val="9DB8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2" name="Google Shape;2192;p39"/>
          <p:cNvSpPr/>
          <p:nvPr/>
        </p:nvSpPr>
        <p:spPr>
          <a:xfrm>
            <a:off x="2478100" y="4174236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3" name="Google Shape;2193;p39"/>
          <p:cNvSpPr/>
          <p:nvPr/>
        </p:nvSpPr>
        <p:spPr>
          <a:xfrm>
            <a:off x="822960" y="4389120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투명 배경(PNG)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4" name="Google Shape;2194;p39"/>
          <p:cNvSpPr/>
          <p:nvPr/>
        </p:nvSpPr>
        <p:spPr>
          <a:xfrm>
            <a:off x="2192758" y="4389120"/>
            <a:ext cx="182687" cy="164592"/>
          </a:xfrm>
          <a:prstGeom prst="rect">
            <a:avLst/>
          </a:prstGeom>
          <a:solidFill>
            <a:srgbClr val="9DB89B"/>
          </a:solidFill>
          <a:ln cap="flat" cmpd="sng" w="12700">
            <a:solidFill>
              <a:srgbClr val="9DB8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5" name="Google Shape;2195;p39"/>
          <p:cNvSpPr/>
          <p:nvPr/>
        </p:nvSpPr>
        <p:spPr>
          <a:xfrm>
            <a:off x="2410795" y="4389120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3.8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6" name="Google Shape;2196;p39"/>
          <p:cNvSpPr/>
          <p:nvPr/>
        </p:nvSpPr>
        <p:spPr>
          <a:xfrm>
            <a:off x="822960" y="4604004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 가독성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7" name="Google Shape;2197;p39"/>
          <p:cNvSpPr/>
          <p:nvPr/>
        </p:nvSpPr>
        <p:spPr>
          <a:xfrm>
            <a:off x="2192758" y="4604004"/>
            <a:ext cx="153841" cy="164592"/>
          </a:xfrm>
          <a:prstGeom prst="rect">
            <a:avLst/>
          </a:prstGeom>
          <a:solidFill>
            <a:srgbClr val="9DB89B"/>
          </a:solidFill>
          <a:ln cap="flat" cmpd="sng" w="12700">
            <a:solidFill>
              <a:srgbClr val="9DB8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8" name="Google Shape;2198;p39"/>
          <p:cNvSpPr/>
          <p:nvPr/>
        </p:nvSpPr>
        <p:spPr>
          <a:xfrm>
            <a:off x="2381950" y="4604004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9" name="Google Shape;2199;p39"/>
          <p:cNvSpPr/>
          <p:nvPr/>
        </p:nvSpPr>
        <p:spPr>
          <a:xfrm>
            <a:off x="822960" y="4818888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크기·정렬 통일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0" name="Google Shape;2200;p39"/>
          <p:cNvSpPr/>
          <p:nvPr/>
        </p:nvSpPr>
        <p:spPr>
          <a:xfrm>
            <a:off x="2192758" y="4818888"/>
            <a:ext cx="91343" cy="164592"/>
          </a:xfrm>
          <a:prstGeom prst="rect">
            <a:avLst/>
          </a:prstGeom>
          <a:solidFill>
            <a:srgbClr val="9DB89B"/>
          </a:solidFill>
          <a:ln cap="flat" cmpd="sng" w="12700">
            <a:solidFill>
              <a:srgbClr val="9DB8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1" name="Google Shape;2201;p39"/>
          <p:cNvSpPr/>
          <p:nvPr/>
        </p:nvSpPr>
        <p:spPr>
          <a:xfrm>
            <a:off x="2319451" y="4818888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1.9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2" name="Google Shape;2202;p39"/>
          <p:cNvSpPr/>
          <p:nvPr/>
        </p:nvSpPr>
        <p:spPr>
          <a:xfrm>
            <a:off x="822960" y="5033772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저작권·권리 침해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3" name="Google Shape;2203;p39"/>
          <p:cNvSpPr/>
          <p:nvPr/>
        </p:nvSpPr>
        <p:spPr>
          <a:xfrm>
            <a:off x="2192758" y="5033772"/>
            <a:ext cx="86535" cy="164592"/>
          </a:xfrm>
          <a:prstGeom prst="rect">
            <a:avLst/>
          </a:prstGeom>
          <a:solidFill>
            <a:srgbClr val="9DB89B"/>
          </a:solidFill>
          <a:ln cap="flat" cmpd="sng" w="12700">
            <a:solidFill>
              <a:srgbClr val="9DB8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4" name="Google Shape;2204;p39"/>
          <p:cNvSpPr/>
          <p:nvPr/>
        </p:nvSpPr>
        <p:spPr>
          <a:xfrm>
            <a:off x="2314644" y="5033772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1.8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5" name="Google Shape;2205;p39"/>
          <p:cNvSpPr/>
          <p:nvPr/>
        </p:nvSpPr>
        <p:spPr>
          <a:xfrm>
            <a:off x="822960" y="5248656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완성도(채색·모션)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6" name="Google Shape;2206;p39"/>
          <p:cNvSpPr/>
          <p:nvPr/>
        </p:nvSpPr>
        <p:spPr>
          <a:xfrm>
            <a:off x="2192758" y="5248656"/>
            <a:ext cx="57690" cy="164592"/>
          </a:xfrm>
          <a:prstGeom prst="rect">
            <a:avLst/>
          </a:prstGeom>
          <a:solidFill>
            <a:srgbClr val="9DB89B"/>
          </a:solidFill>
          <a:ln cap="flat" cmpd="sng" w="12700">
            <a:solidFill>
              <a:srgbClr val="9DB8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7" name="Google Shape;2207;p39"/>
          <p:cNvSpPr/>
          <p:nvPr/>
        </p:nvSpPr>
        <p:spPr>
          <a:xfrm>
            <a:off x="2285799" y="5248656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8" name="Google Shape;2208;p39"/>
          <p:cNvSpPr/>
          <p:nvPr/>
        </p:nvSpPr>
        <p:spPr>
          <a:xfrm>
            <a:off x="822960" y="5463540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부적절 표현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9" name="Google Shape;2209;p39"/>
          <p:cNvSpPr/>
          <p:nvPr/>
        </p:nvSpPr>
        <p:spPr>
          <a:xfrm>
            <a:off x="2192758" y="5463540"/>
            <a:ext cx="52883" cy="164592"/>
          </a:xfrm>
          <a:prstGeom prst="rect">
            <a:avLst/>
          </a:prstGeom>
          <a:solidFill>
            <a:srgbClr val="9DB89B"/>
          </a:solidFill>
          <a:ln cap="flat" cmpd="sng" w="12700">
            <a:solidFill>
              <a:srgbClr val="9DB8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0" name="Google Shape;2210;p39"/>
          <p:cNvSpPr/>
          <p:nvPr/>
        </p:nvSpPr>
        <p:spPr>
          <a:xfrm>
            <a:off x="2280991" y="5463540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1" name="Google Shape;2211;p39"/>
          <p:cNvSpPr/>
          <p:nvPr/>
        </p:nvSpPr>
        <p:spPr>
          <a:xfrm>
            <a:off x="822960" y="5678424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사용 의심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2" name="Google Shape;2212;p39"/>
          <p:cNvSpPr/>
          <p:nvPr/>
        </p:nvSpPr>
        <p:spPr>
          <a:xfrm>
            <a:off x="2192758" y="5678424"/>
            <a:ext cx="48075" cy="164592"/>
          </a:xfrm>
          <a:prstGeom prst="rect">
            <a:avLst/>
          </a:prstGeom>
          <a:solidFill>
            <a:srgbClr val="9DB89B"/>
          </a:solidFill>
          <a:ln cap="flat" cmpd="sng" w="12700">
            <a:solidFill>
              <a:srgbClr val="9DB8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3" name="Google Shape;2213;p39"/>
          <p:cNvSpPr/>
          <p:nvPr/>
        </p:nvSpPr>
        <p:spPr>
          <a:xfrm>
            <a:off x="2276183" y="5678424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1.0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14" name="Google Shape;2214;p39"/>
          <p:cNvCxnSpPr/>
          <p:nvPr/>
        </p:nvCxnSpPr>
        <p:spPr>
          <a:xfrm>
            <a:off x="2192758" y="3493008"/>
            <a:ext cx="0" cy="240030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15" name="Google Shape;2215;p39"/>
          <p:cNvSpPr/>
          <p:nvPr/>
        </p:nvSpPr>
        <p:spPr>
          <a:xfrm>
            <a:off x="5948658" y="3108960"/>
            <a:ext cx="5417333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6" name="Google Shape;2216;p39"/>
          <p:cNvSpPr/>
          <p:nvPr/>
        </p:nvSpPr>
        <p:spPr>
          <a:xfrm>
            <a:off x="5948658" y="3108960"/>
            <a:ext cx="5417333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TOP 3 상세 — 심사 문구 기준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7" name="Google Shape;2217;p39"/>
          <p:cNvSpPr/>
          <p:nvPr/>
        </p:nvSpPr>
        <p:spPr>
          <a:xfrm>
            <a:off x="5948658" y="3529584"/>
            <a:ext cx="5417333" cy="731520"/>
          </a:xfrm>
          <a:prstGeom prst="roundRect">
            <a:avLst>
              <a:gd fmla="val 10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8" name="Google Shape;2218;p39"/>
          <p:cNvSpPr/>
          <p:nvPr/>
        </p:nvSpPr>
        <p:spPr>
          <a:xfrm>
            <a:off x="6072382" y="3730752"/>
            <a:ext cx="318146" cy="329184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9" name="Google Shape;2219;p39"/>
          <p:cNvSpPr/>
          <p:nvPr/>
        </p:nvSpPr>
        <p:spPr>
          <a:xfrm>
            <a:off x="6072382" y="3730752"/>
            <a:ext cx="31814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0" name="Google Shape;2220;p39"/>
          <p:cNvSpPr/>
          <p:nvPr/>
        </p:nvSpPr>
        <p:spPr>
          <a:xfrm>
            <a:off x="6496578" y="3584448"/>
            <a:ext cx="477220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내부 심사 규정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1" name="Google Shape;2221;p39"/>
          <p:cNvSpPr/>
          <p:nvPr/>
        </p:nvSpPr>
        <p:spPr>
          <a:xfrm>
            <a:off x="6496578" y="3803904"/>
            <a:ext cx="4772202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 표정·표현의 중복성, 제목과 내용의 일관성, 세트 컨셉, 퀄리티·상품성 </a:t>
            </a:r>
            <a:r>
              <a:rPr lang="en-US" sz="85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등의 사유로 반려될 수 있으니 관련 검토를 고려하여 제작해 주세요.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2" name="Google Shape;2222;p39"/>
          <p:cNvSpPr/>
          <p:nvPr/>
        </p:nvSpPr>
        <p:spPr>
          <a:xfrm>
            <a:off x="5948658" y="4325112"/>
            <a:ext cx="5417333" cy="731520"/>
          </a:xfrm>
          <a:prstGeom prst="roundRect">
            <a:avLst>
              <a:gd fmla="val 10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3" name="Google Shape;2223;p39"/>
          <p:cNvSpPr/>
          <p:nvPr/>
        </p:nvSpPr>
        <p:spPr>
          <a:xfrm>
            <a:off x="6072382" y="4526280"/>
            <a:ext cx="318146" cy="329184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4" name="Google Shape;2224;p39"/>
          <p:cNvSpPr/>
          <p:nvPr/>
        </p:nvSpPr>
        <p:spPr>
          <a:xfrm>
            <a:off x="6072382" y="4526280"/>
            <a:ext cx="31814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5" name="Google Shape;2225;p39"/>
          <p:cNvSpPr/>
          <p:nvPr/>
        </p:nvSpPr>
        <p:spPr>
          <a:xfrm>
            <a:off x="6496578" y="4379976"/>
            <a:ext cx="477220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다크모드 대응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6" name="Google Shape;2226;p39"/>
          <p:cNvSpPr/>
          <p:nvPr/>
        </p:nvSpPr>
        <p:spPr>
          <a:xfrm>
            <a:off x="6496578" y="4599432"/>
            <a:ext cx="4772202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흰색 테두리 누락</a:t>
            </a:r>
            <a:r>
              <a:rPr lang="en-US" sz="85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될 경우 반려될 수 있습니다. 다크모드 대응을 위하여 흰색 테두리를 반드시 확인해 주세요.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7" name="Google Shape;2227;p39"/>
          <p:cNvSpPr/>
          <p:nvPr/>
        </p:nvSpPr>
        <p:spPr>
          <a:xfrm>
            <a:off x="5948658" y="5120640"/>
            <a:ext cx="5417333" cy="731520"/>
          </a:xfrm>
          <a:prstGeom prst="roundRect">
            <a:avLst>
              <a:gd fmla="val 10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8" name="Google Shape;2228;p39"/>
          <p:cNvSpPr/>
          <p:nvPr/>
        </p:nvSpPr>
        <p:spPr>
          <a:xfrm>
            <a:off x="6072382" y="5321808"/>
            <a:ext cx="318146" cy="329184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9" name="Google Shape;2229;p39"/>
          <p:cNvSpPr/>
          <p:nvPr/>
        </p:nvSpPr>
        <p:spPr>
          <a:xfrm>
            <a:off x="6072382" y="5321808"/>
            <a:ext cx="31814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0" name="Google Shape;2230;p39"/>
          <p:cNvSpPr/>
          <p:nvPr/>
        </p:nvSpPr>
        <p:spPr>
          <a:xfrm>
            <a:off x="6496578" y="5175504"/>
            <a:ext cx="477220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중복 콘텐</a:t>
            </a: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츠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1" name="Google Shape;2231;p39"/>
          <p:cNvSpPr/>
          <p:nvPr/>
        </p:nvSpPr>
        <p:spPr>
          <a:xfrm>
            <a:off x="6496578" y="5394960"/>
            <a:ext cx="4772202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중복 업로드 · 마켓 내 동일 콘텐츠 · 세트 내 구도·연출이 상당수 일치 · 세트 내 중복 이미지 </a:t>
            </a:r>
            <a:r>
              <a:rPr lang="en-US" sz="850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등의 사유를 확인해 주세요.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2" name="Google Shape;2232;p39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3" name="Google Shape;2233;p39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 현황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다크모드 · 중복 · 투명 배경 · 화질 · 가독성</a:t>
            </a:r>
            <a:r>
              <a:rPr b="1" lang="en-US" sz="105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을 유의해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2238" name="Shape 2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9" name="Google Shape;2239;p4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40" name="Google Shape;2240;p40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41" name="Google Shape;2241;p40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 사유 대응 방안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2" name="Google Shape;2242;p40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3" name="Google Shape;2243;p40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 가지만 지키면 대부분 통과됩니다.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4" name="Google Shape;2244;p40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 외에도 제작 가이드상의 주의사항과 캐릭터의 완성도 및 시장성을 종합적으로 검토합니다.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5" name="Google Shape;2245;p40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6" name="Google Shape;2246;p40"/>
          <p:cNvSpPr/>
          <p:nvPr/>
        </p:nvSpPr>
        <p:spPr>
          <a:xfrm>
            <a:off x="822960" y="2148840"/>
            <a:ext cx="3402403" cy="2514600"/>
          </a:xfrm>
          <a:prstGeom prst="roundRect">
            <a:avLst>
              <a:gd fmla="val 363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7" name="Google Shape;2247;p40"/>
          <p:cNvSpPr/>
          <p:nvPr/>
        </p:nvSpPr>
        <p:spPr>
          <a:xfrm>
            <a:off x="955521" y="2148840"/>
            <a:ext cx="3137281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8" name="Google Shape;2248;p40"/>
          <p:cNvSpPr/>
          <p:nvPr/>
        </p:nvSpPr>
        <p:spPr>
          <a:xfrm>
            <a:off x="955521" y="2258568"/>
            <a:ext cx="24302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01  다크모드 대응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9" name="Google Shape;2249;p40"/>
          <p:cNvSpPr/>
          <p:nvPr/>
        </p:nvSpPr>
        <p:spPr>
          <a:xfrm>
            <a:off x="3385809" y="2276856"/>
            <a:ext cx="706992" cy="237744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0" name="Google Shape;2250;p40"/>
          <p:cNvSpPr/>
          <p:nvPr/>
        </p:nvSpPr>
        <p:spPr>
          <a:xfrm>
            <a:off x="3385809" y="2276856"/>
            <a:ext cx="70699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 10.5%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251" name="Google Shape;225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5521" y="2606040"/>
            <a:ext cx="3137281" cy="1407575"/>
          </a:xfrm>
          <a:prstGeom prst="rect">
            <a:avLst/>
          </a:prstGeom>
          <a:noFill/>
          <a:ln>
            <a:noFill/>
          </a:ln>
        </p:spPr>
      </p:pic>
      <p:sp>
        <p:nvSpPr>
          <p:cNvPr id="2252" name="Google Shape;2252;p40"/>
          <p:cNvSpPr/>
          <p:nvPr/>
        </p:nvSpPr>
        <p:spPr>
          <a:xfrm>
            <a:off x="955521" y="4153887"/>
            <a:ext cx="3137281" cy="4181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캐릭터·글씨가 어두운 색이면 흰색 테두리를 추가하세요. 굵고 선명하게, 24장 동일 굵기로. 별도 대응 없이도 어두운 배경에서 잘 보이면 통과합니다.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3" name="Google Shape;2253;p40"/>
          <p:cNvSpPr/>
          <p:nvPr/>
        </p:nvSpPr>
        <p:spPr>
          <a:xfrm>
            <a:off x="4393274" y="2148840"/>
            <a:ext cx="3402403" cy="2514600"/>
          </a:xfrm>
          <a:prstGeom prst="roundRect">
            <a:avLst>
              <a:gd fmla="val 363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4" name="Google Shape;2254;p40"/>
          <p:cNvSpPr/>
          <p:nvPr/>
        </p:nvSpPr>
        <p:spPr>
          <a:xfrm>
            <a:off x="4525835" y="2148840"/>
            <a:ext cx="3137281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5" name="Google Shape;2255;p40"/>
          <p:cNvSpPr/>
          <p:nvPr/>
        </p:nvSpPr>
        <p:spPr>
          <a:xfrm>
            <a:off x="4525835" y="2258568"/>
            <a:ext cx="24302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02  텍스트 가독성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6" name="Google Shape;2256;p40"/>
          <p:cNvSpPr/>
          <p:nvPr/>
        </p:nvSpPr>
        <p:spPr>
          <a:xfrm>
            <a:off x="6956123" y="2276856"/>
            <a:ext cx="706992" cy="237744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7" name="Google Shape;2257;p40"/>
          <p:cNvSpPr/>
          <p:nvPr/>
        </p:nvSpPr>
        <p:spPr>
          <a:xfrm>
            <a:off x="6956123" y="2276856"/>
            <a:ext cx="70699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 3.2%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258" name="Google Shape;2258;p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25835" y="2606040"/>
            <a:ext cx="3137281" cy="1442024"/>
          </a:xfrm>
          <a:prstGeom prst="rect">
            <a:avLst/>
          </a:prstGeom>
          <a:noFill/>
          <a:ln>
            <a:noFill/>
          </a:ln>
        </p:spPr>
      </p:pic>
      <p:sp>
        <p:nvSpPr>
          <p:cNvPr id="2259" name="Google Shape;2259;p40"/>
          <p:cNvSpPr/>
          <p:nvPr/>
        </p:nvSpPr>
        <p:spPr>
          <a:xfrm>
            <a:off x="4525835" y="4189531"/>
            <a:ext cx="3137281" cy="3824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문장이 길거나 글씨가 작아 첫눈에 읽히지 않으면 반려. 공정위·포스팅 문구는 ‘유료협찬’ 부분을 색상 강조하거나 폰트를 키우세요.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0" name="Google Shape;2260;p40"/>
          <p:cNvSpPr/>
          <p:nvPr/>
        </p:nvSpPr>
        <p:spPr>
          <a:xfrm>
            <a:off x="7963588" y="2148840"/>
            <a:ext cx="3402403" cy="2514600"/>
          </a:xfrm>
          <a:prstGeom prst="roundRect">
            <a:avLst>
              <a:gd fmla="val 363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1" name="Google Shape;2261;p40"/>
          <p:cNvSpPr/>
          <p:nvPr/>
        </p:nvSpPr>
        <p:spPr>
          <a:xfrm>
            <a:off x="8096149" y="2148840"/>
            <a:ext cx="3137281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2" name="Google Shape;2262;p40"/>
          <p:cNvSpPr/>
          <p:nvPr/>
        </p:nvSpPr>
        <p:spPr>
          <a:xfrm>
            <a:off x="8096149" y="2258568"/>
            <a:ext cx="24302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03  이미지 투명화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3" name="Google Shape;2263;p40"/>
          <p:cNvSpPr/>
          <p:nvPr/>
        </p:nvSpPr>
        <p:spPr>
          <a:xfrm>
            <a:off x="10526437" y="2276856"/>
            <a:ext cx="706992" cy="237744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4" name="Google Shape;2264;p40"/>
          <p:cNvSpPr/>
          <p:nvPr/>
        </p:nvSpPr>
        <p:spPr>
          <a:xfrm>
            <a:off x="10526437" y="2276856"/>
            <a:ext cx="70699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 3.8%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265" name="Google Shape;2265;p4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96149" y="2606040"/>
            <a:ext cx="3137281" cy="1347654"/>
          </a:xfrm>
          <a:prstGeom prst="rect">
            <a:avLst/>
          </a:prstGeom>
          <a:noFill/>
          <a:ln>
            <a:noFill/>
          </a:ln>
        </p:spPr>
      </p:pic>
      <p:sp>
        <p:nvSpPr>
          <p:cNvPr id="2266" name="Google Shape;2266;p40"/>
          <p:cNvSpPr/>
          <p:nvPr/>
        </p:nvSpPr>
        <p:spPr>
          <a:xfrm>
            <a:off x="8096149" y="4091887"/>
            <a:ext cx="3137281" cy="4801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24장 + 메인·탭 모두 투명 PNG. 확장자만 바꾼 파일은 투명이 아닙니다. 이미지 안에 배경을 의도적으로 디자인한 경우는 제외됩니다.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7" name="Google Shape;2267;p40"/>
          <p:cNvSpPr/>
          <p:nvPr/>
        </p:nvSpPr>
        <p:spPr>
          <a:xfrm>
            <a:off x="822960" y="4773168"/>
            <a:ext cx="5187560" cy="1078992"/>
          </a:xfrm>
          <a:prstGeom prst="roundRect">
            <a:avLst>
              <a:gd fmla="val 8475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8" name="Google Shape;2268;p40"/>
          <p:cNvSpPr/>
          <p:nvPr/>
        </p:nvSpPr>
        <p:spPr>
          <a:xfrm>
            <a:off x="955521" y="4846320"/>
            <a:ext cx="4127071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04  중복 콘텐츠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9" name="Google Shape;2269;p40"/>
          <p:cNvSpPr/>
          <p:nvPr/>
        </p:nvSpPr>
        <p:spPr>
          <a:xfrm>
            <a:off x="5170966" y="4864608"/>
            <a:ext cx="706992" cy="237744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0" name="Google Shape;2270;p40"/>
          <p:cNvSpPr/>
          <p:nvPr/>
        </p:nvSpPr>
        <p:spPr>
          <a:xfrm>
            <a:off x="5170966" y="4864608"/>
            <a:ext cx="70699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 6.5%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1" name="Google Shape;2271;p40"/>
          <p:cNvSpPr/>
          <p:nvPr/>
        </p:nvSpPr>
        <p:spPr>
          <a:xfrm>
            <a:off x="955521" y="5138928"/>
            <a:ext cx="4922438" cy="676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같은 파일을 두 번 올리지 않기. 마켓에 이미 있는 콘텐츠와 동일하거나, 세트 안에서 구도·연출이 상당수 겹치면 반려됩니다. 24장을 한 화면에 놓고 비슷한 장면이 3장 이상이면 교체하세요.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2" name="Google Shape;2272;p40"/>
          <p:cNvSpPr/>
          <p:nvPr/>
        </p:nvSpPr>
        <p:spPr>
          <a:xfrm>
            <a:off x="6178431" y="4773168"/>
            <a:ext cx="5187560" cy="1078992"/>
          </a:xfrm>
          <a:prstGeom prst="roundRect">
            <a:avLst>
              <a:gd fmla="val 8475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3" name="Google Shape;2273;p40"/>
          <p:cNvSpPr/>
          <p:nvPr/>
        </p:nvSpPr>
        <p:spPr>
          <a:xfrm>
            <a:off x="6310992" y="4846320"/>
            <a:ext cx="4127071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05  권리 · AI 표기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4" name="Google Shape;2274;p40"/>
          <p:cNvSpPr/>
          <p:nvPr/>
        </p:nvSpPr>
        <p:spPr>
          <a:xfrm>
            <a:off x="10526437" y="4864608"/>
            <a:ext cx="706992" cy="237744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5" name="Google Shape;2275;p40"/>
          <p:cNvSpPr/>
          <p:nvPr/>
        </p:nvSpPr>
        <p:spPr>
          <a:xfrm>
            <a:off x="10526437" y="4864608"/>
            <a:ext cx="70699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 2.8%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6" name="Google Shape;2276;p40"/>
          <p:cNvSpPr/>
          <p:nvPr/>
        </p:nvSpPr>
        <p:spPr>
          <a:xfrm>
            <a:off x="6310992" y="5138928"/>
            <a:ext cx="4922438" cy="676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스트리머명 포함 시 퍼블리시티권 등록, 기존 캐릭터 연상 요소·앨범 아트·상업 불가 폰트 제거. AI 사용 시 업로드에서 체크, 미사용 시 증빙 자료로 소명. 생성형 AI로만 제작한 스티커(이모티콘)는 등록할 수 없습니다.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7" name="Google Shape;2277;p40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8" name="Google Shape;2278;p40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심사 핵심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다크모드 · 가독성 · 투명 배경 · 중복 · 권리 표기 — 제출 전 체크리스트로 한 번씩 확인하세요.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538"/>
        </a:solidFill>
      </p:bgPr>
    </p:bg>
    <p:spTree>
      <p:nvGrpSpPr>
        <p:cNvPr id="2283" name="Shape 2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4" name="Google Shape;2284;p41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5" name="Google Shape;2285;p41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cap="flat" cmpd="sng" w="12700">
            <a:solidFill>
              <a:srgbClr val="356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6" name="Google Shape;2286;p41"/>
          <p:cNvSpPr/>
          <p:nvPr/>
        </p:nvSpPr>
        <p:spPr>
          <a:xfrm flipH="1" rot="10800000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7" name="Google Shape;2287;p41"/>
          <p:cNvSpPr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Malgun Gothic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플레이북에 대한 다양한 의견 및 개선 사항을 전달해 주세요.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8" name="Google Shape;2288;p41"/>
          <p:cNvSpPr/>
          <p:nvPr/>
        </p:nvSpPr>
        <p:spPr>
          <a:xfrm>
            <a:off x="822960" y="274320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Malgun Gothic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크리에이터분들의 작은 아이디어나 개선 사항은 큰 힘이 됩니다.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9" name="Google Shape;2289;p41"/>
          <p:cNvSpPr/>
          <p:nvPr/>
        </p:nvSpPr>
        <p:spPr>
          <a:xfrm>
            <a:off x="5074920" y="3566160"/>
            <a:ext cx="2011680" cy="4572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0" name="Google Shape;2290;p41">
            <a:hlinkClick r:id="rId3"/>
          </p:cNvPr>
          <p:cNvSpPr/>
          <p:nvPr/>
        </p:nvSpPr>
        <p:spPr>
          <a:xfrm>
            <a:off x="5074920" y="356616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4538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1F4538"/>
                </a:solidFill>
                <a:latin typeface="Malgun Gothic"/>
                <a:ea typeface="Malgun Gothic"/>
                <a:cs typeface="Malgun Gothic"/>
                <a:sym typeface="Malgun Gothic"/>
              </a:rPr>
              <a:t>의견 남기기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1" name="Google Shape;2291;p41"/>
          <p:cNvSpPr/>
          <p:nvPr/>
        </p:nvSpPr>
        <p:spPr>
          <a:xfrm>
            <a:off x="822960" y="60807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B7D5C6"/>
                </a:solidFill>
                <a:latin typeface="Arial"/>
                <a:ea typeface="Arial"/>
                <a:cs typeface="Arial"/>
                <a:sym typeface="Arial"/>
              </a:rPr>
              <a:t>Copyright ⓒ 2026 OGQ All Rights Reserved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2" name="Google Shape;2292;p41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297" name="Shape 2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8" name="Google Shape;2298;p42"/>
          <p:cNvSpPr/>
          <p:nvPr/>
        </p:nvSpPr>
        <p:spPr>
          <a:xfrm>
            <a:off x="822960" y="598013"/>
            <a:ext cx="7494900" cy="70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b="0" i="0" lang="en-US" sz="5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OGQ 플레이북 활용 안내</a:t>
            </a:r>
            <a:endParaRPr b="0" i="0" sz="5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9" name="Google Shape;2299;p42"/>
          <p:cNvSpPr txBox="1"/>
          <p:nvPr/>
        </p:nvSpPr>
        <p:spPr>
          <a:xfrm>
            <a:off x="822960" y="1480400"/>
            <a:ext cx="59601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플레이북은 OGQ에서 제작 및 제공하는 문서입니다.</a:t>
            </a:r>
            <a:endParaRPr b="0" i="0" sz="12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해당 문서를 활용 시에는 아래 사항을 꼭 유의해 주시기 바랍니다.</a:t>
            </a:r>
            <a:endParaRPr b="0" i="0" sz="12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0" name="Google Shape;2300;p42"/>
          <p:cNvSpPr txBox="1"/>
          <p:nvPr/>
        </p:nvSpPr>
        <p:spPr>
          <a:xfrm>
            <a:off x="822960" y="2339525"/>
            <a:ext cx="8232000" cy="812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플레이북 활용 시 유의 사항</a:t>
            </a:r>
            <a:endParaRPr b="0" i="0" sz="17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03200" lvl="0" marL="2413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AutoNum type="arabicPeriod"/>
            </a:pPr>
            <a:r>
              <a:rPr b="0" i="0" lang="en-US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플레이북 내 내용을 임의로 가공해서 별도 공유 또는 재인용 하는 것을 금지합니다.</a:t>
            </a:r>
            <a:endParaRPr b="0" i="0" sz="12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03200" lvl="0" marL="2413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AutoNum type="arabicPeriod"/>
            </a:pPr>
            <a:r>
              <a:rPr b="0" i="0" lang="en-US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플레이북 전문을 웹에 게시하거나 상업적으로 활용하는 것을 금지합니다.</a:t>
            </a:r>
            <a:endParaRPr b="0" i="0" sz="12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1" name="Google Shape;2301;p42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2" name="Google Shape;2302;p42"/>
          <p:cNvSpPr/>
          <p:nvPr/>
        </p:nvSpPr>
        <p:spPr>
          <a:xfrm>
            <a:off x="822960" y="6080760"/>
            <a:ext cx="5486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 ⓒ 2026 OGQ All Rights Reserved</a:t>
            </a:r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