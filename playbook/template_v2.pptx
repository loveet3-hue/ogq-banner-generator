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80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0A5F87-FC11-4A6F-996B-1B240ED14353}">
  <a:tblStyle styleId="{220A5F87-FC11-4A6F-996B-1B240ED143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80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2" name="Google Shape;2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6" name="Google Shape;35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0" name="Google Shape;42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3" name="Google Shape;43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3" name="Google Shape;46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1" name="Google Shape;51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9" name="Google Shape;62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1" name="Google Shape;73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2" name="Google Shape;84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3" name="Google Shape;84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1" name="Google Shape;94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2" name="Google Shape;94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4" name="Google Shape;95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5" name="Google Shape;95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9" name="Google Shape;98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0" name="Google Shape;99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7" name="Google Shape;103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8" name="Google Shape;103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5" name="Google Shape;1155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6" name="Google Shape;1156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7" name="Google Shape;1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8" name="Google Shape;125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9" name="Google Shape;136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70" name="Google Shape;1370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6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8" name="Google Shape;146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69" name="Google Shape;146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9" name="Shape 1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Google Shape;1480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1" name="Google Shape;1481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2" name="Google Shape;1482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4" name="Shape 1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6" name="Google Shape;151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7" name="Google Shape;1517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4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1565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6" name="Google Shape;1566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7" name="Google Shape;1567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2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4" name="Google Shape;168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5" name="Google Shape;1685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6" name="Google Shape;178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87" name="Google Shape;1787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6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8" name="Google Shape;1868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9" name="Google Shape;1869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5" name="Shape 1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" name="Google Shape;1966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7" name="Google Shape;196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8" name="Google Shape;1968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8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0" name="Google Shape;1980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1" name="Google Shape;1981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5" name="Shape 2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Google Shape;2036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7" name="Google Shape;2037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8" name="Google Shape;2038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3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5" name="Google Shape;209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6" name="Google Shape;209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5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7" name="Google Shape;2157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8" name="Google Shape;2158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4" name="Shape 2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5" name="Google Shape;2235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6" name="Google Shape;2236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7" name="Google Shape;2237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9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1" name="Google Shape;2281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2" name="Google Shape;2282;p3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3" name="Shape 2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" name="Google Shape;2294;p39:notes"/>
          <p:cNvSpPr/>
          <p:nvPr>
            <p:ph idx="2" type="sldImg"/>
          </p:nvPr>
        </p:nvSpPr>
        <p:spPr>
          <a:xfrm>
            <a:off x="685800" y="1524000"/>
            <a:ext cx="54864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5" name="Google Shape;2295;p39:notes"/>
          <p:cNvSpPr txBox="1"/>
          <p:nvPr>
            <p:ph idx="1" type="body"/>
          </p:nvPr>
        </p:nvSpPr>
        <p:spPr>
          <a:xfrm>
            <a:off x="685800" y="5867400"/>
            <a:ext cx="5486400" cy="4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6" name="Google Shape;2296;p39:notes"/>
          <p:cNvSpPr txBox="1"/>
          <p:nvPr>
            <p:ph idx="12" type="sldNum"/>
          </p:nvPr>
        </p:nvSpPr>
        <p:spPr>
          <a:xfrm>
            <a:off x="3884613" y="11580284"/>
            <a:ext cx="2971800" cy="61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gqmarket.naver.com/" TargetMode="External"/><Relationship Id="rId4" Type="http://schemas.openxmlformats.org/officeDocument/2006/relationships/hyperlink" Target="https://ogqmarket.naver.com/" TargetMode="External"/><Relationship Id="rId5" Type="http://schemas.openxmlformats.org/officeDocument/2006/relationships/image" Target="../media/image5.png"/><Relationship Id="rId6" Type="http://schemas.openxmlformats.org/officeDocument/2006/relationships/hyperlink" Target="https://ogqmarket.sooplive.com/emoticon" TargetMode="External"/><Relationship Id="rId7" Type="http://schemas.openxmlformats.org/officeDocument/2006/relationships/hyperlink" Target="https://ogqmarket.sooplive.com/emoticon" TargetMode="External"/><Relationship Id="rId8" Type="http://schemas.openxmlformats.org/officeDocument/2006/relationships/image" Target="../media/image14.png"/><Relationship Id="rId9" Type="http://schemas.openxmlformats.org/officeDocument/2006/relationships/hyperlink" Target="https://chattingplus.ogq.me/" TargetMode="External"/><Relationship Id="rId10" Type="http://schemas.openxmlformats.org/officeDocument/2006/relationships/hyperlink" Target="https://chattingplus.ogq.me/" TargetMode="External"/><Relationship Id="rId11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hyperlink" Target="https://ogqmarket.naver.com/chart" TargetMode="External"/><Relationship Id="rId5" Type="http://schemas.openxmlformats.org/officeDocument/2006/relationships/hyperlink" Target="https://ogqmarket.naver.com/ch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29.png"/><Relationship Id="rId5" Type="http://schemas.openxmlformats.org/officeDocument/2006/relationships/hyperlink" Target="https://ogqmarket.sooplive.com/emotic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8.png"/><Relationship Id="rId6" Type="http://schemas.openxmlformats.org/officeDocument/2006/relationships/image" Target="../media/image10.png"/><Relationship Id="rId7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37.png"/><Relationship Id="rId5" Type="http://schemas.openxmlformats.org/officeDocument/2006/relationships/hyperlink" Target="https://chattingplus.ogq.me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5" Type="http://schemas.openxmlformats.org/officeDocument/2006/relationships/image" Target="../media/image27.png"/><Relationship Id="rId6" Type="http://schemas.openxmlformats.org/officeDocument/2006/relationships/image" Target="../media/image7.png"/><Relationship Id="rId7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8.png"/><Relationship Id="rId4" Type="http://schemas.openxmlformats.org/officeDocument/2006/relationships/image" Target="../media/image40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Relationship Id="rId7" Type="http://schemas.openxmlformats.org/officeDocument/2006/relationships/image" Target="../media/image39.png"/><Relationship Id="rId8" Type="http://schemas.openxmlformats.org/officeDocument/2006/relationships/image" Target="../media/image36.png"/><Relationship Id="rId9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8.png"/><Relationship Id="rId4" Type="http://schemas.openxmlformats.org/officeDocument/2006/relationships/image" Target="../media/image40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6.png"/><Relationship Id="rId4" Type="http://schemas.openxmlformats.org/officeDocument/2006/relationships/image" Target="../media/image39.png"/><Relationship Id="rId5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form.naver.com/response/Dde51Bon31cOcS_3Utfcgg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128016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2331720"/>
            <a:ext cx="822960" cy="329184"/>
          </a:xfrm>
          <a:prstGeom prst="roundRect">
            <a:avLst>
              <a:gd fmla="val 50000" name="adj"/>
            </a:avLst>
          </a:prstGeom>
          <a:solidFill>
            <a:srgbClr val="B7D5C6"/>
          </a:solidFill>
          <a:ln cap="flat" cmpd="sng" w="12700">
            <a:solidFill>
              <a:srgbClr val="B7D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822960" y="2331720"/>
            <a:ext cx="822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Arial"/>
                <a:ea typeface="Arial"/>
                <a:cs typeface="Arial"/>
                <a:sym typeface="Arial"/>
              </a:rPr>
              <a:t>Vol.2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283464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데이터 기반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· SOOP OGQ이모티콘 · 채팅+ OGQ마켓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538"/>
          </a:solidFill>
          <a:ln cap="flat" cmpd="sng" w="12700">
            <a:solidFill>
              <a:srgbClr val="1F45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INDEX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731520" y="32004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플레이북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731520" y="60350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484632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534924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534924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493776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512064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93776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12064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4846320" y="205740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349240" y="205740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349240" y="205740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4937760" y="26151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120640" y="24963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4937760" y="294436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120640" y="282549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세부 데이터 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846320" y="347472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349240" y="347472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349240" y="3474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937760" y="403250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120655" y="3913625"/>
            <a:ext cx="4807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/ 애니메이션 스티커(이모티콘)</a:t>
            </a:r>
            <a:r>
              <a:rPr lang="en-US" sz="10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937760" y="436168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120640" y="424281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· 기타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937760" y="469087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120640" y="457200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반려 현황 및 대응 방안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854964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05256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05256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PLAYBOOK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64108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882396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상위 매출 탐색 방법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64108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82396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lang="en-US" sz="10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</a:t>
            </a: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41080" y="185623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823960" y="173736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8641080" y="2185416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8823960" y="2066544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641080" y="2514600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8823960" y="2395728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8641080" y="28437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8823960" y="27249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공식 요약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개요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누구나 크리에이터가 되는 세상 — 크리에이터 콘텐츠 마켓 플랫폼, OGQ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콘텐츠를 만들고, OGQ에 등록하여 여러 플랫폼의 OGQ마켓에서 판매할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822960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1097280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224784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6516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/>
          <p:nvPr/>
        </p:nvSpPr>
        <p:spPr>
          <a:xfrm>
            <a:off x="1097280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CREATE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1097280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만든다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1097280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스티커(이모티콘), 이미지, 음원 등 원하는 디지털 콘텐츠를 자유롭게 제작합니다. 형식과 장르에 제한 없이 누구나 크리에이터가 될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4166616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4459224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4733544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861048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" name="Google Shape;10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2780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4733544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REGISTER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733544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OGQ에 등록한다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733544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한 번만 등록하면 네이버 OGQ마켓, SOOP OGQ이모티콘, 채팅+ OGQ마켓 등 여러 플랫폼에 동시에 판매 콘텐츠가 노출됩니다.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7802880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095488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369808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0497312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39044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8369808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SELL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369808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플랫폼 OGQ마켓에서 판매한다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369808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플랫폼의 이용자가 OGQ마켓을 통해 콘텐츠를 구매하여 이용할 수 있습니다. OGQ마켓에서 발생한 판매 수익은 크리에이터에게 전달되며, 월별 정산을 통해 수익을 창출하실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783080" y="365760"/>
            <a:ext cx="5486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8"/>
          <p:cNvSpPr/>
          <p:nvPr/>
        </p:nvSpPr>
        <p:spPr>
          <a:xfrm>
            <a:off x="1783080" y="365760"/>
            <a:ext cx="5486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대표 이모티콘 마켓을 소개합니다.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NAVER, SOOP, 삼성 문자메시지 앱 ‘채팅+’ 플랫폼에서 OGQ 콘텐츠를 판매하실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822960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2FAF4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1088136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88136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>
            <a:hlinkClick r:id="rId3"/>
          </p:cNvPr>
          <p:cNvSpPr/>
          <p:nvPr/>
        </p:nvSpPr>
        <p:spPr>
          <a:xfrm>
            <a:off x="1635862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4"/>
              </a:rPr>
              <a:t>네이버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1088136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블로그·카페 등 네이버 플랫폼 내에서 댓글/글쓰기 등으로 이용할 수 있는 스티커(이모티콘)를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8136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1" name="Google Shape;141;p8"/>
          <p:cNvSpPr/>
          <p:nvPr/>
        </p:nvSpPr>
        <p:spPr>
          <a:xfrm>
            <a:off x="4422953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EEF4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688129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4688129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>
            <a:hlinkClick r:id="rId6"/>
          </p:cNvPr>
          <p:cNvSpPr/>
          <p:nvPr/>
        </p:nvSpPr>
        <p:spPr>
          <a:xfrm>
            <a:off x="5235854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7"/>
              </a:rPr>
              <a:t>SOOP OGQ이모티콘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4688129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전문 플랫폼 SOOP에서 스트리밍 환경(채팅창, 댓글) 등에서 사용할 수 있는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8129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7" name="Google Shape;147;p8"/>
          <p:cNvSpPr/>
          <p:nvPr/>
        </p:nvSpPr>
        <p:spPr>
          <a:xfrm>
            <a:off x="8022946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FF5EC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8288122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8288122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>
            <a:hlinkClick r:id="rId9"/>
          </p:cNvPr>
          <p:cNvSpPr/>
          <p:nvPr/>
        </p:nvSpPr>
        <p:spPr>
          <a:xfrm>
            <a:off x="8835847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10"/>
              </a:rPr>
              <a:t>채팅+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288122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국내 통신 3사(SKT, KT, LGU+)가 협력한 차세대 문자 메시지 서비스 ‘채팅+’ 환경에서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8" title="스크린샷 2026-08-25 오후 5.56.04.pn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288122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" name="Google Shape;173;p1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10"/>
          <p:cNvSpPr/>
          <p:nvPr/>
        </p:nvSpPr>
        <p:spPr>
          <a:xfrm>
            <a:off x="1783080" y="365760"/>
            <a:ext cx="9875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동기 &amp; 핵심 인사이트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마켓들의 구매자는 같은 스티커(이모티콘)를 전혀 다른 이유로 구매합니다.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822960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6FBF7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1078992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1078992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1078992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3337560" y="2377440"/>
            <a:ext cx="567000" cy="567000"/>
          </a:xfrm>
          <a:prstGeom prst="ellipse">
            <a:avLst/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/>
          <p:nvPr/>
        </p:nvSpPr>
        <p:spPr>
          <a:xfrm>
            <a:off x="1078992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078992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가독성과 구조를 잡기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1078992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1170432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1170432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1893002" y="38861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블로거 / 네이버 카페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1078992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문구·구분선·맛집 리뷰 헤더처럼 포스팅 게시글을 보다 완성도 있게 구성하기 위하여 스티커(이모티콘)를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1078992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1188720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B54A"/>
                </a:solidFill>
                <a:latin typeface="Arial"/>
                <a:ea typeface="Arial"/>
                <a:cs typeface="Arial"/>
                <a:sym typeface="Arial"/>
              </a:rPr>
              <a:t>33.</a:t>
            </a:r>
            <a:r>
              <a:rPr b="1" lang="en-US" sz="2400">
                <a:solidFill>
                  <a:srgbClr val="3BB54A"/>
                </a:solidFill>
              </a:rPr>
              <a:t>9</a:t>
            </a:r>
            <a:r>
              <a:rPr b="1" i="0" lang="en-US" sz="2400" u="none" cap="none" strike="noStrike">
                <a:solidFill>
                  <a:srgbClr val="3BB54A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2304288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블로그·포스팅 실용 테마 매출 비중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전체 매출 </a:t>
            </a:r>
            <a:r>
              <a:rPr lang="en-US" sz="7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4425696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4F8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4681728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4681728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681728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6940296" y="2377440"/>
            <a:ext cx="567000" cy="567000"/>
          </a:xfrm>
          <a:prstGeom prst="ellipse">
            <a:avLst/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" name="Google Shape;200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77456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0"/>
          <p:cNvSpPr/>
          <p:nvPr/>
        </p:nvSpPr>
        <p:spPr>
          <a:xfrm>
            <a:off x="4681728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4681728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중 나의 존재를 드러내기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4681728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773168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773168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5522950" y="3873223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회원 (시청자/스트리머)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4681728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내가 좋아하는 스트리머와 적극적으로 소통하기 위하여 보다 가독성 있고 눈에 잘 띄는 이모티콘을 구매하여 소통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4681728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4791456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1A6DFF"/>
                </a:solidFill>
              </a:rPr>
              <a:t>7</a:t>
            </a:r>
            <a:r>
              <a:rPr b="1" i="0" lang="en-US" sz="2400" u="none" cap="none" strike="noStrike">
                <a:solidFill>
                  <a:srgbClr val="1A6DFF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5495725" y="4892050"/>
            <a:ext cx="19659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 비율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</a:t>
            </a:r>
            <a:r>
              <a:rPr lang="en-US" sz="7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이모티콘 판매 수 데이터 기준)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8028432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FF8F2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8284464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8284464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8284464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10543032" y="2377440"/>
            <a:ext cx="567000" cy="567000"/>
          </a:xfrm>
          <a:prstGeom prst="ellipse">
            <a:avLst/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6" name="Google Shape;21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0192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0"/>
          <p:cNvSpPr/>
          <p:nvPr/>
        </p:nvSpPr>
        <p:spPr>
          <a:xfrm>
            <a:off x="8284464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안부를 전하는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8284464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딱딱한 텍스트 대신 이모티콘으로 마음을 표현하기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8284464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375904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8375904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9091509" y="3870291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삼성 갤럭시 문자(채팅+) </a:t>
            </a:r>
            <a:r>
              <a:rPr lang="en-US" sz="8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</a:t>
            </a: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이용</a:t>
            </a:r>
            <a:r>
              <a:rPr lang="en-US" sz="8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8284464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인사·감사·응원·안부 등과 같이 격식 있는 메시지를 부드럽게 만들어주기 위하여 이모티콘을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8284464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8394192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821F"/>
                </a:solidFill>
                <a:latin typeface="Arial"/>
                <a:ea typeface="Arial"/>
                <a:cs typeface="Arial"/>
                <a:sym typeface="Arial"/>
              </a:rPr>
              <a:t>3.2배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9509760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시즌(2월) 매출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1월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인사이트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네이버는 ‘글’, SOOP은 ‘방송’, 채팅+는 ‘관계’ — 사용처가 다르면 잘 팔리는 스티커(이모티콘)도 다릅니다.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5" name="Google Shape;235;p1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6" name="Google Shape;236;p1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실용적인 텍스트/꾸미기형 선호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'형광펜', '말풍선', '블꾸' 등 포스팅 글을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보완해 주는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정지형 스티커(이모티콘)를 압도적으로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및 인증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'맛집 리뷰', '공정위 문구' 등 실제 포스팅에 바로 활용 가능한 기능성 스티커(이모티콘) 구매율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포스팅 및 정보 전달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 글의 가독성을 높이고 문단을 나누어 가독성을 확보하는 도구로 주로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정보성 배치 및 꾸미기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기록, 맛집 탐방을 꾸미거나 특히 협찬 여부를 명확히 알리는 정보성 배치 용도가 핵심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</a:t>
            </a: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말풍선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1312375" y="4719192"/>
            <a:ext cx="39480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4973914" y="4719195"/>
            <a:ext cx="529500" cy="381000"/>
          </a:xfrm>
          <a:prstGeom prst="roundRect">
            <a:avLst>
              <a:gd fmla="val 30188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4965493" y="4719192"/>
            <a:ext cx="954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1312375" y="4721087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9</a:t>
            </a:r>
            <a:r>
              <a:rPr b="1" lang="en-US" sz="1300">
                <a:solidFill>
                  <a:srgbClr val="FFFFFF"/>
                </a:solidFill>
              </a:rPr>
              <a:t>4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3" name="Google Shape;283;p11"/>
          <p:cNvGrpSpPr/>
          <p:nvPr/>
        </p:nvGrpSpPr>
        <p:grpSpPr>
          <a:xfrm>
            <a:off x="1331425" y="5325505"/>
            <a:ext cx="3515325" cy="190503"/>
            <a:chOff x="19050" y="0"/>
            <a:chExt cx="3515325" cy="190503"/>
          </a:xfrm>
        </p:grpSpPr>
        <p:sp>
          <p:nvSpPr>
            <p:cNvPr id="284" name="Google Shape;284;p11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11"/>
            <p:cNvSpPr txBox="1"/>
            <p:nvPr/>
          </p:nvSpPr>
          <p:spPr>
            <a:xfrm>
              <a:off x="238125" y="0"/>
              <a:ext cx="14289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정지형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11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11"/>
            <p:cNvSpPr txBox="1"/>
            <p:nvPr/>
          </p:nvSpPr>
          <p:spPr>
            <a:xfrm>
              <a:off x="1857375" y="3"/>
              <a:ext cx="1677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애니메이션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8" name="Google Shape;288;p11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</a:t>
            </a:r>
            <a:r>
              <a:rPr lang="en-US" sz="800">
                <a:solidFill>
                  <a:srgbClr val="B7B7B7"/>
                </a:solidFill>
              </a:rPr>
              <a:t>026년 상반기 </a:t>
            </a:r>
            <a:r>
              <a:rPr lang="en-US" sz="800">
                <a:solidFill>
                  <a:srgbClr val="B7B7B7"/>
                </a:solidFill>
              </a:rPr>
              <a:t>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6" name="Google Shape;296;p1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" name="Google Shape;297;p1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과장되고 역동적인 애니메이션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움직임이 크고 눈에 띄어 채팅창에서 강렬한 인상을 줄 수 있는 애니메이션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유머 및 인터넷 방송 문화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특유의 유머 코드, 은어, 유행어, 스트리머 상황에 유쾌하게 반응할 수 있는 도발적 콘셉트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방송 리액션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822960" y="3886200"/>
            <a:ext cx="5169900" cy="224040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6691001" y="2340864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내용에 즉각적이고 강렬하게 반응하기 위한 리액션 목적이 매우 큼</a:t>
            </a:r>
            <a:b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빠르게 올라가는 채팅창 속에서 자신의 감정과 존재감을 재미있게 표현하는 데 적극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1141106" y="4050792"/>
            <a:ext cx="4728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유형 선호도</a:t>
            </a:r>
            <a:endParaRPr b="1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드립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lang="en-US" sz="10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웃긴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1298780" y="4736089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1298780" y="4736089"/>
            <a:ext cx="4191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641680" y="4736089"/>
            <a:ext cx="6768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9" name="Google Shape;339;p12"/>
          <p:cNvGrpSpPr/>
          <p:nvPr/>
        </p:nvGrpSpPr>
        <p:grpSpPr>
          <a:xfrm>
            <a:off x="1317830" y="5340507"/>
            <a:ext cx="3267225" cy="190500"/>
            <a:chOff x="19050" y="0"/>
            <a:chExt cx="3267225" cy="190500"/>
          </a:xfrm>
        </p:grpSpPr>
        <p:sp>
          <p:nvSpPr>
            <p:cNvPr id="340" name="Google Shape;340;p12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1" name="Google Shape;341;p12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342" name="Google Shape;342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44" name="Google Shape;344;p12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5" name="Google Shape;345;p12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346" name="Google Shape;346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48" name="Google Shape;348;p12"/>
          <p:cNvSpPr txBox="1"/>
          <p:nvPr/>
        </p:nvSpPr>
        <p:spPr>
          <a:xfrm>
            <a:off x="1188780" y="4736089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4572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애니메이션 70%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6528816" y="2953512"/>
            <a:ext cx="88500" cy="9150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6673326" y="2862072"/>
            <a:ext cx="4462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스트리머도 적극 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6691038" y="3113527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플랫폼에서 방송하는 스트리머들은 본인들의 IP를 활용한 이모티콘을 출시하여 팬과의 커뮤니케이션 수단으로 사용하기도하며, 방송국 공지 등을 작성할 때 많이 사용</a:t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2026년 상반기 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9" name="Google Shape;359;p1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1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따뜻하고 정중한 메시지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'감사와 행복', '예쁜 말', '착한 손글씨', '색연필 글씨' 등 다정하고 온화한 분위기의 텍스트가 포함된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및 예의범절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'설날', '명절 인사말', '새해' 등 특정 기념일이나 '사회생활'에 맞춘 무난한 톤앤매너의 이모티콘이 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이용하는 높은 연령대의 이모티콘 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 고객은 대부분 연령대가 높은 40~50대로 텍스트 대신 이모티콘으로 소통 및 마음을 표현하고자 주로 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 인사 및 관계 유지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가족, 친척, 직장 동료 등 지인들에게 명절 안부를 묻거나 일상적인 인사, 따뜻한 위로를 전하는 등 '사회적 관계 유지'를 위한 정중한 커뮤니케이션 용도로 주로 사용.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유형 선호도</a:t>
            </a:r>
            <a:endParaRPr b="1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다정한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3" name="Google Shape;403;p13"/>
          <p:cNvGrpSpPr/>
          <p:nvPr/>
        </p:nvGrpSpPr>
        <p:grpSpPr>
          <a:xfrm>
            <a:off x="1282093" y="5348391"/>
            <a:ext cx="3267225" cy="190500"/>
            <a:chOff x="19050" y="0"/>
            <a:chExt cx="3267225" cy="190500"/>
          </a:xfrm>
        </p:grpSpPr>
        <p:sp>
          <p:nvSpPr>
            <p:cNvPr id="404" name="Google Shape;404;p13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5" name="Google Shape;405;p13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406" name="Google Shape;406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7" name="Google Shape;407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8" name="Google Shape;408;p13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9" name="Google Shape;409;p13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410" name="Google Shape;410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12" name="Google Shape;412;p13"/>
          <p:cNvSpPr/>
          <p:nvPr/>
        </p:nvSpPr>
        <p:spPr>
          <a:xfrm>
            <a:off x="1263043" y="4743973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1263043" y="4743973"/>
            <a:ext cx="11736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2341211" y="4743973"/>
            <a:ext cx="11736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3"/>
          <p:cNvSpPr txBox="1"/>
          <p:nvPr/>
        </p:nvSpPr>
        <p:spPr>
          <a:xfrm>
            <a:off x="1263031" y="4743973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5</a:t>
            </a:r>
            <a:r>
              <a:rPr b="1" lang="en-US" sz="1300">
                <a:solidFill>
                  <a:srgbClr val="FFFFFF"/>
                </a:solidFill>
              </a:rPr>
              <a:t>5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		              	          애니메이션 4</a:t>
            </a:r>
            <a:r>
              <a:rPr b="1" lang="en-US" sz="1300">
                <a:solidFill>
                  <a:srgbClr val="FFFFFF"/>
                </a:solidFill>
              </a:rPr>
              <a:t>5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3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2026년 상반기 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6" name="Google Shape;436;p1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7" name="Google Shape;437;p15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</a:t>
            </a:r>
            <a:r>
              <a:rPr b="1" lang="en-US" sz="22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1" name="Google Shape;4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53583" cy="3515661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442" name="Google Shape;442;p15"/>
          <p:cNvSpPr/>
          <p:nvPr/>
        </p:nvSpPr>
        <p:spPr>
          <a:xfrm>
            <a:off x="822960" y="5961888"/>
            <a:ext cx="4153583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>
            <a:hlinkClick r:id="rId4"/>
          </p:cNvPr>
          <p:cNvSpPr/>
          <p:nvPr/>
        </p:nvSpPr>
        <p:spPr>
          <a:xfrm>
            <a:off x="822960" y="5961888"/>
            <a:ext cx="41535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› 페이지 최상단 ‘인기차트’ </a:t>
            </a:r>
            <a:r>
              <a:rPr b="1" i="0" lang="en-US" sz="90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5771910" y="2148840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593098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/>
          <p:nvPr/>
        </p:nvSpPr>
        <p:spPr>
          <a:xfrm>
            <a:off x="593098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6523090" y="2350008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인기차트로 흐름 읽기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6523090" y="2642616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당일(1시간)·일일(24시간) 판매+조회 합산, 최근 6개월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5771910" y="3300984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593098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593098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6523090" y="3502152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유입으로 검증하기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6523090" y="3794760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공정위·구분선·맛집·리뷰·내돈내산 등 플레이북에 제시한 핵심 키워드 및 인기 검색어와 비교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5771910" y="4453128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593098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593098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6523090" y="4654296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크리에이터 페이지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6523090" y="4946904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시리즈로 이어지는 컨셉 등 레퍼런스 참고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6" name="Google Shape;466;p1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7" name="Google Shape;467;p16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</a:t>
            </a:r>
            <a:r>
              <a:rPr b="1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 25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r>
              <a:rPr b="1" lang="en-US" sz="2200">
                <a:solidFill>
                  <a:srgbClr val="3C6E3D"/>
                </a:solidFill>
              </a:rPr>
              <a:t>4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6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93.8%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3C6E3D"/>
                </a:solidFill>
              </a:rPr>
              <a:t>38.0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6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3C6E3D"/>
                </a:solidFill>
              </a:rPr>
              <a:t>18.6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6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35.0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2104384" y="3913632"/>
            <a:ext cx="2071615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229024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26.9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2104384" y="4261104"/>
            <a:ext cx="1855983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4013392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2104384" y="4608576"/>
            <a:ext cx="1078164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3235573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16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16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 중심 캐릭터 — 매월 1·2위 고정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맛집·리뷰·일상기록 등 블로그 상황을 연기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문구, 형광펜 리뷰, 말풍선 모음 ZIP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 — 네이버 스트리머 팬카페 기반, 단월 폭발력은 크지만 지속성 낮음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4" name="Google Shape;504;p16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{220A5F87-FC11-4A6F-996B-1B240ED14353}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91.1%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49.8%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블로그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59.9%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병맛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73.0%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리뷰/일상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5" name="Google Shape;505;p1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 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 상위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데이터를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4" name="Google Shape;514;p1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5" name="Google Shape;515;p1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1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블로거가 작성하는 포스팅마다의 ‘장면’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요즘 네이버 블로그 트렌드를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네이버 블로그는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포스팅에 이런 스티커(이모티콘)를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25" name="Google Shape;5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17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협찬·체험단 글 증가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체험단·협찬 글이 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표기는 사실상 필수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공정위·내돈내산 문구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컬러·손그림·캐릭터가 팻말 든 버전으로 변형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같은 문구라도 디자인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요소로 세트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내돈내산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 문구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솔직 후기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 포함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45" name="Google Shape;54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17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경험형 글 유리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맛집·여행 등 직접 경험 글이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인용·홈피드에서 유리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상황 스티커(이모티콘)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고정 항목(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별점, 주차 등)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스티커(이모티콘)로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세트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재방문 의사 100%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lang="en-US" sz="75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7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주차 가능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가성비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7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65" name="Google Shape;56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17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17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첫인상이 중요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개인화 피드 시대,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첫인상이 이탈률을 좌우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7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7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꾸미기(블꾸)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7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내용 및 블로그를 꾸며주는 요소를 모아 하나의 세트로 제작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7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오늘의 포스팅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TIP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7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17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85" name="Google Shape;58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17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꾸준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7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기록·감성 글은 꾸준하고,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블로그 상황을 연기하는 방식 확산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7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7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17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7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7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‘블로거인 캐릭터’ 시리즈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7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하나를 정하고 리뷰편·일상편·근황편으로 이어가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시리즈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7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7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기록 완료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7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17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밀림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7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17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이웃 방문 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17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블태기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7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7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05" name="Google Shape;605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17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7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틈새 · 숏폼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7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밈·유머는 공급이 적고 수요는 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클립(숏폼) 삽입 포스팅 증가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7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7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7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17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 밈 리액션 · 클립 안내형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7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블로거끼리 통하는 상황 개그, 영상 삽입 글용 안내 스티커(이모티콘)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7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7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품절 대란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7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17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지옥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7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7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영상으로 보기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7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7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 확인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2" name="Google Shape;632;p1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1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24종 이미지의 순서는 ‘블로그 </a:t>
            </a:r>
            <a:r>
              <a:rPr b="1" lang="en-US" sz="22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</a:t>
            </a: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이용자의 사용 패턴을 참고하여 스티커(이모티콘)를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8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8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8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8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여는 장면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8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오늘의 포스팅 · 시작합니다 · 목차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8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18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8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8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5~12번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8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이동·도착·정보·팁·사진 안내처럼 글 중간중간 끼우는 상황 스티커(이모티콘)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8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도착 · 정보 · TIP · 체크 · 사진 보기 · 잠깐 · 기록 중 ·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18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18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18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18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13~18번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8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사건에 대한 반응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8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최고 · 뿌듯 · 헉 · 피곤 · 당황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18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18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19~22번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결론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재방문 의사 100% · 패스 · 고민 중 · 총평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8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닫는 인사. 댓글 답글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내용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감사합니다 · 다음 포스팅에서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8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18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8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8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8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8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8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8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18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8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8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8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8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18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18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8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8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18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8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8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8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18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8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8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8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8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8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8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8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8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18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8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8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18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8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18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8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8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8"/>
          <p:cNvSpPr/>
          <p:nvPr/>
        </p:nvSpPr>
        <p:spPr>
          <a:xfrm>
            <a:off x="6443553" y="2532888"/>
            <a:ext cx="274843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8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1~4번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8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8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도입 이미지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먼저 보이는 자리. 세트의 핵심 용도(리뷰·인사)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8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정보끼리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배치해야 사용성 높음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8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‘대박’ 옆에 ‘헉’, ‘추천’ 옆에 ‘패스’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선택지 옆에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8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 닫는 문구. 댓글·답글에 자주 재사용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18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8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4" name="Google Shape;734;p1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5" name="Google Shape;735;p1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1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작성 시간에 스티커(이모티콘)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원하는 시간에 출시 예약을 설정할 수 있습니다. 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1" name="Google Shape;741;p19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2" name="Google Shape;742;p19"/>
          <p:cNvSpPr/>
          <p:nvPr/>
        </p:nvSpPr>
        <p:spPr>
          <a:xfrm>
            <a:off x="998198" y="3511296"/>
            <a:ext cx="139262" cy="101498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9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19"/>
          <p:cNvSpPr/>
          <p:nvPr/>
        </p:nvSpPr>
        <p:spPr>
          <a:xfrm>
            <a:off x="1222816" y="3827069"/>
            <a:ext cx="139262" cy="69921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9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9"/>
          <p:cNvSpPr/>
          <p:nvPr/>
        </p:nvSpPr>
        <p:spPr>
          <a:xfrm>
            <a:off x="1447433" y="4097731"/>
            <a:ext cx="139262" cy="4285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9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9"/>
          <p:cNvSpPr/>
          <p:nvPr/>
        </p:nvSpPr>
        <p:spPr>
          <a:xfrm>
            <a:off x="167205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9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9"/>
          <p:cNvSpPr/>
          <p:nvPr/>
        </p:nvSpPr>
        <p:spPr>
          <a:xfrm>
            <a:off x="1896668" y="4323283"/>
            <a:ext cx="139262" cy="20299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9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19"/>
          <p:cNvSpPr/>
          <p:nvPr/>
        </p:nvSpPr>
        <p:spPr>
          <a:xfrm>
            <a:off x="2121286" y="4390949"/>
            <a:ext cx="139262" cy="1353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9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19"/>
          <p:cNvSpPr/>
          <p:nvPr/>
        </p:nvSpPr>
        <p:spPr>
          <a:xfrm>
            <a:off x="1990234" y="4244645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9"/>
          <p:cNvSpPr/>
          <p:nvPr/>
        </p:nvSpPr>
        <p:spPr>
          <a:xfrm>
            <a:off x="2345903" y="4345838"/>
            <a:ext cx="139262" cy="18044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9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9"/>
          <p:cNvSpPr/>
          <p:nvPr/>
        </p:nvSpPr>
        <p:spPr>
          <a:xfrm>
            <a:off x="257052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9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19"/>
          <p:cNvSpPr/>
          <p:nvPr/>
        </p:nvSpPr>
        <p:spPr>
          <a:xfrm>
            <a:off x="2795138" y="4052621"/>
            <a:ext cx="139262" cy="4736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9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19"/>
          <p:cNvSpPr/>
          <p:nvPr/>
        </p:nvSpPr>
        <p:spPr>
          <a:xfrm>
            <a:off x="3019756" y="3736848"/>
            <a:ext cx="139262" cy="78943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9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9"/>
          <p:cNvSpPr/>
          <p:nvPr/>
        </p:nvSpPr>
        <p:spPr>
          <a:xfrm>
            <a:off x="3244374" y="3578962"/>
            <a:ext cx="139262" cy="9473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19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19"/>
          <p:cNvSpPr/>
          <p:nvPr/>
        </p:nvSpPr>
        <p:spPr>
          <a:xfrm>
            <a:off x="3468991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9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9"/>
          <p:cNvSpPr/>
          <p:nvPr/>
        </p:nvSpPr>
        <p:spPr>
          <a:xfrm>
            <a:off x="3693609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19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9"/>
          <p:cNvSpPr/>
          <p:nvPr/>
        </p:nvSpPr>
        <p:spPr>
          <a:xfrm>
            <a:off x="3918226" y="3263189"/>
            <a:ext cx="139262" cy="126309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19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9"/>
          <p:cNvSpPr/>
          <p:nvPr/>
        </p:nvSpPr>
        <p:spPr>
          <a:xfrm>
            <a:off x="4142844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19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9"/>
          <p:cNvSpPr/>
          <p:nvPr/>
        </p:nvSpPr>
        <p:spPr>
          <a:xfrm>
            <a:off x="4367461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9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9"/>
          <p:cNvSpPr/>
          <p:nvPr/>
        </p:nvSpPr>
        <p:spPr>
          <a:xfrm>
            <a:off x="4592079" y="3082747"/>
            <a:ext cx="139262" cy="144353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19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19"/>
          <p:cNvSpPr/>
          <p:nvPr/>
        </p:nvSpPr>
        <p:spPr>
          <a:xfrm>
            <a:off x="4816696" y="3150413"/>
            <a:ext cx="139262" cy="13758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9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9"/>
          <p:cNvSpPr/>
          <p:nvPr/>
        </p:nvSpPr>
        <p:spPr>
          <a:xfrm>
            <a:off x="5041314" y="3240634"/>
            <a:ext cx="139262" cy="12856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19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19"/>
          <p:cNvSpPr/>
          <p:nvPr/>
        </p:nvSpPr>
        <p:spPr>
          <a:xfrm>
            <a:off x="5265931" y="3308299"/>
            <a:ext cx="139262" cy="121798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19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9"/>
          <p:cNvSpPr/>
          <p:nvPr/>
        </p:nvSpPr>
        <p:spPr>
          <a:xfrm>
            <a:off x="5490549" y="3285744"/>
            <a:ext cx="139262" cy="124053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19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9"/>
          <p:cNvSpPr/>
          <p:nvPr/>
        </p:nvSpPr>
        <p:spPr>
          <a:xfrm>
            <a:off x="5715167" y="3105302"/>
            <a:ext cx="139262" cy="14209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19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9"/>
          <p:cNvSpPr/>
          <p:nvPr/>
        </p:nvSpPr>
        <p:spPr>
          <a:xfrm>
            <a:off x="5939784" y="3037637"/>
            <a:ext cx="139262" cy="148864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19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19"/>
          <p:cNvSpPr/>
          <p:nvPr/>
        </p:nvSpPr>
        <p:spPr>
          <a:xfrm>
            <a:off x="5808733" y="289133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19"/>
          <p:cNvSpPr/>
          <p:nvPr/>
        </p:nvSpPr>
        <p:spPr>
          <a:xfrm>
            <a:off x="6164402" y="3218078"/>
            <a:ext cx="139262" cy="130820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9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9"/>
          <p:cNvSpPr/>
          <p:nvPr/>
        </p:nvSpPr>
        <p:spPr>
          <a:xfrm>
            <a:off x="3857874" y="2816352"/>
            <a:ext cx="2506142" cy="1728216"/>
          </a:xfrm>
          <a:prstGeom prst="roundRect">
            <a:avLst>
              <a:gd fmla="val 2646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19"/>
          <p:cNvSpPr/>
          <p:nvPr/>
        </p:nvSpPr>
        <p:spPr>
          <a:xfrm>
            <a:off x="2991808" y="2633472"/>
            <a:ext cx="335453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13~23시 집중 구간 — 하루 매출의 약 2/3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19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7" name="Google Shape;797;p19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8" name="Google Shape;798;p19"/>
          <p:cNvSpPr/>
          <p:nvPr/>
        </p:nvSpPr>
        <p:spPr>
          <a:xfrm>
            <a:off x="6939711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9"/>
          <p:cNvSpPr/>
          <p:nvPr/>
        </p:nvSpPr>
        <p:spPr>
          <a:xfrm>
            <a:off x="6814725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9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19"/>
          <p:cNvSpPr/>
          <p:nvPr/>
        </p:nvSpPr>
        <p:spPr>
          <a:xfrm>
            <a:off x="7564642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9"/>
          <p:cNvSpPr/>
          <p:nvPr/>
        </p:nvSpPr>
        <p:spPr>
          <a:xfrm>
            <a:off x="7439655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9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9"/>
          <p:cNvSpPr/>
          <p:nvPr/>
        </p:nvSpPr>
        <p:spPr>
          <a:xfrm>
            <a:off x="8189573" y="3182366"/>
            <a:ext cx="374958" cy="134391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19"/>
          <p:cNvSpPr/>
          <p:nvPr/>
        </p:nvSpPr>
        <p:spPr>
          <a:xfrm>
            <a:off x="8064587" y="301777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14.3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9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9"/>
          <p:cNvSpPr/>
          <p:nvPr/>
        </p:nvSpPr>
        <p:spPr>
          <a:xfrm>
            <a:off x="8814505" y="3088386"/>
            <a:ext cx="374958" cy="143789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9"/>
          <p:cNvSpPr/>
          <p:nvPr/>
        </p:nvSpPr>
        <p:spPr>
          <a:xfrm>
            <a:off x="8689518" y="292379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9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9"/>
          <p:cNvSpPr/>
          <p:nvPr/>
        </p:nvSpPr>
        <p:spPr>
          <a:xfrm>
            <a:off x="9439436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19"/>
          <p:cNvSpPr/>
          <p:nvPr/>
        </p:nvSpPr>
        <p:spPr>
          <a:xfrm>
            <a:off x="9314450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19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9"/>
          <p:cNvSpPr/>
          <p:nvPr/>
        </p:nvSpPr>
        <p:spPr>
          <a:xfrm>
            <a:off x="10064367" y="3454908"/>
            <a:ext cx="374958" cy="107137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19"/>
          <p:cNvSpPr/>
          <p:nvPr/>
        </p:nvSpPr>
        <p:spPr>
          <a:xfrm>
            <a:off x="9939381" y="329031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9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9"/>
          <p:cNvSpPr/>
          <p:nvPr/>
        </p:nvSpPr>
        <p:spPr>
          <a:xfrm>
            <a:off x="10689298" y="3379724"/>
            <a:ext cx="374958" cy="114655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9"/>
          <p:cNvSpPr/>
          <p:nvPr/>
        </p:nvSpPr>
        <p:spPr>
          <a:xfrm>
            <a:off x="10564312" y="321513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9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9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평일 76.3%  ·  주말 23.6%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9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9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19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9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귀성·여행 · 개학 · 가을 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9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여행 리뷰 · 가을 감성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9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19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19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단풍 나들이 · 가을 축제 · 한글날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9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나들이 상황 · 축제 후기 · 할로윈 리액션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19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9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19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응원 · 빼빼로데이 · 블랙 프라이데이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문구 · 쇼핑 리뷰 · 내돈내산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9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9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결산 · 송년 인사 · 새해 준비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감사·송년 인사 · 회고 문구 · 새해 계획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2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6" name="Google Shape;846;p2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7" name="Google Shape;847;p2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2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2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2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고해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1" name="Google Shape;851;p20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p20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20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20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20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0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0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58" name="Google Shape;85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p20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0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20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통해 실제 NAVER OGQ마켓에서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20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0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0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0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0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0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키워드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0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0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20"/>
          <p:cNvSpPr/>
          <p:nvPr/>
        </p:nvSpPr>
        <p:spPr>
          <a:xfrm>
            <a:off x="3593488" y="2523744"/>
            <a:ext cx="857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</a:t>
            </a:r>
            <a:b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(이모티콘)</a:t>
            </a: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0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75" name="Google Shape;87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76" name="Google Shape;876;p20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0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20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0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0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20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20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20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20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b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0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20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20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20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0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20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0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92" name="Google Shape;89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p20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20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20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20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20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20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블로그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0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0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0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트렌드에 따른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0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20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20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20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20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0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0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09" name="Google Shape;909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20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20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20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20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20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20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0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20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20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0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20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20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20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20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20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20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26" name="Google Shape;92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27" name="Google Shape;927;p20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20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20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20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0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20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0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2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2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21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1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21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2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2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8" name="Google Shape;958;p2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9" name="Google Shape;959;p2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2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2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이모티콘을 실시간 인기순으로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2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실시간 마켓 트렌드를 확인해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preencoded.png" id="963" name="Google Shape;96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97770" cy="1461587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4" name="Google Shape;964;p22"/>
          <p:cNvSpPr/>
          <p:nvPr/>
        </p:nvSpPr>
        <p:spPr>
          <a:xfrm>
            <a:off x="3562557" y="2221992"/>
            <a:ext cx="1369798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22"/>
          <p:cNvSpPr/>
          <p:nvPr/>
        </p:nvSpPr>
        <p:spPr>
          <a:xfrm>
            <a:off x="3562557" y="2221992"/>
            <a:ext cx="136979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피처드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6" name="Google Shape;96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770894"/>
            <a:ext cx="4197770" cy="1951443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7" name="Google Shape;967;p22"/>
          <p:cNvSpPr/>
          <p:nvPr/>
        </p:nvSpPr>
        <p:spPr>
          <a:xfrm>
            <a:off x="3385809" y="3844046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3385809" y="3844046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이모티콘 탭 · 인기순 정렬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22"/>
          <p:cNvSpPr/>
          <p:nvPr/>
        </p:nvSpPr>
        <p:spPr>
          <a:xfrm>
            <a:off x="822960" y="5906261"/>
            <a:ext cx="4197900" cy="27420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22"/>
          <p:cNvSpPr/>
          <p:nvPr/>
        </p:nvSpPr>
        <p:spPr>
          <a:xfrm>
            <a:off x="822960" y="5906261"/>
            <a:ext cx="4197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› 홈 ‘인기 이모티콘’ / 이모티콘 탭 ‘인기순’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5330039" y="2148840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22"/>
          <p:cNvSpPr/>
          <p:nvPr/>
        </p:nvSpPr>
        <p:spPr>
          <a:xfrm>
            <a:off x="548911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548911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6081219" y="2350008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 이모티콘’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6081219" y="2642616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메인 홈 인기 이모티콘을 통해 실시간 인기차트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5330039" y="3300984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548911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22"/>
          <p:cNvSpPr/>
          <p:nvPr/>
        </p:nvSpPr>
        <p:spPr>
          <a:xfrm>
            <a:off x="548911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6081219" y="3502152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탭에서 ‘인기순’ 정렬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6081219" y="3794760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목록의 인기순에서도 인기 차트 확인 가능 (‘움직이는 이모티콘’ 체크 별도 확인 가능)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5330039" y="4453128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22"/>
          <p:cNvSpPr/>
          <p:nvPr/>
        </p:nvSpPr>
        <p:spPr>
          <a:xfrm>
            <a:off x="548911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548911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22"/>
          <p:cNvSpPr/>
          <p:nvPr/>
        </p:nvSpPr>
        <p:spPr>
          <a:xfrm>
            <a:off x="6081219" y="4654296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6081219" y="4946904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2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3" name="Google Shape;993;p2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4" name="Google Shape;994;p23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2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2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2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</a:t>
            </a:r>
            <a:r>
              <a:rPr b="1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 25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23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23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23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23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3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87.6%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3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23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37.4%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23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23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28.9%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23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23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23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23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51.9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3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3"/>
          <p:cNvSpPr/>
          <p:nvPr/>
        </p:nvSpPr>
        <p:spPr>
          <a:xfrm>
            <a:off x="2104384" y="3913632"/>
            <a:ext cx="88288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23"/>
          <p:cNvSpPr/>
          <p:nvPr/>
        </p:nvSpPr>
        <p:spPr>
          <a:xfrm>
            <a:off x="3040298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17.0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3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3"/>
          <p:cNvSpPr/>
          <p:nvPr/>
        </p:nvSpPr>
        <p:spPr>
          <a:xfrm>
            <a:off x="2104384" y="4261104"/>
            <a:ext cx="86730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23"/>
          <p:cNvSpPr/>
          <p:nvPr/>
        </p:nvSpPr>
        <p:spPr>
          <a:xfrm>
            <a:off x="3024718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16.7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3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23"/>
          <p:cNvSpPr/>
          <p:nvPr/>
        </p:nvSpPr>
        <p:spPr>
          <a:xfrm>
            <a:off x="2104384" y="4608576"/>
            <a:ext cx="74785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23"/>
          <p:cNvSpPr/>
          <p:nvPr/>
        </p:nvSpPr>
        <p:spPr>
          <a:xfrm>
            <a:off x="2905268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4" name="Google Shape;1024;p23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5" name="Google Shape;1025;p23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표정·제스처 리액션, 개그 성격 51.9%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23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동물 캐릭터 — 텍스트 비중은 낮게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23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초성체·밈 문구를 캐릭터에 결합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23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기반, 방송인 유행어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1" name="Google Shape;1031;p23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{220A5F87-FC11-4A6F-996B-1B240ED14353}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89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감탄사·의성어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짧은 대사·문장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 의인화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76.6%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캐릭터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51.9%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감성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 저채도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방송 채팅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 대화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2" name="Google Shape;1032;p2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2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이모티콘 분석  </a:t>
            </a:r>
            <a:r>
              <a:rPr b="1" lang="en-US" sz="105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매출 상위 이모티콘 분석 데이터를 참고해 주세요.</a:t>
            </a:r>
            <a:endParaRPr b="1" sz="1050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34" name="Google Shape;1034;p2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2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1" name="Google Shape;1041;p2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2" name="Google Shape;1042;p2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2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2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시청자가 채팅을 치는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2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라이브 방송의 흐름을 참고하여 이모티콘으로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SOOP 실시간 스트리밍은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실시간 채팅창에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24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24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52" name="Google Shape;10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53" name="Google Shape;1053;p24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24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채팅창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4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채팅은 ‘읽는 것’이 아니라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‘순식간에 알아보는 것’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24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24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24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24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24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 클로즈업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24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자막 없이 표정만으로 읽히게. 작은 채팅창에서도 한눈에 알아보는 크기와 대비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고려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24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24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4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24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볼터치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24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24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 표정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24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24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4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24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72" name="Google Shape;107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24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4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4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대신 움직이는 이모티콘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대세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24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24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24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24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24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‘움티’ 루프 모션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4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1~2초 루프로 빠르게 지나가는 채팅창에서도 눈에 띄도록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24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3" name="Google Shape;1083;p24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4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5" name="Google Shape;1085;p24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24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p24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루프 모션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24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24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24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24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2" name="Google Shape;109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93" name="Google Shape;1093;p24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24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 대세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24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시리즈가 매출을 만든다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매출의 28.9%가 2탄·3탄·확대 ver 등 시리즈물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" name="Google Shape;1096;p24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24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24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24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24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만든 캐릭터 1종 → 확장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24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 온 캐릭터를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시리즈물로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24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24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24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24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2탄, 3탄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24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24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 ver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24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24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 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24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24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12" name="Google Shape;1112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13" name="Google Shape;1113;p24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24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" name="Google Shape;1115;p24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순간엔 강하게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굵은 선 · 큰 동작으로 순간을 강조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24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24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24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24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" name="Google Shape;1120;p24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후원·응원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24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순간에 사용하는 이모티콘은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눈에 잘띄는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형광·원색 포인트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등으로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" name="Google Shape;1122;p24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24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24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24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24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24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24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24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" name="Google Shape;1130;p24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24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32" name="Google Shape;1132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33" name="Google Shape;1133;p24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24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24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스트리머 전용 밈·유행어는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매출은 높으나 아직도 공급 부족 현상 지속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24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24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24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24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0" name="Google Shape;1140;p24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방송인 유행어 아카이브형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24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방송에서 반복되는 은어·유행어·팬덤 인사를 이모티콘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사전 조사를 통해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24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24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24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5" name="Google Shape;1145;p24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은어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24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24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24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24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전용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24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24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2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9" name="Google Shape;1159;p2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0" name="Google Shape;1160;p25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1" name="Google Shape;1161;p2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24종 이미지의 순서는 ‘방송 흐름’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2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이용자의 사용 패턴을 참고하여 이모티콘을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6" name="Google Shape;1166;p25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5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5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25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 들어와 처음 치는 채팅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0" name="Google Shape;1170;p25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하이 · 안녕 · O하~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25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25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5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5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4~10번 · 7장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5" name="Google Shape;1175;p25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방송을 보면서 흘리듯 치는 가벼운 반응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6" name="Google Shape;1176;p25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ㅋㅋㅋ · ㅇㅈ · 확인 · 굿 · 두둥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7" name="Google Shape;1177;p25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5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5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5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11~20번 · 10장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1" name="Google Shape;1181;p25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사건에 대한 반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응, 리액션 등 비중 큰 이미지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2" name="Google Shape;1182;p25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오열 · 심쿵 · 속터져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25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25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25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25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21~22번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25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도발·항의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 강렬한 이모티콘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25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안돼 · 그만 · 어쩌라고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25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25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25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25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3" name="Google Shape;1193;p25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마무리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25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화이팅 · 바이 · O바~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5" name="Google Shape;1195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25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25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25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5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1" name="Google Shape;1201;p25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5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25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5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25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5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25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5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9" name="Google Shape;1209;p25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5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25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5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25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5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25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5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7" name="Google Shape;1217;p25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5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25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5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1" name="Google Shape;1221;p25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5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25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5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5" name="Google Shape;1225;p25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25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7" name="Google Shape;1227;p25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5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9" name="Google Shape;1229;p25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25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25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25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3" name="Google Shape;1233;p25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5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25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6" name="Google Shape;1236;p25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25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25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25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25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1" name="Google Shape;1241;p25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25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3" name="Google Shape;1243;p25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5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5" name="Google Shape;1245;p25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5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7" name="Google Shape;1247;p25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25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</a:t>
            </a:r>
            <a:r>
              <a:rPr b="1" lang="en-US" sz="8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시작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,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가장 많이 사용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할 것 같은 이미지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9" name="Google Shape;1249;p25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리액션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방송마다 사용하는 인기 리액션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25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감정을 가장 많이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중 10장은 감정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표현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드러나도록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25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시작은 등장 인사, 마지막 장은 작별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중 다수가 인사로 시작과 종료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25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25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2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2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1" name="Google Shape;1261;p2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2" name="Google Shape;1262;p2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3" name="Google Shape;1263;p2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2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스트리머 방송 시간에 이모티콘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5" name="Google Shape;1265;p2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원하는 시간에 출시 예약을 설정할 수 있습니다. 전략적으로 이용해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6" name="Google Shape;1266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8" name="Google Shape;1268;p26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9" name="Google Shape;1269;p26"/>
          <p:cNvSpPr/>
          <p:nvPr/>
        </p:nvSpPr>
        <p:spPr>
          <a:xfrm>
            <a:off x="998198" y="3368842"/>
            <a:ext cx="139262" cy="115743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26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1" name="Google Shape;1271;p26"/>
          <p:cNvSpPr/>
          <p:nvPr/>
        </p:nvSpPr>
        <p:spPr>
          <a:xfrm>
            <a:off x="1222816" y="3600330"/>
            <a:ext cx="139262" cy="92595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p26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26"/>
          <p:cNvSpPr/>
          <p:nvPr/>
        </p:nvSpPr>
        <p:spPr>
          <a:xfrm>
            <a:off x="1447433" y="3849624"/>
            <a:ext cx="139262" cy="67665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26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5" name="Google Shape;1275;p26"/>
          <p:cNvSpPr/>
          <p:nvPr/>
        </p:nvSpPr>
        <p:spPr>
          <a:xfrm>
            <a:off x="1672051" y="4063305"/>
            <a:ext cx="139262" cy="4629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26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26"/>
          <p:cNvSpPr/>
          <p:nvPr/>
        </p:nvSpPr>
        <p:spPr>
          <a:xfrm>
            <a:off x="1896668" y="4223565"/>
            <a:ext cx="139262" cy="30271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26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26"/>
          <p:cNvSpPr/>
          <p:nvPr/>
        </p:nvSpPr>
        <p:spPr>
          <a:xfrm>
            <a:off x="2121286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26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1" name="Google Shape;1281;p26"/>
          <p:cNvSpPr/>
          <p:nvPr/>
        </p:nvSpPr>
        <p:spPr>
          <a:xfrm>
            <a:off x="2345903" y="4312599"/>
            <a:ext cx="139262" cy="21368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26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3" name="Google Shape;1283;p26"/>
          <p:cNvSpPr/>
          <p:nvPr/>
        </p:nvSpPr>
        <p:spPr>
          <a:xfrm>
            <a:off x="2570521" y="4330406"/>
            <a:ext cx="139262" cy="19587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26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5" name="Google Shape;1285;p26"/>
          <p:cNvSpPr/>
          <p:nvPr/>
        </p:nvSpPr>
        <p:spPr>
          <a:xfrm>
            <a:off x="2439469" y="4184102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26"/>
          <p:cNvSpPr/>
          <p:nvPr/>
        </p:nvSpPr>
        <p:spPr>
          <a:xfrm>
            <a:off x="2795138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26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26"/>
          <p:cNvSpPr/>
          <p:nvPr/>
        </p:nvSpPr>
        <p:spPr>
          <a:xfrm>
            <a:off x="3019756" y="4241372"/>
            <a:ext cx="139262" cy="28490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26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0" name="Google Shape;1290;p26"/>
          <p:cNvSpPr/>
          <p:nvPr/>
        </p:nvSpPr>
        <p:spPr>
          <a:xfrm>
            <a:off x="3244374" y="4152339"/>
            <a:ext cx="139262" cy="37394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26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26"/>
          <p:cNvSpPr/>
          <p:nvPr/>
        </p:nvSpPr>
        <p:spPr>
          <a:xfrm>
            <a:off x="3468991" y="4081112"/>
            <a:ext cx="139262" cy="44516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26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26"/>
          <p:cNvSpPr/>
          <p:nvPr/>
        </p:nvSpPr>
        <p:spPr>
          <a:xfrm>
            <a:off x="3693609" y="4009885"/>
            <a:ext cx="139262" cy="51639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26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6" name="Google Shape;1296;p26"/>
          <p:cNvSpPr/>
          <p:nvPr/>
        </p:nvSpPr>
        <p:spPr>
          <a:xfrm>
            <a:off x="3918226" y="3956464"/>
            <a:ext cx="139262" cy="56981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26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8" name="Google Shape;1298;p26"/>
          <p:cNvSpPr/>
          <p:nvPr/>
        </p:nvSpPr>
        <p:spPr>
          <a:xfrm>
            <a:off x="4142844" y="3867431"/>
            <a:ext cx="139262" cy="6588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26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0" name="Google Shape;1300;p26"/>
          <p:cNvSpPr/>
          <p:nvPr/>
        </p:nvSpPr>
        <p:spPr>
          <a:xfrm>
            <a:off x="4367461" y="3814011"/>
            <a:ext cx="139262" cy="71226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26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26"/>
          <p:cNvSpPr/>
          <p:nvPr/>
        </p:nvSpPr>
        <p:spPr>
          <a:xfrm>
            <a:off x="4592079" y="3618136"/>
            <a:ext cx="139262" cy="90814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26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4" name="Google Shape;1304;p26"/>
          <p:cNvSpPr/>
          <p:nvPr/>
        </p:nvSpPr>
        <p:spPr>
          <a:xfrm>
            <a:off x="4816696" y="3653750"/>
            <a:ext cx="139262" cy="87253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26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6" name="Google Shape;1306;p26"/>
          <p:cNvSpPr/>
          <p:nvPr/>
        </p:nvSpPr>
        <p:spPr>
          <a:xfrm>
            <a:off x="5041314" y="3511296"/>
            <a:ext cx="139262" cy="101498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26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8" name="Google Shape;1308;p26"/>
          <p:cNvSpPr/>
          <p:nvPr/>
        </p:nvSpPr>
        <p:spPr>
          <a:xfrm>
            <a:off x="5265931" y="3262002"/>
            <a:ext cx="139262" cy="12642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26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0" name="Google Shape;1310;p26"/>
          <p:cNvSpPr/>
          <p:nvPr/>
        </p:nvSpPr>
        <p:spPr>
          <a:xfrm>
            <a:off x="5490549" y="3119548"/>
            <a:ext cx="139262" cy="140673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26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2" name="Google Shape;1312;p26"/>
          <p:cNvSpPr/>
          <p:nvPr/>
        </p:nvSpPr>
        <p:spPr>
          <a:xfrm>
            <a:off x="5715167" y="3066128"/>
            <a:ext cx="139262" cy="146015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26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4" name="Google Shape;1314;p26"/>
          <p:cNvSpPr/>
          <p:nvPr/>
        </p:nvSpPr>
        <p:spPr>
          <a:xfrm>
            <a:off x="5939784" y="3012707"/>
            <a:ext cx="139262" cy="151357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26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26"/>
          <p:cNvSpPr/>
          <p:nvPr/>
        </p:nvSpPr>
        <p:spPr>
          <a:xfrm>
            <a:off x="5808733" y="286640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8.5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26"/>
          <p:cNvSpPr/>
          <p:nvPr/>
        </p:nvSpPr>
        <p:spPr>
          <a:xfrm>
            <a:off x="6164402" y="3155161"/>
            <a:ext cx="139262" cy="137111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26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9" name="Google Shape;1319;p26"/>
          <p:cNvSpPr/>
          <p:nvPr/>
        </p:nvSpPr>
        <p:spPr>
          <a:xfrm>
            <a:off x="4980962" y="2816352"/>
            <a:ext cx="1383054" cy="1728216"/>
          </a:xfrm>
          <a:prstGeom prst="roundRect">
            <a:avLst>
              <a:gd fmla="val 3195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26"/>
          <p:cNvSpPr/>
          <p:nvPr/>
        </p:nvSpPr>
        <p:spPr>
          <a:xfrm>
            <a:off x="3584651" y="2633472"/>
            <a:ext cx="276169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18~23시 집중 구간 — 하루 매출의 45%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26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4" name="Google Shape;1324;p26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5" name="Google Shape;1325;p26"/>
          <p:cNvSpPr/>
          <p:nvPr/>
        </p:nvSpPr>
        <p:spPr>
          <a:xfrm>
            <a:off x="6939711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26"/>
          <p:cNvSpPr/>
          <p:nvPr/>
        </p:nvSpPr>
        <p:spPr>
          <a:xfrm>
            <a:off x="6814725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7" name="Google Shape;1327;p26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8" name="Google Shape;1328;p26"/>
          <p:cNvSpPr/>
          <p:nvPr/>
        </p:nvSpPr>
        <p:spPr>
          <a:xfrm>
            <a:off x="7564642" y="3210560"/>
            <a:ext cx="374958" cy="1315720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26"/>
          <p:cNvSpPr/>
          <p:nvPr/>
        </p:nvSpPr>
        <p:spPr>
          <a:xfrm>
            <a:off x="7439655" y="304596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26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26"/>
          <p:cNvSpPr/>
          <p:nvPr/>
        </p:nvSpPr>
        <p:spPr>
          <a:xfrm>
            <a:off x="8189573" y="3266948"/>
            <a:ext cx="374958" cy="125933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26"/>
          <p:cNvSpPr/>
          <p:nvPr/>
        </p:nvSpPr>
        <p:spPr>
          <a:xfrm>
            <a:off x="8064587" y="310235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26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26"/>
          <p:cNvSpPr/>
          <p:nvPr/>
        </p:nvSpPr>
        <p:spPr>
          <a:xfrm>
            <a:off x="8814505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26"/>
          <p:cNvSpPr/>
          <p:nvPr/>
        </p:nvSpPr>
        <p:spPr>
          <a:xfrm>
            <a:off x="8689518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26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7" name="Google Shape;1337;p26"/>
          <p:cNvSpPr/>
          <p:nvPr/>
        </p:nvSpPr>
        <p:spPr>
          <a:xfrm>
            <a:off x="9439436" y="3031998"/>
            <a:ext cx="374958" cy="149428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26"/>
          <p:cNvSpPr/>
          <p:nvPr/>
        </p:nvSpPr>
        <p:spPr>
          <a:xfrm>
            <a:off x="9314450" y="286740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9" name="Google Shape;1339;p26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26"/>
          <p:cNvSpPr/>
          <p:nvPr/>
        </p:nvSpPr>
        <p:spPr>
          <a:xfrm>
            <a:off x="10064367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26"/>
          <p:cNvSpPr/>
          <p:nvPr/>
        </p:nvSpPr>
        <p:spPr>
          <a:xfrm>
            <a:off x="9939381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26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3" name="Google Shape;1343;p26"/>
          <p:cNvSpPr/>
          <p:nvPr/>
        </p:nvSpPr>
        <p:spPr>
          <a:xfrm>
            <a:off x="10689298" y="3285744"/>
            <a:ext cx="374958" cy="124053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26"/>
          <p:cNvSpPr/>
          <p:nvPr/>
        </p:nvSpPr>
        <p:spPr>
          <a:xfrm>
            <a:off x="10564312" y="312115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5" name="Google Shape;1345;p26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6" name="Google Shape;1346;p26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목·금 31.6%  ·  주말 27.1%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7" name="Google Shape;1347;p26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26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26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26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LCK 결승(9/13) · 추석(9/24~26) · 아시안게임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26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응원·승리 리액션 · 명절 인사 · 국대 응원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2" name="Google Shape;1352;p26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26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26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개막(10/15) · 할로윈 · 가을 신규 방송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26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LCK 응원 · 할로윈 리액션 · 첫 방송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6" name="Google Shape;1356;p26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26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26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결승(11/14) · 수능(11/19) · 빼빼로데이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26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우승 축하 리액션 · 수능 응원 · 고백·선물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0" name="Google Shape;1360;p26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26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26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대상 시상식(12월 말) · 크리스마스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26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수상 축하·감사 · 연말 결산 리액션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2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2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2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p2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3" name="Google Shape;1373;p2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4" name="Google Shape;1374;p2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5" name="Google Shape;1375;p2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2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7" name="Google Shape;1377;p2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8" name="Google Shape;1378;p27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9" name="Google Shape;1379;p27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0" name="Google Shape;1380;p27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p27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27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3" name="Google Shape;1383;p27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4" name="Google Shape;1384;p27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85" name="Google Shape;138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386" name="Google Shape;1386;p27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p27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8" name="Google Shape;1388;p27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인기 이모티콘 큐레이션과 인기순 정렬로 실제 SOOP에서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9" name="Google Shape;1389;p27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27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27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큐레이션 · 인기순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27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27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27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순위 기록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27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27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27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27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27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0" name="Google Shape;1400;p27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b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1" name="Google Shape;1401;p27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02" name="Google Shape;140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03" name="Google Shape;1403;p27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27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lang="en-US" sz="1150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5" name="Google Shape;1405;p27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6" name="Google Shape;1406;p27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27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p27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27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27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27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2" name="Google Shape;1412;p27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27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27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27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27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7" name="Google Shape;1417;p27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8" name="Google Shape;1418;p27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19" name="Google Shape;141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20" name="Google Shape;1420;p27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27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2" name="Google Shape;1422;p27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27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27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27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27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27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27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트렌드에 따른 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9" name="Google Shape;1429;p27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27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27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27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27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4" name="Google Shape;1434;p27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5" name="Google Shape;1435;p27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36" name="Google Shape;143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37" name="Google Shape;1437;p27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27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27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0" name="Google Shape;1440;p27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27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27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27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27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27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6" name="Google Shape;1446;p27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27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27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9" name="Google Shape;1449;p27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27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1" name="Google Shape;1451;p27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2" name="Google Shape;1452;p27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53" name="Google Shape;1453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54" name="Google Shape;1454;p27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27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6" name="Google Shape;1456;p27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7" name="Google Shape;1457;p27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27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9" name="Google Shape;1459;p27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27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27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27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3" name="Google Shape;1463;p27"/>
          <p:cNvSpPr/>
          <p:nvPr/>
        </p:nvSpPr>
        <p:spPr>
          <a:xfrm>
            <a:off x="822960" y="5798928"/>
            <a:ext cx="10542900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27"/>
          <p:cNvSpPr/>
          <p:nvPr/>
        </p:nvSpPr>
        <p:spPr>
          <a:xfrm>
            <a:off x="999439" y="5798928"/>
            <a:ext cx="101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5" name="Google Shape;1465;p2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Google Shape;1471;p28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28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28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28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28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6" name="Google Shape;1476;p28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7" name="Google Shape;1477;p28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8" name="Google Shape;1478;p28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483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2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5" name="Google Shape;1485;p2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6" name="Google Shape;1486;p29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7" name="Google Shape;1487;p2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p2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실시간으로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9" name="Google Shape;1489;p2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lang="en-US" sz="12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실시간 마켓 트렌드를 확인해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preencoded.png" id="1490" name="Google Shape;149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3093094" cy="1535258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1" name="Google Shape;1491;p29"/>
          <p:cNvSpPr/>
          <p:nvPr/>
        </p:nvSpPr>
        <p:spPr>
          <a:xfrm>
            <a:off x="2281132" y="2221992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2" name="Google Shape;1492;p29"/>
          <p:cNvSpPr/>
          <p:nvPr/>
        </p:nvSpPr>
        <p:spPr>
          <a:xfrm>
            <a:off x="2281132" y="2221992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‘인기차트’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3" name="Google Shape;1493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847064"/>
            <a:ext cx="3093094" cy="194670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4" name="Google Shape;1494;p29"/>
          <p:cNvSpPr/>
          <p:nvPr/>
        </p:nvSpPr>
        <p:spPr>
          <a:xfrm>
            <a:off x="2369507" y="3920216"/>
            <a:ext cx="1458172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29"/>
          <p:cNvSpPr/>
          <p:nvPr/>
        </p:nvSpPr>
        <p:spPr>
          <a:xfrm>
            <a:off x="2369507" y="3920216"/>
            <a:ext cx="14581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인기 탭 · 실시간 순위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29"/>
          <p:cNvSpPr/>
          <p:nvPr/>
        </p:nvSpPr>
        <p:spPr>
          <a:xfrm>
            <a:off x="822960" y="5961888"/>
            <a:ext cx="3093094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7" name="Google Shape;1497;p29"/>
          <p:cNvSpPr/>
          <p:nvPr/>
        </p:nvSpPr>
        <p:spPr>
          <a:xfrm>
            <a:off x="822960" y="5961888"/>
            <a:ext cx="30930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› 홈 ‘인기차트’ / ‘인기’ 탭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29"/>
          <p:cNvSpPr/>
          <p:nvPr/>
        </p:nvSpPr>
        <p:spPr>
          <a:xfrm>
            <a:off x="4136989" y="2148840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9" name="Google Shape;1499;p29"/>
          <p:cNvSpPr/>
          <p:nvPr/>
        </p:nvSpPr>
        <p:spPr>
          <a:xfrm>
            <a:off x="4296062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0" name="Google Shape;1500;p29"/>
          <p:cNvSpPr/>
          <p:nvPr/>
        </p:nvSpPr>
        <p:spPr>
          <a:xfrm>
            <a:off x="4296062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29"/>
          <p:cNvSpPr/>
          <p:nvPr/>
        </p:nvSpPr>
        <p:spPr>
          <a:xfrm>
            <a:off x="4888169" y="2350008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‘인기차트’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2" name="Google Shape;1502;p29"/>
          <p:cNvSpPr/>
          <p:nvPr/>
        </p:nvSpPr>
        <p:spPr>
          <a:xfrm>
            <a:off x="4888169" y="2642616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홈 인기차트 큐레이션을 통해 인기차트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3" name="Google Shape;1503;p29"/>
          <p:cNvSpPr/>
          <p:nvPr/>
        </p:nvSpPr>
        <p:spPr>
          <a:xfrm>
            <a:off x="4136989" y="3300984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4" name="Google Shape;1504;p29"/>
          <p:cNvSpPr/>
          <p:nvPr/>
        </p:nvSpPr>
        <p:spPr>
          <a:xfrm>
            <a:off x="4296062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5" name="Google Shape;1505;p29"/>
          <p:cNvSpPr/>
          <p:nvPr/>
        </p:nvSpPr>
        <p:spPr>
          <a:xfrm>
            <a:off x="4296062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6" name="Google Shape;1506;p29"/>
          <p:cNvSpPr/>
          <p:nvPr/>
        </p:nvSpPr>
        <p:spPr>
          <a:xfrm>
            <a:off x="4888169" y="3502152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‘인기’ 탭에서 전체 순위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7" name="Google Shape;1507;p29"/>
          <p:cNvSpPr/>
          <p:nvPr/>
        </p:nvSpPr>
        <p:spPr>
          <a:xfrm>
            <a:off x="4888169" y="3794760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탭에서 전체 실시간 인기 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8" name="Google Shape;1508;p29"/>
          <p:cNvSpPr/>
          <p:nvPr/>
        </p:nvSpPr>
        <p:spPr>
          <a:xfrm>
            <a:off x="4136989" y="4453128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9" name="Google Shape;1509;p29"/>
          <p:cNvSpPr/>
          <p:nvPr/>
        </p:nvSpPr>
        <p:spPr>
          <a:xfrm>
            <a:off x="4296062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0" name="Google Shape;1510;p29"/>
          <p:cNvSpPr/>
          <p:nvPr/>
        </p:nvSpPr>
        <p:spPr>
          <a:xfrm>
            <a:off x="4296062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1" name="Google Shape;1511;p29"/>
          <p:cNvSpPr/>
          <p:nvPr/>
        </p:nvSpPr>
        <p:spPr>
          <a:xfrm>
            <a:off x="4888169" y="4654296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1" i="0" sz="130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2" name="Google Shape;1512;p29"/>
          <p:cNvSpPr/>
          <p:nvPr/>
        </p:nvSpPr>
        <p:spPr>
          <a:xfrm>
            <a:off x="4888169" y="4946904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 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t/>
            </a:r>
            <a:endParaRPr b="0" i="0" sz="95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3" name="Google Shape;1513;p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18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3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0" name="Google Shape;1520;p3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1" name="Google Shape;1521;p30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2" name="Google Shape;1522;p3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3" name="Google Shape;1523;p3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4" name="Google Shape;1524;p3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매출액 기준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5" name="Google Shape;1525;p30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6" name="Google Shape;1526;p30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30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비중 (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기준)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30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9" name="Google Shape;1529;p30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99.4%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30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1" name="Google Shape;1531;p30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30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79.0%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3" name="Google Shape;1533;p30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비중 — 신조어는 10%뿐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0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30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90.6%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6" name="Google Shape;1536;p30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파스텔 톤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0"/>
          <p:cNvSpPr/>
          <p:nvPr/>
        </p:nvSpPr>
        <p:spPr>
          <a:xfrm>
            <a:off x="822960" y="3566160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30"/>
          <p:cNvSpPr/>
          <p:nvPr/>
        </p:nvSpPr>
        <p:spPr>
          <a:xfrm>
            <a:off x="2192758" y="3566160"/>
            <a:ext cx="2607036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30"/>
          <p:cNvSpPr/>
          <p:nvPr/>
        </p:nvSpPr>
        <p:spPr>
          <a:xfrm>
            <a:off x="4852819" y="356616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31.4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0"/>
          <p:cNvSpPr/>
          <p:nvPr/>
        </p:nvSpPr>
        <p:spPr>
          <a:xfrm>
            <a:off x="822960" y="3849624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30"/>
          <p:cNvSpPr/>
          <p:nvPr/>
        </p:nvSpPr>
        <p:spPr>
          <a:xfrm>
            <a:off x="2192758" y="3849624"/>
            <a:ext cx="242437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4" name="Google Shape;1544;p30"/>
          <p:cNvSpPr/>
          <p:nvPr/>
        </p:nvSpPr>
        <p:spPr>
          <a:xfrm>
            <a:off x="4670161" y="384962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29.2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0"/>
          <p:cNvSpPr/>
          <p:nvPr/>
        </p:nvSpPr>
        <p:spPr>
          <a:xfrm>
            <a:off x="822960" y="4133088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30"/>
          <p:cNvSpPr/>
          <p:nvPr/>
        </p:nvSpPr>
        <p:spPr>
          <a:xfrm>
            <a:off x="2192758" y="4133088"/>
            <a:ext cx="2042454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7" name="Google Shape;1547;p30"/>
          <p:cNvSpPr/>
          <p:nvPr/>
        </p:nvSpPr>
        <p:spPr>
          <a:xfrm>
            <a:off x="4288238" y="413308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p30"/>
          <p:cNvSpPr/>
          <p:nvPr/>
        </p:nvSpPr>
        <p:spPr>
          <a:xfrm>
            <a:off x="822960" y="4416552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연애·애정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30"/>
          <p:cNvSpPr/>
          <p:nvPr/>
        </p:nvSpPr>
        <p:spPr>
          <a:xfrm>
            <a:off x="2192758" y="4416552"/>
            <a:ext cx="797055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0" name="Google Shape;1550;p30"/>
          <p:cNvSpPr/>
          <p:nvPr/>
        </p:nvSpPr>
        <p:spPr>
          <a:xfrm>
            <a:off x="3042838" y="441655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9.6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1" name="Google Shape;1551;p30"/>
          <p:cNvSpPr/>
          <p:nvPr/>
        </p:nvSpPr>
        <p:spPr>
          <a:xfrm>
            <a:off x="822960" y="4700016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손글씨·문구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30"/>
          <p:cNvSpPr/>
          <p:nvPr/>
        </p:nvSpPr>
        <p:spPr>
          <a:xfrm>
            <a:off x="2192758" y="4700016"/>
            <a:ext cx="43173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3" name="Google Shape;1553;p30"/>
          <p:cNvSpPr/>
          <p:nvPr/>
        </p:nvSpPr>
        <p:spPr>
          <a:xfrm>
            <a:off x="2677521" y="470001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4" name="Google Shape;1554;p30"/>
          <p:cNvCxnSpPr/>
          <p:nvPr/>
        </p:nvCxnSpPr>
        <p:spPr>
          <a:xfrm>
            <a:off x="2192758" y="3520440"/>
            <a:ext cx="0" cy="1426464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5" name="Google Shape;1555;p30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안녕하세요·감사합니다 등의 인사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매출의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6" name="Google Shape;1556;p30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파스텔 캐릭터의 공감·응원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30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설날·명절 인사의 경우 시즌성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상품으로 인기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8" name="Google Shape;1558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9" name="Google Shape;1559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0" name="Google Shape;1560;p30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{220A5F87-FC11-4A6F-996B-1B240ED14353}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28.0%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85.1%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힐링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축하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1" name="Google Shape;1561;p3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3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이모티콘 분석  </a:t>
            </a:r>
            <a:r>
              <a:rPr b="1" lang="en-US" sz="105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매출 상위 이모티콘 분석 데이터를 참고해 주세요.</a:t>
            </a:r>
            <a:endParaRPr b="1" sz="1050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63" name="Google Shape;1563;p3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68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p3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0" name="Google Shape;1570;p3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1" name="Google Shape;1571;p3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3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3" name="Google Shape;1573;p31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문자를 보내는 ‘상대’와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31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채팅+(RCS 문자) 대화의 흐름을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채팅+ 메시지는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8" name="Google Shape;1578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9" name="Google Shape;1579;p31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0" name="Google Shape;1580;p31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581" name="Google Shape;158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2" name="Google Shape;1582;p31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31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31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문자는 예의 바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름을 중시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5" name="Google Shape;1585;p31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31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31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8" name="Google Shape;1588;p31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9" name="Google Shape;1589;p31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 인사·감사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31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가족·어른·거래처에게 보내도 되는 말투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인사와 감사 표현을 한 세트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1" name="Google Shape;1591;p31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31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31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4" name="Google Shape;1594;p31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5" name="Google Shape;1595;p31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6" name="Google Shape;1596;p31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수고하셨습니다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31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8" name="Google Shape;1598;p31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부탁드립니다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9" name="Google Shape;1599;p31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31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01" name="Google Shape;1601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02" name="Google Shape;1602;p31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31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사용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31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신조어보다 표준어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5" name="Google Shape;1605;p31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31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31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8" name="Google Shape;1608;p31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9" name="Google Shape;1609;p31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사회생활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0" name="Google Shape;1610;p31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직장·단체방에서 쓰는 확인·사과·요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청 등의 표현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1" name="Google Shape;1611;p31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2" name="Google Shape;1612;p31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알겠습니다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31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4" name="Google Shape;1614;p31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확인했습니다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5" name="Google Shape;1615;p31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6" name="Google Shape;1616;p31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7" name="Google Shape;1617;p31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8" name="Google Shape;1618;p31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잠시만요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9" name="Google Shape;1619;p31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0" name="Google Shape;1620;p31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21" name="Google Shape;1621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22" name="Google Shape;1622;p31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31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콘텐츠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31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명절·기념일에 매출 집중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세트 36~41% · 5월 감사 세트 급증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5" name="Google Shape;1625;p31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6" name="Google Shape;1626;p31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7" name="Google Shape;1627;p31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8" name="Google Shape;1628;p31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9" name="Google Shape;1629;p31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인사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31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설·추석·새해·어버이날·생일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시즌성 이모티콘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1" name="Google Shape;1631;p31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2" name="Google Shape;1632;p31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새해 복 많이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31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4" name="Google Shape;1634;p31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즐거운 명절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5" name="Google Shape;1635;p31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6" name="Google Shape;1636;p31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생일 축하해요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31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8" name="Google Shape;1638;p31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9" name="Google Shape;1639;p31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0" name="Google Shape;1640;p31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41" name="Google Shape;1641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42" name="Google Shape;1642;p31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31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4" name="Google Shape;1644;p31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귀엽고 움직이는 파스텔 캐릭터가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31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6" name="Google Shape;1646;p31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7" name="Google Shape;1647;p31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8" name="Google Shape;1648;p31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31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감정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0" name="Google Shape;1650;p31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공감·응원·놀람 같은 일상 감정을 짧은 루프로 문자 답장 한 번에 마음을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전달하는 표현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1" name="Google Shape;1651;p31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2" name="Google Shape;1652;p31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좋아요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1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4" name="Google Shape;1654;p31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31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6" name="Google Shape;1656;p31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31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8" name="Google Shape;1658;p31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9" name="Google Shape;1659;p31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0" name="Google Shape;1660;p31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61" name="Google Shape;1661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62" name="Google Shape;1662;p31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3" name="Google Shape;1663;p31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4" name="Google Shape;1664;p31"/>
          <p:cNvSpPr/>
          <p:nvPr/>
        </p:nvSpPr>
        <p:spPr>
          <a:xfrm>
            <a:off x="1423903" y="5477256"/>
            <a:ext cx="3269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연인·가족 간 애정 표현은 꾸준한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5" name="Google Shape;1665;p31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31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7" name="Google Shape;1667;p31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8" name="Google Shape;1668;p31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31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애정·응원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31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매일 주고받는 짧은 애정 메시지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p31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2" name="Google Shape;1672;p31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사랑해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31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4" name="Google Shape;1674;p31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 싶어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5" name="Google Shape;1675;p31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31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7" name="Google Shape;1677;p31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8" name="Google Shape;1678;p31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자요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31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0" name="Google Shape;1680;p31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p3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686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3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8" name="Google Shape;1688;p3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9" name="Google Shape;1689;p3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0" name="Google Shape;1690;p3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1" name="Google Shape;1691;p3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24장의 순서는 대화의 ‘흐름'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2" name="Google Shape;1692;p3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문자 메시지 이용자의 사용 패턴을 참고하여 이모티콘을 구성해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3" name="Google Shape;1693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32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6" name="Google Shape;1696;p32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32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8" name="Google Shape;1698;p32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대화를 여는 장면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9" name="Google Shape;1699;p32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좋은 아침 · 잘 지내셨어요?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32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1" name="Google Shape;1701;p32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2" name="Google Shape;1702;p32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3" name="Google Shape;1703;p32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4~11번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4" name="Google Shape;1704;p32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기쁨·감동·놀람·미안함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감정 표현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5" name="Google Shape;1705;p32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좋아요 · 감동 · 헉 · 힝 · 죄송해요 · 뿌듯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6" name="Google Shape;1706;p32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7" name="Google Shape;1707;p32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8" name="Google Shape;1708;p32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9" name="Google Shape;1709;p32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12~15번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p32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상대 말에 바로 답하는 짧은 반응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1" name="Google Shape;1711;p32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네! · 알겠습니다 · 화이팅 · 최고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p32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3" name="Google Shape;1713;p32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4" name="Google Shape;1714;p32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5" name="Google Shape;1715;p32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16~21번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32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출근·식사·이동·휴식 등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평소</a:t>
            </a: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상황</a:t>
            </a: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p32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출근 중 · 밥 먹자 · 가는 중 · 잠깐만 · 퇴근 · 쉬는 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8" name="Google Shape;1718;p32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9" name="Google Shape;1719;p32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32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1" name="Google Shape;1721;p32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22~24번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p32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인사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3" name="Google Shape;1723;p32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부탁드려요 · 감사합니다 · 잘 자요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5" name="Google Shape;1725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32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7" name="Google Shape;1727;p32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32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9" name="Google Shape;1729;p32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32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1" name="Google Shape;1731;p32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2" name="Google Shape;1732;p32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3" name="Google Shape;1733;p32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4" name="Google Shape;1734;p32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5" name="Google Shape;1735;p32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32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7" name="Google Shape;1737;p32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8" name="Google Shape;1738;p32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9" name="Google Shape;1739;p32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32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1" name="Google Shape;1741;p32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2" name="Google Shape;1742;p32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3" name="Google Shape;1743;p32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4" name="Google Shape;1744;p32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5" name="Google Shape;1745;p32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6" name="Google Shape;1746;p32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7" name="Google Shape;1747;p32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8" name="Google Shape;1748;p32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32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32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1" name="Google Shape;1751;p32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32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3" name="Google Shape;1753;p32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32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5" name="Google Shape;1755;p32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6" name="Google Shape;1756;p32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7" name="Google Shape;1757;p32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8" name="Google Shape;1758;p32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9" name="Google Shape;1759;p32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0" name="Google Shape;1760;p32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1" name="Google Shape;1761;p32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2" name="Google Shape;1762;p32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3" name="Google Shape;1763;p32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32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5" name="Google Shape;1765;p32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6" name="Google Shape;1766;p32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7" name="Google Shape;1767;p32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8" name="Google Shape;1768;p32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9" name="Google Shape;1769;p32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메시지·마무리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0" name="Google Shape;1770;p32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1" name="Google Shape;1771;p32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2" name="Google Shape;1772;p32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3" name="Google Shape;1773;p32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4" name="Google Shape;1774;p32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p32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6" name="Google Shape;1776;p32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2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</a:t>
            </a:r>
            <a:r>
              <a:rPr b="1" lang="en-US" sz="8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 장면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대한 표현을 중시하여 가장 앞단에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32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상황끼리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묶어 배치하면 사용성 증가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2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‘좋아요’ 옆에 ‘죄송해요’, ‘네!’ 옆에 ‘잠깐만’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선택지 옆 배치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32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메시지를 마무리하는 내용은 가장 후방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2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2" name="Google Shape;1782;p32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1" i="0" sz="1050" u="none" cap="none" strike="noStrike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3" name="Google Shape;1783;p3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88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p3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0" name="Google Shape;1790;p3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1" name="Google Shape;1791;p3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2" name="Google Shape;1792;p3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3" name="Google Shape;1793;p3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시간보다 시즌 — 시즌성 이모티콘에 대한 구매 수요 ▲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4" name="Google Shape;1794;p3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원하는 시간에 출시 예약을 설정할 수 있습니다. 전략적으로 이용해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5" name="Google Shape;1795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6" name="Google Shape;1796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비중 (%) — 2026년 상반기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7" name="Google Shape;1797;p33"/>
          <p:cNvCxnSpPr/>
          <p:nvPr/>
        </p:nvCxnSpPr>
        <p:spPr>
          <a:xfrm>
            <a:off x="1088082" y="4526280"/>
            <a:ext cx="512569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8" name="Google Shape;1798;p33"/>
          <p:cNvSpPr/>
          <p:nvPr/>
        </p:nvSpPr>
        <p:spPr>
          <a:xfrm>
            <a:off x="1280296" y="4071652"/>
            <a:ext cx="469855" cy="45462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9" name="Google Shape;1799;p33"/>
          <p:cNvSpPr/>
          <p:nvPr/>
        </p:nvSpPr>
        <p:spPr>
          <a:xfrm>
            <a:off x="1088082" y="3888772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8.6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33"/>
          <p:cNvSpPr/>
          <p:nvPr/>
        </p:nvSpPr>
        <p:spPr>
          <a:xfrm>
            <a:off x="1088082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1" name="Google Shape;1801;p33"/>
          <p:cNvSpPr/>
          <p:nvPr/>
        </p:nvSpPr>
        <p:spPr>
          <a:xfrm>
            <a:off x="2134579" y="3056668"/>
            <a:ext cx="469855" cy="146961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2" name="Google Shape;1802;p33"/>
          <p:cNvSpPr/>
          <p:nvPr/>
        </p:nvSpPr>
        <p:spPr>
          <a:xfrm>
            <a:off x="1942365" y="2873788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3" name="Google Shape;1803;p33"/>
          <p:cNvSpPr/>
          <p:nvPr/>
        </p:nvSpPr>
        <p:spPr>
          <a:xfrm>
            <a:off x="1942365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33"/>
          <p:cNvSpPr/>
          <p:nvPr/>
        </p:nvSpPr>
        <p:spPr>
          <a:xfrm>
            <a:off x="2988862" y="3469005"/>
            <a:ext cx="469855" cy="10572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5" name="Google Shape;1805;p33"/>
          <p:cNvSpPr/>
          <p:nvPr/>
        </p:nvSpPr>
        <p:spPr>
          <a:xfrm>
            <a:off x="2796648" y="3286125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6" name="Google Shape;1806;p33"/>
          <p:cNvSpPr/>
          <p:nvPr/>
        </p:nvSpPr>
        <p:spPr>
          <a:xfrm>
            <a:off x="2796648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33"/>
          <p:cNvSpPr/>
          <p:nvPr/>
        </p:nvSpPr>
        <p:spPr>
          <a:xfrm>
            <a:off x="3843145" y="3691033"/>
            <a:ext cx="469855" cy="83524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8" name="Google Shape;1808;p33"/>
          <p:cNvSpPr/>
          <p:nvPr/>
        </p:nvSpPr>
        <p:spPr>
          <a:xfrm>
            <a:off x="3650931" y="3508153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9" name="Google Shape;1809;p33"/>
          <p:cNvSpPr/>
          <p:nvPr/>
        </p:nvSpPr>
        <p:spPr>
          <a:xfrm>
            <a:off x="3650931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33"/>
          <p:cNvSpPr/>
          <p:nvPr/>
        </p:nvSpPr>
        <p:spPr>
          <a:xfrm>
            <a:off x="4697428" y="3796760"/>
            <a:ext cx="469855" cy="72952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1" name="Google Shape;1811;p33"/>
          <p:cNvSpPr/>
          <p:nvPr/>
        </p:nvSpPr>
        <p:spPr>
          <a:xfrm>
            <a:off x="4505214" y="3613880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2" name="Google Shape;1812;p33"/>
          <p:cNvSpPr/>
          <p:nvPr/>
        </p:nvSpPr>
        <p:spPr>
          <a:xfrm>
            <a:off x="4505214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33"/>
          <p:cNvSpPr/>
          <p:nvPr/>
        </p:nvSpPr>
        <p:spPr>
          <a:xfrm>
            <a:off x="5551711" y="3780901"/>
            <a:ext cx="469855" cy="74537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4" name="Google Shape;1814;p33"/>
          <p:cNvSpPr/>
          <p:nvPr/>
        </p:nvSpPr>
        <p:spPr>
          <a:xfrm>
            <a:off x="5359497" y="3598021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5" name="Google Shape;1815;p33"/>
          <p:cNvSpPr/>
          <p:nvPr/>
        </p:nvSpPr>
        <p:spPr>
          <a:xfrm>
            <a:off x="5359497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6월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33"/>
          <p:cNvSpPr/>
          <p:nvPr/>
        </p:nvSpPr>
        <p:spPr>
          <a:xfrm>
            <a:off x="1924690" y="2816352"/>
            <a:ext cx="889632" cy="1728216"/>
          </a:xfrm>
          <a:prstGeom prst="roundRect">
            <a:avLst>
              <a:gd fmla="val 4967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7" name="Google Shape;1817;p33"/>
          <p:cNvSpPr/>
          <p:nvPr/>
        </p:nvSpPr>
        <p:spPr>
          <a:xfrm>
            <a:off x="1942365" y="2615184"/>
            <a:ext cx="39768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 — 1월의 3.2배 · 명절 테마가 그 달 매출의 39.2%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8" name="Google Shape;1818;p33"/>
          <p:cNvSpPr/>
          <p:nvPr/>
        </p:nvSpPr>
        <p:spPr>
          <a:xfrm>
            <a:off x="822960" y="4754880"/>
            <a:ext cx="565594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· 4~5월 가정의 달(인사·감사)이 두 번의 성수기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0" name="Google Shape;1820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TOP25 중 시즌·인사 세트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21" name="Google Shape;1821;p33"/>
          <p:cNvCxnSpPr/>
          <p:nvPr/>
        </p:nvCxnSpPr>
        <p:spPr>
          <a:xfrm>
            <a:off x="6858912" y="4526280"/>
            <a:ext cx="4286144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2" name="Google Shape;1822;p33"/>
          <p:cNvSpPr/>
          <p:nvPr/>
        </p:nvSpPr>
        <p:spPr>
          <a:xfrm>
            <a:off x="7029827" y="3714293"/>
            <a:ext cx="240024" cy="811987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3" name="Google Shape;1823;p33"/>
          <p:cNvSpPr/>
          <p:nvPr/>
        </p:nvSpPr>
        <p:spPr>
          <a:xfrm>
            <a:off x="6941453" y="355884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33"/>
          <p:cNvSpPr/>
          <p:nvPr/>
        </p:nvSpPr>
        <p:spPr>
          <a:xfrm>
            <a:off x="7305201" y="3915034"/>
            <a:ext cx="240024" cy="6112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5" name="Google Shape;1825;p33"/>
          <p:cNvSpPr/>
          <p:nvPr/>
        </p:nvSpPr>
        <p:spPr>
          <a:xfrm>
            <a:off x="7216827" y="375958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6" name="Google Shape;1826;p33"/>
          <p:cNvSpPr/>
          <p:nvPr/>
        </p:nvSpPr>
        <p:spPr>
          <a:xfrm>
            <a:off x="6858912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7" name="Google Shape;1827;p33"/>
          <p:cNvSpPr/>
          <p:nvPr/>
        </p:nvSpPr>
        <p:spPr>
          <a:xfrm>
            <a:off x="7887056" y="3599261"/>
            <a:ext cx="240024" cy="927019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8" name="Google Shape;1828;p33"/>
          <p:cNvSpPr/>
          <p:nvPr/>
        </p:nvSpPr>
        <p:spPr>
          <a:xfrm>
            <a:off x="7798682" y="344381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9" name="Google Shape;1829;p33"/>
          <p:cNvSpPr/>
          <p:nvPr/>
        </p:nvSpPr>
        <p:spPr>
          <a:xfrm>
            <a:off x="8162430" y="4118031"/>
            <a:ext cx="240024" cy="40824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0" name="Google Shape;1830;p33"/>
          <p:cNvSpPr/>
          <p:nvPr/>
        </p:nvSpPr>
        <p:spPr>
          <a:xfrm>
            <a:off x="8074056" y="396258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33"/>
          <p:cNvSpPr/>
          <p:nvPr/>
        </p:nvSpPr>
        <p:spPr>
          <a:xfrm>
            <a:off x="7716141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p33"/>
          <p:cNvSpPr/>
          <p:nvPr/>
        </p:nvSpPr>
        <p:spPr>
          <a:xfrm>
            <a:off x="9019659" y="3930823"/>
            <a:ext cx="240024" cy="59545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3" name="Google Shape;1833;p33"/>
          <p:cNvSpPr/>
          <p:nvPr/>
        </p:nvSpPr>
        <p:spPr>
          <a:xfrm>
            <a:off x="8931285" y="377537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p33"/>
          <p:cNvSpPr/>
          <p:nvPr/>
        </p:nvSpPr>
        <p:spPr>
          <a:xfrm>
            <a:off x="8573369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33"/>
          <p:cNvSpPr/>
          <p:nvPr/>
        </p:nvSpPr>
        <p:spPr>
          <a:xfrm>
            <a:off x="9876888" y="2958694"/>
            <a:ext cx="240024" cy="15675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6" name="Google Shape;1836;p33"/>
          <p:cNvSpPr/>
          <p:nvPr/>
        </p:nvSpPr>
        <p:spPr>
          <a:xfrm>
            <a:off x="9788514" y="280324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7" name="Google Shape;1837;p33"/>
          <p:cNvSpPr/>
          <p:nvPr/>
        </p:nvSpPr>
        <p:spPr>
          <a:xfrm>
            <a:off x="9430598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33"/>
          <p:cNvSpPr/>
          <p:nvPr/>
        </p:nvSpPr>
        <p:spPr>
          <a:xfrm>
            <a:off x="10734117" y="3130113"/>
            <a:ext cx="240024" cy="13961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9" name="Google Shape;1839;p33"/>
          <p:cNvSpPr/>
          <p:nvPr/>
        </p:nvSpPr>
        <p:spPr>
          <a:xfrm>
            <a:off x="10645742" y="297466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0" name="Google Shape;1840;p33"/>
          <p:cNvSpPr/>
          <p:nvPr/>
        </p:nvSpPr>
        <p:spPr>
          <a:xfrm>
            <a:off x="10287827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33"/>
          <p:cNvSpPr/>
          <p:nvPr/>
        </p:nvSpPr>
        <p:spPr>
          <a:xfrm>
            <a:off x="6858912" y="2551176"/>
            <a:ext cx="106048" cy="109728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2" name="Google Shape;1842;p33"/>
          <p:cNvSpPr/>
          <p:nvPr/>
        </p:nvSpPr>
        <p:spPr>
          <a:xfrm>
            <a:off x="6991473" y="2514600"/>
            <a:ext cx="1237237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시즌·기념일(설날)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3" name="Google Shape;1843;p33"/>
          <p:cNvSpPr/>
          <p:nvPr/>
        </p:nvSpPr>
        <p:spPr>
          <a:xfrm>
            <a:off x="8272897" y="2551176"/>
            <a:ext cx="106048" cy="10972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4" name="Google Shape;1844;p33"/>
          <p:cNvSpPr/>
          <p:nvPr/>
        </p:nvSpPr>
        <p:spPr>
          <a:xfrm>
            <a:off x="8405459" y="2514600"/>
            <a:ext cx="106048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33"/>
          <p:cNvSpPr/>
          <p:nvPr/>
        </p:nvSpPr>
        <p:spPr>
          <a:xfrm>
            <a:off x="6637975" y="4754875"/>
            <a:ext cx="4593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설날이 지나면 인사·감사 세트가 그 자리를 채움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6" name="Google Shape;1846;p33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p33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33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33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· 개학 · 가을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p33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건강 안부 · 감사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1" name="Google Shape;1851;p33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33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3" name="Google Shape;1853;p33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한글날 · 가을 나들이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p33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가을 안부 · 나들이 · 할로윈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33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6" name="Google Shape;1856;p33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33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· 빼빼로데이 · 첫눈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33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· 고백·선물 · 날씨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33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33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33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감사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33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송년·감사 · 새해 복 · 설날 인사 예약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3" name="Google Shape;1863;p3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4" name="Google Shape;1864;p3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3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3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2" name="Google Shape;1872;p3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3" name="Google Shape;1873;p3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3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5" name="Google Shape;1875;p3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6" name="Google Shape;1876;p3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7" name="Google Shape;1877;p34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8" name="Google Shape;1878;p34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34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0" name="Google Shape;1880;p34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1" name="Google Shape;1881;p34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34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p34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84" name="Google Shape;18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885" name="Google Shape;1885;p34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6" name="Google Shape;1886;p34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p34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탭과 테마 큐레이션으로 지금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내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8" name="Google Shape;1888;p34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9" name="Google Shape;1889;p34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0" name="Google Shape;1890;p34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 · 테마 큐레이션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p34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2" name="Google Shape;1892;p34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3" name="Google Shape;1893;p34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 캘린더 역산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4" name="Google Shape;1894;p34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5" name="Google Shape;1895;p34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6" name="Google Shape;1896;p34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7" name="Google Shape;1897;p34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8" name="Google Shape;1898;p34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9" name="Google Shape;1899;p34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b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34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01" name="Google Shape;1901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02" name="Google Shape;1902;p34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3" name="Google Shape;1903;p34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lang="en-US" sz="1150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4" name="Google Shape;1904;p34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34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6" name="Google Shape;1906;p34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7" name="Google Shape;1907;p34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34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9" name="Google Shape;1909;p34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0" name="Google Shape;1910;p34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34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2" name="Google Shape;1912;p34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3" name="Google Shape;1913;p34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4" name="Google Shape;1914;p34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5" name="Google Shape;1915;p34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34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7" name="Google Shape;1917;p34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18" name="Google Shape;1918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19" name="Google Shape;1919;p34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0" name="Google Shape;1920;p34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34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2" name="Google Shape;1922;p34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3" name="Google Shape;1923;p34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34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메시지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p34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6" name="Google Shape;1926;p34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34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 트렌드에 따른 스티커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p34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9" name="Google Shape;1929;p34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34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34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2" name="Google Shape;1932;p34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34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4" name="Google Shape;1934;p34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35" name="Google Shape;193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36" name="Google Shape;1936;p34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7" name="Google Shape;1937;p34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p34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34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0" name="Google Shape;1940;p34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1" name="Google Shape;1941;p34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34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3" name="Google Shape;1943;p34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p34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5" name="Google Shape;1945;p34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6" name="Google Shape;1946;p34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7" name="Google Shape;1947;p34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8" name="Google Shape;1948;p34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9" name="Google Shape;1949;p34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34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1" name="Google Shape;1951;p34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52" name="Google Shape;1952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53" name="Google Shape;1953;p34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4" name="Google Shape;1954;p34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34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p34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7" name="Google Shape;1957;p34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8" name="Google Shape;1958;p34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비율 · 시즌 성수기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34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0" name="Google Shape;1960;p34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34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2" name="Google Shape;1962;p34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34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4" name="Google Shape;1964;p3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35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1" name="Google Shape;1971;p35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2" name="Google Shape;1972;p35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3" name="Google Shape;1973;p35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4" name="Google Shape;1974;p35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5" name="Google Shape;1975;p3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6" name="Google Shape;1976;p35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· 등록 · 심사 가이드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7" name="Google Shape;1977;p35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3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4" name="Google Shape;1984;p3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5" name="Google Shape;1985;p3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6" name="Google Shape;1986;p3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7" name="Google Shape;1987;p3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규격만 지켜도 반려 사유의 상당수를 피할 수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8" name="Google Shape;1988;p3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전 파일 종류 · 크기 · 배경 처리를 한 번 더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9" name="Google Shape;1989;p3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36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93" name="Google Shape;199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1994" name="Google Shape;1994;p36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5" name="Google Shape;1995;p36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36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7" name="Google Shape;1997;p36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8" name="Google Shape;1998;p36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36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0" name="Google Shape;2000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1" name="Google Shape;2001;p36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36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36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36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5" name="Google Shape;2005;p36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36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7" name="Google Shape;2007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8" name="Google Shape;2008;p36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Google Shape;2009;p36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36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36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36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36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36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· RGB · 1MB 이하 · 24장 크기·비율·정렬 통일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주의사항 — 놓치기 쉬운 4가지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36"/>
          <p:cNvSpPr/>
          <p:nvPr/>
        </p:nvSpPr>
        <p:spPr>
          <a:xfrm>
            <a:off x="6213781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36"/>
          <p:cNvSpPr/>
          <p:nvPr/>
        </p:nvSpPr>
        <p:spPr>
          <a:xfrm>
            <a:off x="6319829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 적용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19" name="Google Shape;2019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29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0" name="Google Shape;2020;p36"/>
          <p:cNvSpPr/>
          <p:nvPr/>
        </p:nvSpPr>
        <p:spPr>
          <a:xfrm>
            <a:off x="6319829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메인·탭·24장 모두 투명 PNG. 흰 배경은 반려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36"/>
          <p:cNvSpPr/>
          <p:nvPr/>
        </p:nvSpPr>
        <p:spPr>
          <a:xfrm>
            <a:off x="8838492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36"/>
          <p:cNvSpPr/>
          <p:nvPr/>
        </p:nvSpPr>
        <p:spPr>
          <a:xfrm>
            <a:off x="8944541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가독성 고려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3" name="Google Shape;2023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44541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4" name="Google Shape;2024;p36"/>
          <p:cNvSpPr/>
          <p:nvPr/>
        </p:nvSpPr>
        <p:spPr>
          <a:xfrm>
            <a:off x="8944541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텍스트는 크게·적게. 유료협찬 문구는 색상·크기 강조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36"/>
          <p:cNvSpPr/>
          <p:nvPr/>
        </p:nvSpPr>
        <p:spPr>
          <a:xfrm>
            <a:off x="6213781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36"/>
          <p:cNvSpPr/>
          <p:nvPr/>
        </p:nvSpPr>
        <p:spPr>
          <a:xfrm>
            <a:off x="6319829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설정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7" name="Google Shape;2027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19829" y="4581144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8" name="Google Shape;2028;p36"/>
          <p:cNvSpPr/>
          <p:nvPr/>
        </p:nvSpPr>
        <p:spPr>
          <a:xfrm>
            <a:off x="6319829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테두리를 추가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9" name="Google Shape;2029;p36"/>
          <p:cNvSpPr/>
          <p:nvPr/>
        </p:nvSpPr>
        <p:spPr>
          <a:xfrm>
            <a:off x="8838492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36"/>
          <p:cNvSpPr/>
          <p:nvPr/>
        </p:nvSpPr>
        <p:spPr>
          <a:xfrm>
            <a:off x="8944541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 입력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1" name="Google Shape;2031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944541" y="4581144"/>
            <a:ext cx="2315401" cy="728010"/>
          </a:xfrm>
          <a:prstGeom prst="rect">
            <a:avLst/>
          </a:prstGeom>
          <a:noFill/>
          <a:ln>
            <a:noFill/>
          </a:ln>
        </p:spPr>
      </p:pic>
      <p:sp>
        <p:nvSpPr>
          <p:cNvPr id="2032" name="Google Shape;2032;p36"/>
          <p:cNvSpPr/>
          <p:nvPr/>
        </p:nvSpPr>
        <p:spPr>
          <a:xfrm>
            <a:off x="8944541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명확한 명사로 3~20개 (강아지·고양이·구분선)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3" name="Google Shape;2033;p3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3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스티커(이모티콘)는 PNG 24장 + 메인 1장 + 탭 1장 — 세 가지 모두 투명 배경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적용해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39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Google Shape;2040;p3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1" name="Google Shape;2041;p3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2" name="Google Shape;2042;p3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3" name="Google Shape;2043;p3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3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스티커(이모티콘)는 프레임 규칙이 하나 더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5" name="Google Shape;2045;p3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규격에 더해 프레임 수와 시작·마지막 프레임 일치를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6" name="Google Shape;2046;p3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8" name="Google Shape;2048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37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0" name="Google Shape;205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1" name="Google Shape;2051;p37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2" name="Google Shape;2052;p37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37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37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5" name="Google Shape;2055;p37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6" name="Google Shape;2056;p37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7" name="Google Shape;2057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8" name="Google Shape;2058;p37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9" name="Google Shape;2059;p37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GIF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37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애니메이션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37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2" name="Google Shape;2062;p37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37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4" name="Google Shape;2064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5" name="Google Shape;2065;p37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6" name="Google Shape;2066;p37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37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37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9" name="Google Shape;2069;p37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37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1" name="Google Shape;2071;p37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이상 · RGB · 1MB 이하 · 프레임 수 각 100 이하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3" name="Google Shape;2073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주의사항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74" name="Google Shape;20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781" y="2560320"/>
            <a:ext cx="5152210" cy="1473112"/>
          </a:xfrm>
          <a:prstGeom prst="rect">
            <a:avLst/>
          </a:prstGeom>
          <a:noFill/>
          <a:ln>
            <a:noFill/>
          </a:ln>
        </p:spPr>
      </p:pic>
      <p:sp>
        <p:nvSpPr>
          <p:cNvPr id="2075" name="Google Shape;2075;p37"/>
          <p:cNvSpPr/>
          <p:nvPr/>
        </p:nvSpPr>
        <p:spPr>
          <a:xfrm>
            <a:off x="6213781" y="4194266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6" name="Google Shape;2076;p37"/>
          <p:cNvSpPr/>
          <p:nvPr/>
        </p:nvSpPr>
        <p:spPr>
          <a:xfrm>
            <a:off x="6319829" y="4267772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7" name="Google Shape;2077;p37"/>
          <p:cNvSpPr/>
          <p:nvPr/>
        </p:nvSpPr>
        <p:spPr>
          <a:xfrm>
            <a:off x="6319829" y="4267772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8" name="Google Shape;2078;p37"/>
          <p:cNvSpPr/>
          <p:nvPr/>
        </p:nvSpPr>
        <p:spPr>
          <a:xfrm>
            <a:off x="6611464" y="4194266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= 마지막 프레임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프레임이 다르면 마켓 상세 페이지에서 빈칸으로 보일 수 있음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9" name="Google Shape;2079;p37"/>
          <p:cNvSpPr/>
          <p:nvPr/>
        </p:nvSpPr>
        <p:spPr>
          <a:xfrm>
            <a:off x="6213781" y="463388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0" name="Google Shape;2080;p37"/>
          <p:cNvSpPr/>
          <p:nvPr/>
        </p:nvSpPr>
        <p:spPr>
          <a:xfrm>
            <a:off x="6319829" y="470739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1" name="Google Shape;2081;p37"/>
          <p:cNvSpPr/>
          <p:nvPr/>
        </p:nvSpPr>
        <p:spPr>
          <a:xfrm>
            <a:off x="6319829" y="470739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37"/>
          <p:cNvSpPr/>
          <p:nvPr/>
        </p:nvSpPr>
        <p:spPr>
          <a:xfrm>
            <a:off x="6611464" y="463388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매끄러운 움직임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프레임이 튀거나 끊기면 반려. 루프 지점이 자연스러운지 확인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37"/>
          <p:cNvSpPr/>
          <p:nvPr/>
        </p:nvSpPr>
        <p:spPr>
          <a:xfrm>
            <a:off x="6213781" y="507350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4" name="Google Shape;2084;p37"/>
          <p:cNvSpPr/>
          <p:nvPr/>
        </p:nvSpPr>
        <p:spPr>
          <a:xfrm>
            <a:off x="6319829" y="514701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5" name="Google Shape;2085;p37"/>
          <p:cNvSpPr/>
          <p:nvPr/>
        </p:nvSpPr>
        <p:spPr>
          <a:xfrm>
            <a:off x="6319829" y="514701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37"/>
          <p:cNvSpPr/>
          <p:nvPr/>
        </p:nvSpPr>
        <p:spPr>
          <a:xfrm>
            <a:off x="6611464" y="507350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 전반 통일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텍스트·배경·오브젝트가 모든 프레임에서 동일하게 유지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7" name="Google Shape;2087;p37"/>
          <p:cNvSpPr/>
          <p:nvPr/>
        </p:nvSpPr>
        <p:spPr>
          <a:xfrm>
            <a:off x="6213781" y="5513124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8" name="Google Shape;2088;p37"/>
          <p:cNvSpPr/>
          <p:nvPr/>
        </p:nvSpPr>
        <p:spPr>
          <a:xfrm>
            <a:off x="6319829" y="5586630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37"/>
          <p:cNvSpPr/>
          <p:nvPr/>
        </p:nvSpPr>
        <p:spPr>
          <a:xfrm>
            <a:off x="6319829" y="5586630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37"/>
          <p:cNvSpPr/>
          <p:nvPr/>
        </p:nvSpPr>
        <p:spPr>
          <a:xfrm>
            <a:off x="6611464" y="5513124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채색·투명도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일부 채색 누락이나 반투명 영역은 다크모드에서 색이 변해 반려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3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2" name="Google Shape;2092;p3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GIF의 시작 프레임과 마지막 프레임이 반드시 동일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하게 제작해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098;p3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9" name="Google Shape;2099;p3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0" name="Google Shape;2100;p3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1" name="Google Shape;2101;p3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2" name="Google Shape;2102;p3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제작이 끝났다면 OGQ 크리에이터 스튜디오에서 등록과 심사를 진행합니다.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3" name="Google Shape;2103;p3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입력하는 정보가 검색 노출과 심사 결과에 함께 영향을 줍니다.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4" name="Google Shape;2104;p3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절차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38"/>
          <p:cNvSpPr/>
          <p:nvPr/>
        </p:nvSpPr>
        <p:spPr>
          <a:xfrm>
            <a:off x="82296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8" name="Google Shape;2108;p38"/>
          <p:cNvSpPr/>
          <p:nvPr/>
        </p:nvSpPr>
        <p:spPr>
          <a:xfrm>
            <a:off x="95552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9" name="Google Shape;2109;p38"/>
          <p:cNvSpPr/>
          <p:nvPr/>
        </p:nvSpPr>
        <p:spPr>
          <a:xfrm>
            <a:off x="95552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0" name="Google Shape;2110;p38"/>
          <p:cNvSpPr/>
          <p:nvPr/>
        </p:nvSpPr>
        <p:spPr>
          <a:xfrm>
            <a:off x="95552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 가입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38"/>
          <p:cNvSpPr/>
          <p:nvPr/>
        </p:nvSpPr>
        <p:spPr>
          <a:xfrm>
            <a:off x="95552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가입하고 정산 정보를 등록합니다.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2" name="Google Shape;2112;p38"/>
          <p:cNvSpPr/>
          <p:nvPr/>
        </p:nvSpPr>
        <p:spPr>
          <a:xfrm>
            <a:off x="2837889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3" name="Google Shape;2113;p38"/>
          <p:cNvSpPr/>
          <p:nvPr/>
        </p:nvSpPr>
        <p:spPr>
          <a:xfrm>
            <a:off x="2961613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4" name="Google Shape;2114;p38"/>
          <p:cNvSpPr/>
          <p:nvPr/>
        </p:nvSpPr>
        <p:spPr>
          <a:xfrm>
            <a:off x="3094174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5" name="Google Shape;2115;p38"/>
          <p:cNvSpPr/>
          <p:nvPr/>
        </p:nvSpPr>
        <p:spPr>
          <a:xfrm>
            <a:off x="3094174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6" name="Google Shape;2116;p38"/>
          <p:cNvSpPr/>
          <p:nvPr/>
        </p:nvSpPr>
        <p:spPr>
          <a:xfrm>
            <a:off x="3094174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7" name="Google Shape;2117;p38"/>
          <p:cNvSpPr/>
          <p:nvPr/>
        </p:nvSpPr>
        <p:spPr>
          <a:xfrm>
            <a:off x="3094174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1장 · 스티커(이모티콘) 24장 · 탭 1장을 규격에 맞춰 올립니다.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38"/>
          <p:cNvSpPr/>
          <p:nvPr/>
        </p:nvSpPr>
        <p:spPr>
          <a:xfrm>
            <a:off x="4976543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9" name="Google Shape;2119;p38"/>
          <p:cNvSpPr/>
          <p:nvPr/>
        </p:nvSpPr>
        <p:spPr>
          <a:xfrm>
            <a:off x="5100267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0" name="Google Shape;2120;p38"/>
          <p:cNvSpPr/>
          <p:nvPr/>
        </p:nvSpPr>
        <p:spPr>
          <a:xfrm>
            <a:off x="5232828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1" name="Google Shape;2121;p38"/>
          <p:cNvSpPr/>
          <p:nvPr/>
        </p:nvSpPr>
        <p:spPr>
          <a:xfrm>
            <a:off x="5232828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2" name="Google Shape;2122;p38"/>
          <p:cNvSpPr/>
          <p:nvPr/>
        </p:nvSpPr>
        <p:spPr>
          <a:xfrm>
            <a:off x="5232828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정보 입력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3" name="Google Shape;2123;p38"/>
          <p:cNvSpPr/>
          <p:nvPr/>
        </p:nvSpPr>
        <p:spPr>
          <a:xfrm>
            <a:off x="5232828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 · 설명 · 태그 입력. AI 사용 여부를 체크합니다.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4" name="Google Shape;2124;p38"/>
          <p:cNvSpPr/>
          <p:nvPr/>
        </p:nvSpPr>
        <p:spPr>
          <a:xfrm>
            <a:off x="7115197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5" name="Google Shape;2125;p38"/>
          <p:cNvSpPr/>
          <p:nvPr/>
        </p:nvSpPr>
        <p:spPr>
          <a:xfrm>
            <a:off x="723892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6" name="Google Shape;2126;p38"/>
          <p:cNvSpPr/>
          <p:nvPr/>
        </p:nvSpPr>
        <p:spPr>
          <a:xfrm>
            <a:off x="737148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7" name="Google Shape;2127;p38"/>
          <p:cNvSpPr/>
          <p:nvPr/>
        </p:nvSpPr>
        <p:spPr>
          <a:xfrm>
            <a:off x="737148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38"/>
          <p:cNvSpPr/>
          <p:nvPr/>
        </p:nvSpPr>
        <p:spPr>
          <a:xfrm>
            <a:off x="737148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요청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9" name="Google Shape;2129;p38"/>
          <p:cNvSpPr/>
          <p:nvPr/>
        </p:nvSpPr>
        <p:spPr>
          <a:xfrm>
            <a:off x="737148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제출하면 심사가 시작되고, 결과는 OGQ 크리에이터 스튜디오와 이메일로 안내됩니다.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0" name="Google Shape;2130;p38"/>
          <p:cNvSpPr/>
          <p:nvPr/>
        </p:nvSpPr>
        <p:spPr>
          <a:xfrm>
            <a:off x="9253850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1" name="Google Shape;2131;p38"/>
          <p:cNvSpPr/>
          <p:nvPr/>
        </p:nvSpPr>
        <p:spPr>
          <a:xfrm>
            <a:off x="9377574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2" name="Google Shape;2132;p38"/>
          <p:cNvSpPr/>
          <p:nvPr/>
        </p:nvSpPr>
        <p:spPr>
          <a:xfrm>
            <a:off x="9510135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38"/>
          <p:cNvSpPr/>
          <p:nvPr/>
        </p:nvSpPr>
        <p:spPr>
          <a:xfrm>
            <a:off x="9510135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4" name="Google Shape;2134;p38"/>
          <p:cNvSpPr/>
          <p:nvPr/>
        </p:nvSpPr>
        <p:spPr>
          <a:xfrm>
            <a:off x="9510135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 후 판매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5" name="Google Shape;2135;p38"/>
          <p:cNvSpPr/>
          <p:nvPr/>
        </p:nvSpPr>
        <p:spPr>
          <a:xfrm>
            <a:off x="9510135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승인된 콘텐츠가 마켓에 노출되고 판매가 시작됩니다.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자주 놓치는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8" name="Google Shape;2138;p38"/>
          <p:cNvSpPr/>
          <p:nvPr/>
        </p:nvSpPr>
        <p:spPr>
          <a:xfrm>
            <a:off x="82296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9" name="Google Shape;2139;p38"/>
          <p:cNvSpPr/>
          <p:nvPr/>
        </p:nvSpPr>
        <p:spPr>
          <a:xfrm>
            <a:off x="929008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0" name="Google Shape;2140;p38"/>
          <p:cNvSpPr/>
          <p:nvPr/>
        </p:nvSpPr>
        <p:spPr>
          <a:xfrm>
            <a:off x="929008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1" name="Google Shape;2141;p38"/>
          <p:cNvSpPr/>
          <p:nvPr/>
        </p:nvSpPr>
        <p:spPr>
          <a:xfrm>
            <a:off x="1282505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태그는 명확한 명사로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38"/>
          <p:cNvSpPr/>
          <p:nvPr/>
        </p:nvSpPr>
        <p:spPr>
          <a:xfrm>
            <a:off x="1282505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‘강아지 · 구분선’처럼 입력. 문장형 태그는 검색에 잡히지 않음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3" name="Google Shape;2143;p38"/>
          <p:cNvSpPr/>
          <p:nvPr/>
        </p:nvSpPr>
        <p:spPr>
          <a:xfrm>
            <a:off x="437118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4" name="Google Shape;2144;p38"/>
          <p:cNvSpPr/>
          <p:nvPr/>
        </p:nvSpPr>
        <p:spPr>
          <a:xfrm>
            <a:off x="4477229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5" name="Google Shape;2145;p38"/>
          <p:cNvSpPr/>
          <p:nvPr/>
        </p:nvSpPr>
        <p:spPr>
          <a:xfrm>
            <a:off x="4477229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38"/>
          <p:cNvSpPr/>
          <p:nvPr/>
        </p:nvSpPr>
        <p:spPr>
          <a:xfrm>
            <a:off x="483072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24종 내용 일치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38"/>
          <p:cNvSpPr/>
          <p:nvPr/>
        </p:nvSpPr>
        <p:spPr>
          <a:xfrm>
            <a:off x="483072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다른 소재가 섞이거나 1장만 디자인이 다르면 반려될 수 있음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8" name="Google Shape;2148;p38"/>
          <p:cNvSpPr/>
          <p:nvPr/>
        </p:nvSpPr>
        <p:spPr>
          <a:xfrm>
            <a:off x="7919401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38"/>
          <p:cNvSpPr/>
          <p:nvPr/>
        </p:nvSpPr>
        <p:spPr>
          <a:xfrm>
            <a:off x="8025450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0" name="Google Shape;2150;p38"/>
          <p:cNvSpPr/>
          <p:nvPr/>
        </p:nvSpPr>
        <p:spPr>
          <a:xfrm>
            <a:off x="8025450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1" name="Google Shape;2151;p38"/>
          <p:cNvSpPr/>
          <p:nvPr/>
        </p:nvSpPr>
        <p:spPr>
          <a:xfrm>
            <a:off x="837894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금지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2" name="Google Shape;2152;p38"/>
          <p:cNvSpPr/>
          <p:nvPr/>
        </p:nvSpPr>
        <p:spPr>
          <a:xfrm>
            <a:off x="837894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콘텐츠를 두 번 올리거나 마켓에 이미 있는 콘텐츠와 동일하면 반려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3" name="Google Shape;2153;p38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4" name="Google Shape;2154;p38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· 탭 이미지의 투명 배경과 AI 사용 여부 체크는 제출 직전에 한 번 더 확인해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3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1" name="Google Shape;2161;p3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2" name="Google Shape;2162;p3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심사 반려 현황 — 반려 사유 TOP 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3" name="Google Shape;2163;p3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4" name="Google Shape;2164;p3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반려의 62.5%는 ‘내부 심사 규정’, 그다음은 ‘다크모드’와 ‘중복 콘텐츠’입니다.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5" name="Google Shape;2165;p3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6월 기준의 OGQ 크리에이터 스튜디오 반려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6" name="Google Shape;2166;p3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39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p39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39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— 완성도·표현 중복·컨셉 일관성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39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1" name="Google Shape;2171;p39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10.5%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2" name="Google Shape;2172;p39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— 흰 테두리 누락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39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4" name="Google Shape;2174;p39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5" name="Google Shape;2175;p39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— 중복 업로드·마켓 내 동일·세트 내 유사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6" name="Google Shape;2176;p39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7" name="Google Shape;2177;p39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5.2%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8" name="Google Shape;2178;p39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 — 노이즈·저해상도 탭·초점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0" name="Google Shape;2180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1" name="Google Shape;2181;p39"/>
          <p:cNvSpPr/>
          <p:nvPr/>
        </p:nvSpPr>
        <p:spPr>
          <a:xfrm>
            <a:off x="822960" y="352958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39"/>
          <p:cNvSpPr/>
          <p:nvPr/>
        </p:nvSpPr>
        <p:spPr>
          <a:xfrm>
            <a:off x="2192758" y="3529584"/>
            <a:ext cx="3004719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3" name="Google Shape;2183;p39"/>
          <p:cNvSpPr/>
          <p:nvPr/>
        </p:nvSpPr>
        <p:spPr>
          <a:xfrm>
            <a:off x="5232828" y="352958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62.5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4" name="Google Shape;2184;p39"/>
          <p:cNvSpPr/>
          <p:nvPr/>
        </p:nvSpPr>
        <p:spPr>
          <a:xfrm>
            <a:off x="822960" y="374446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5" name="Google Shape;2185;p39"/>
          <p:cNvSpPr/>
          <p:nvPr/>
        </p:nvSpPr>
        <p:spPr>
          <a:xfrm>
            <a:off x="2192758" y="3744468"/>
            <a:ext cx="504792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6" name="Google Shape;2186;p39"/>
          <p:cNvSpPr/>
          <p:nvPr/>
        </p:nvSpPr>
        <p:spPr>
          <a:xfrm>
            <a:off x="2732901" y="374446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10.5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7" name="Google Shape;2187;p39"/>
          <p:cNvSpPr/>
          <p:nvPr/>
        </p:nvSpPr>
        <p:spPr>
          <a:xfrm>
            <a:off x="822960" y="395935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8" name="Google Shape;2188;p39"/>
          <p:cNvSpPr/>
          <p:nvPr/>
        </p:nvSpPr>
        <p:spPr>
          <a:xfrm>
            <a:off x="2192758" y="3959352"/>
            <a:ext cx="312491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9" name="Google Shape;2189;p39"/>
          <p:cNvSpPr/>
          <p:nvPr/>
        </p:nvSpPr>
        <p:spPr>
          <a:xfrm>
            <a:off x="2540599" y="395935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0" name="Google Shape;2190;p39"/>
          <p:cNvSpPr/>
          <p:nvPr/>
        </p:nvSpPr>
        <p:spPr>
          <a:xfrm>
            <a:off x="822960" y="417423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1" name="Google Shape;2191;p39"/>
          <p:cNvSpPr/>
          <p:nvPr/>
        </p:nvSpPr>
        <p:spPr>
          <a:xfrm>
            <a:off x="2192758" y="4174236"/>
            <a:ext cx="249992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2" name="Google Shape;2192;p39"/>
          <p:cNvSpPr/>
          <p:nvPr/>
        </p:nvSpPr>
        <p:spPr>
          <a:xfrm>
            <a:off x="2478100" y="417423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3" name="Google Shape;2193;p39"/>
          <p:cNvSpPr/>
          <p:nvPr/>
        </p:nvSpPr>
        <p:spPr>
          <a:xfrm>
            <a:off x="822960" y="438912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배경(PNG)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39"/>
          <p:cNvSpPr/>
          <p:nvPr/>
        </p:nvSpPr>
        <p:spPr>
          <a:xfrm>
            <a:off x="2192758" y="4389120"/>
            <a:ext cx="182687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5" name="Google Shape;2195;p39"/>
          <p:cNvSpPr/>
          <p:nvPr/>
        </p:nvSpPr>
        <p:spPr>
          <a:xfrm>
            <a:off x="2410795" y="438912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39"/>
          <p:cNvSpPr/>
          <p:nvPr/>
        </p:nvSpPr>
        <p:spPr>
          <a:xfrm>
            <a:off x="822960" y="460400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가독성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39"/>
          <p:cNvSpPr/>
          <p:nvPr/>
        </p:nvSpPr>
        <p:spPr>
          <a:xfrm>
            <a:off x="2192758" y="4604004"/>
            <a:ext cx="153841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39"/>
          <p:cNvSpPr/>
          <p:nvPr/>
        </p:nvSpPr>
        <p:spPr>
          <a:xfrm>
            <a:off x="2381950" y="460400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9" name="Google Shape;2199;p39"/>
          <p:cNvSpPr/>
          <p:nvPr/>
        </p:nvSpPr>
        <p:spPr>
          <a:xfrm>
            <a:off x="822960" y="481888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크기·정렬 통일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39"/>
          <p:cNvSpPr/>
          <p:nvPr/>
        </p:nvSpPr>
        <p:spPr>
          <a:xfrm>
            <a:off x="2192758" y="4818888"/>
            <a:ext cx="9134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1" name="Google Shape;2201;p39"/>
          <p:cNvSpPr/>
          <p:nvPr/>
        </p:nvSpPr>
        <p:spPr>
          <a:xfrm>
            <a:off x="2319451" y="481888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2" name="Google Shape;2202;p39"/>
          <p:cNvSpPr/>
          <p:nvPr/>
        </p:nvSpPr>
        <p:spPr>
          <a:xfrm>
            <a:off x="822960" y="503377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저작권·권리 침해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39"/>
          <p:cNvSpPr/>
          <p:nvPr/>
        </p:nvSpPr>
        <p:spPr>
          <a:xfrm>
            <a:off x="2192758" y="5033772"/>
            <a:ext cx="8653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4" name="Google Shape;2204;p39"/>
          <p:cNvSpPr/>
          <p:nvPr/>
        </p:nvSpPr>
        <p:spPr>
          <a:xfrm>
            <a:off x="2314644" y="503377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5" name="Google Shape;2205;p39"/>
          <p:cNvSpPr/>
          <p:nvPr/>
        </p:nvSpPr>
        <p:spPr>
          <a:xfrm>
            <a:off x="822960" y="524865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완성도(채색·모션)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6" name="Google Shape;2206;p39"/>
          <p:cNvSpPr/>
          <p:nvPr/>
        </p:nvSpPr>
        <p:spPr>
          <a:xfrm>
            <a:off x="2192758" y="5248656"/>
            <a:ext cx="57690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7" name="Google Shape;2207;p39"/>
          <p:cNvSpPr/>
          <p:nvPr/>
        </p:nvSpPr>
        <p:spPr>
          <a:xfrm>
            <a:off x="2285799" y="524865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8" name="Google Shape;2208;p39"/>
          <p:cNvSpPr/>
          <p:nvPr/>
        </p:nvSpPr>
        <p:spPr>
          <a:xfrm>
            <a:off x="822960" y="546354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부적절 표현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9" name="Google Shape;2209;p39"/>
          <p:cNvSpPr/>
          <p:nvPr/>
        </p:nvSpPr>
        <p:spPr>
          <a:xfrm>
            <a:off x="2192758" y="5463540"/>
            <a:ext cx="5288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0" name="Google Shape;2210;p39"/>
          <p:cNvSpPr/>
          <p:nvPr/>
        </p:nvSpPr>
        <p:spPr>
          <a:xfrm>
            <a:off x="2280991" y="546354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1" name="Google Shape;2211;p39"/>
          <p:cNvSpPr/>
          <p:nvPr/>
        </p:nvSpPr>
        <p:spPr>
          <a:xfrm>
            <a:off x="822960" y="567842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사용 의심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2" name="Google Shape;2212;p39"/>
          <p:cNvSpPr/>
          <p:nvPr/>
        </p:nvSpPr>
        <p:spPr>
          <a:xfrm>
            <a:off x="2192758" y="5678424"/>
            <a:ext cx="4807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3" name="Google Shape;2213;p39"/>
          <p:cNvSpPr/>
          <p:nvPr/>
        </p:nvSpPr>
        <p:spPr>
          <a:xfrm>
            <a:off x="2276183" y="567842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4" name="Google Shape;2214;p39"/>
          <p:cNvCxnSpPr/>
          <p:nvPr/>
        </p:nvCxnSpPr>
        <p:spPr>
          <a:xfrm>
            <a:off x="2192758" y="3493008"/>
            <a:ext cx="0" cy="24003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5" name="Google Shape;2215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6" name="Google Shape;2216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3 상세 — 심사 문구 기준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7" name="Google Shape;2217;p39"/>
          <p:cNvSpPr/>
          <p:nvPr/>
        </p:nvSpPr>
        <p:spPr>
          <a:xfrm>
            <a:off x="5948658" y="3529584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8" name="Google Shape;2218;p39"/>
          <p:cNvSpPr/>
          <p:nvPr/>
        </p:nvSpPr>
        <p:spPr>
          <a:xfrm>
            <a:off x="6072382" y="3730752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9" name="Google Shape;2219;p39"/>
          <p:cNvSpPr/>
          <p:nvPr/>
        </p:nvSpPr>
        <p:spPr>
          <a:xfrm>
            <a:off x="6072382" y="3730752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0" name="Google Shape;2220;p39"/>
          <p:cNvSpPr/>
          <p:nvPr/>
        </p:nvSpPr>
        <p:spPr>
          <a:xfrm>
            <a:off x="6496578" y="3584448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39"/>
          <p:cNvSpPr/>
          <p:nvPr/>
        </p:nvSpPr>
        <p:spPr>
          <a:xfrm>
            <a:off x="6496578" y="3803904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표정·표현의 중복성, 제목과 내용의 일관성, 세트 컨셉, 퀄리티·상품성 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사유로 반려될 수 있으니 관련 검토를 고려하여 제작해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2" name="Google Shape;2222;p39"/>
          <p:cNvSpPr/>
          <p:nvPr/>
        </p:nvSpPr>
        <p:spPr>
          <a:xfrm>
            <a:off x="5948658" y="4325112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3" name="Google Shape;2223;p39"/>
          <p:cNvSpPr/>
          <p:nvPr/>
        </p:nvSpPr>
        <p:spPr>
          <a:xfrm>
            <a:off x="6072382" y="4526280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4" name="Google Shape;2224;p39"/>
          <p:cNvSpPr/>
          <p:nvPr/>
        </p:nvSpPr>
        <p:spPr>
          <a:xfrm>
            <a:off x="6072382" y="4526280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39"/>
          <p:cNvSpPr/>
          <p:nvPr/>
        </p:nvSpPr>
        <p:spPr>
          <a:xfrm>
            <a:off x="6496578" y="4379976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6" name="Google Shape;2226;p39"/>
          <p:cNvSpPr/>
          <p:nvPr/>
        </p:nvSpPr>
        <p:spPr>
          <a:xfrm>
            <a:off x="6496578" y="4599432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 누락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될 경우 반려될 수 있습니다. 다크모드 대응을 위하여 흰색 테두리를 반드시 확인해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7" name="Google Shape;2227;p39"/>
          <p:cNvSpPr/>
          <p:nvPr/>
        </p:nvSpPr>
        <p:spPr>
          <a:xfrm>
            <a:off x="5948658" y="5120640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8" name="Google Shape;2228;p39"/>
          <p:cNvSpPr/>
          <p:nvPr/>
        </p:nvSpPr>
        <p:spPr>
          <a:xfrm>
            <a:off x="6072382" y="5321808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9" name="Google Shape;2229;p39"/>
          <p:cNvSpPr/>
          <p:nvPr/>
        </p:nvSpPr>
        <p:spPr>
          <a:xfrm>
            <a:off x="6072382" y="5321808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0" name="Google Shape;2230;p39"/>
          <p:cNvSpPr/>
          <p:nvPr/>
        </p:nvSpPr>
        <p:spPr>
          <a:xfrm>
            <a:off x="6496578" y="5175504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</a:t>
            </a: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츠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39"/>
          <p:cNvSpPr/>
          <p:nvPr/>
        </p:nvSpPr>
        <p:spPr>
          <a:xfrm>
            <a:off x="6496578" y="5394960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· 마켓 내 동일 콘텐츠 · 세트 내 구도·연출이 상당수 일치 · 세트 내 중복 이미지 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사유를 확인해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3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3" name="Google Shape;2233;p3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현황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중복 · 투명 배경 · 화질 · 가독성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유의해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238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9" name="Google Shape;2239;p4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0" name="Google Shape;2240;p4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1" name="Google Shape;2241;p4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대응 방안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2" name="Google Shape;2242;p4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3" name="Google Shape;2243;p4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가지만 지키면 대부분 통과됩니다.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4" name="Google Shape;2244;p4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외에도 제작 가이드상의 주의사항과 캐릭터의 완성도 및 시장성을 종합적으로 검토합니다.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5" name="Google Shape;2245;p4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40"/>
          <p:cNvSpPr/>
          <p:nvPr/>
        </p:nvSpPr>
        <p:spPr>
          <a:xfrm>
            <a:off x="822960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7" name="Google Shape;2247;p40"/>
          <p:cNvSpPr/>
          <p:nvPr/>
        </p:nvSpPr>
        <p:spPr>
          <a:xfrm>
            <a:off x="955521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8" name="Google Shape;2248;p40"/>
          <p:cNvSpPr/>
          <p:nvPr/>
        </p:nvSpPr>
        <p:spPr>
          <a:xfrm>
            <a:off x="955521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다크모드 대응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40"/>
          <p:cNvSpPr/>
          <p:nvPr/>
        </p:nvSpPr>
        <p:spPr>
          <a:xfrm>
            <a:off x="3385809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0" name="Google Shape;2250;p40"/>
          <p:cNvSpPr/>
          <p:nvPr/>
        </p:nvSpPr>
        <p:spPr>
          <a:xfrm>
            <a:off x="3385809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10.5%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1" name="Google Shape;225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521" y="2606040"/>
            <a:ext cx="3137281" cy="140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2" name="Google Shape;2252;p40"/>
          <p:cNvSpPr/>
          <p:nvPr/>
        </p:nvSpPr>
        <p:spPr>
          <a:xfrm>
            <a:off x="955521" y="4153887"/>
            <a:ext cx="3137281" cy="418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캐릭터·글씨가 어두운 색이면 흰색 테두리를 추가하세요. 굵고 선명하게, 24장 동일 굵기로. 별도 대응 없이도 어두운 배경에서 잘 보이면 통과합니다.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40"/>
          <p:cNvSpPr/>
          <p:nvPr/>
        </p:nvSpPr>
        <p:spPr>
          <a:xfrm>
            <a:off x="4393274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4" name="Google Shape;2254;p40"/>
          <p:cNvSpPr/>
          <p:nvPr/>
        </p:nvSpPr>
        <p:spPr>
          <a:xfrm>
            <a:off x="4525835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5" name="Google Shape;2255;p40"/>
          <p:cNvSpPr/>
          <p:nvPr/>
        </p:nvSpPr>
        <p:spPr>
          <a:xfrm>
            <a:off x="4525835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텍스트 가독성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6" name="Google Shape;2256;p40"/>
          <p:cNvSpPr/>
          <p:nvPr/>
        </p:nvSpPr>
        <p:spPr>
          <a:xfrm>
            <a:off x="6956123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7" name="Google Shape;2257;p40"/>
          <p:cNvSpPr/>
          <p:nvPr/>
        </p:nvSpPr>
        <p:spPr>
          <a:xfrm>
            <a:off x="6956123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3.2%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8" name="Google Shape;225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5835" y="2606040"/>
            <a:ext cx="3137281" cy="1442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59" name="Google Shape;2259;p40"/>
          <p:cNvSpPr/>
          <p:nvPr/>
        </p:nvSpPr>
        <p:spPr>
          <a:xfrm>
            <a:off x="4525835" y="4189531"/>
            <a:ext cx="3137281" cy="382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문장이 길거나 글씨가 작아 첫눈에 읽히지 않으면 반려. 공정위·포스팅 문구는 ‘유료협찬’ 부분을 색상 강조하거나 폰트를 키우세요.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40"/>
          <p:cNvSpPr/>
          <p:nvPr/>
        </p:nvSpPr>
        <p:spPr>
          <a:xfrm>
            <a:off x="7963588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1" name="Google Shape;2261;p40"/>
          <p:cNvSpPr/>
          <p:nvPr/>
        </p:nvSpPr>
        <p:spPr>
          <a:xfrm>
            <a:off x="8096149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2" name="Google Shape;2262;p40"/>
          <p:cNvSpPr/>
          <p:nvPr/>
        </p:nvSpPr>
        <p:spPr>
          <a:xfrm>
            <a:off x="8096149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이미지 투명화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3" name="Google Shape;2263;p40"/>
          <p:cNvSpPr/>
          <p:nvPr/>
        </p:nvSpPr>
        <p:spPr>
          <a:xfrm>
            <a:off x="10526437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4" name="Google Shape;2264;p40"/>
          <p:cNvSpPr/>
          <p:nvPr/>
        </p:nvSpPr>
        <p:spPr>
          <a:xfrm>
            <a:off x="10526437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5" name="Google Shape;2265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149" y="2606040"/>
            <a:ext cx="3137281" cy="1347654"/>
          </a:xfrm>
          <a:prstGeom prst="rect">
            <a:avLst/>
          </a:prstGeom>
          <a:noFill/>
          <a:ln>
            <a:noFill/>
          </a:ln>
        </p:spPr>
      </p:pic>
      <p:sp>
        <p:nvSpPr>
          <p:cNvPr id="2266" name="Google Shape;2266;p40"/>
          <p:cNvSpPr/>
          <p:nvPr/>
        </p:nvSpPr>
        <p:spPr>
          <a:xfrm>
            <a:off x="8096149" y="4091887"/>
            <a:ext cx="3137281" cy="480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+ 메인·탭 모두 투명 PNG. 확장자만 바꾼 파일은 투명이 아닙니다. 이미지 안에 배경을 의도적으로 디자인한 경우는 제외됩니다.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40"/>
          <p:cNvSpPr/>
          <p:nvPr/>
        </p:nvSpPr>
        <p:spPr>
          <a:xfrm>
            <a:off x="822960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40"/>
          <p:cNvSpPr/>
          <p:nvPr/>
        </p:nvSpPr>
        <p:spPr>
          <a:xfrm>
            <a:off x="955521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중복 콘텐츠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9" name="Google Shape;2269;p40"/>
          <p:cNvSpPr/>
          <p:nvPr/>
        </p:nvSpPr>
        <p:spPr>
          <a:xfrm>
            <a:off x="5170966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0" name="Google Shape;2270;p40"/>
          <p:cNvSpPr/>
          <p:nvPr/>
        </p:nvSpPr>
        <p:spPr>
          <a:xfrm>
            <a:off x="5170966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6.5%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1" name="Google Shape;2271;p40"/>
          <p:cNvSpPr/>
          <p:nvPr/>
        </p:nvSpPr>
        <p:spPr>
          <a:xfrm>
            <a:off x="955521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파일을 두 번 올리지 않기. 마켓에 이미 있는 콘텐츠와 동일하거나, 세트 안에서 구도·연출이 상당수 겹치면 반려됩니다. 24장을 한 화면에 놓고 비슷한 장면이 3장 이상이면 교체하세요.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2" name="Google Shape;2272;p40"/>
          <p:cNvSpPr/>
          <p:nvPr/>
        </p:nvSpPr>
        <p:spPr>
          <a:xfrm>
            <a:off x="6178431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3" name="Google Shape;2273;p40"/>
          <p:cNvSpPr/>
          <p:nvPr/>
        </p:nvSpPr>
        <p:spPr>
          <a:xfrm>
            <a:off x="6310992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권리 · AI 표기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40"/>
          <p:cNvSpPr/>
          <p:nvPr/>
        </p:nvSpPr>
        <p:spPr>
          <a:xfrm>
            <a:off x="10526437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5" name="Google Shape;2275;p40"/>
          <p:cNvSpPr/>
          <p:nvPr/>
        </p:nvSpPr>
        <p:spPr>
          <a:xfrm>
            <a:off x="10526437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2.8%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40"/>
          <p:cNvSpPr/>
          <p:nvPr/>
        </p:nvSpPr>
        <p:spPr>
          <a:xfrm>
            <a:off x="6310992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스트리머명 포함 시 퍼블리시티권 등록, 기존 캐릭터 연상 요소·앨범 아트·상업 불가 폰트 제거. AI 사용 시 업로드에서 체크, 미사용 시 증빙 자료로 소명. 생성형 AI로만 제작한 스티커(이모티콘)는 등록할 수 없습니다.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4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8" name="Google Shape;2278;p4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핵심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가독성 · 투명 배경 · 중복 · 권리 표기 — 제출 전 체크리스트로 한 번씩 확인하세요.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2283" name="Shape 2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Google Shape;2284;p4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5" name="Google Shape;2285;p4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6" name="Google Shape;2286;p4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7" name="Google Shape;2287;p41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플레이북에 대한 다양한 의견 및 개선 사항을 전달해 주세요.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8" name="Google Shape;2288;p41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크리에이터분들의 작은 아이디어나 개선 사항은 큰 힘이 됩니다.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9" name="Google Shape;2289;p41"/>
          <p:cNvSpPr/>
          <p:nvPr/>
        </p:nvSpPr>
        <p:spPr>
          <a:xfrm>
            <a:off x="5074920" y="3566160"/>
            <a:ext cx="2011680" cy="457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0" name="Google Shape;2290;p41">
            <a:hlinkClick r:id="rId3"/>
          </p:cNvPr>
          <p:cNvSpPr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의견 남기기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1" name="Google Shape;2291;p41"/>
          <p:cNvSpPr/>
          <p:nvPr/>
        </p:nvSpPr>
        <p:spPr>
          <a:xfrm>
            <a:off x="822960" y="60807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4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97" name="Shape 2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Google Shape;2298;p42"/>
          <p:cNvSpPr/>
          <p:nvPr/>
        </p:nvSpPr>
        <p:spPr>
          <a:xfrm>
            <a:off x="822960" y="598013"/>
            <a:ext cx="74949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0" i="0" lang="en-US" sz="5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OGQ 플레이북 활용 안내</a:t>
            </a:r>
            <a:endParaRPr b="0" i="0" sz="5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9" name="Google Shape;2299;p42"/>
          <p:cNvSpPr txBox="1"/>
          <p:nvPr/>
        </p:nvSpPr>
        <p:spPr>
          <a:xfrm>
            <a:off x="822960" y="1480400"/>
            <a:ext cx="5960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플레이북은 OGQ에서 제작 및 제공하는 문서입니다.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해당 문서를 활용 시에는 아래 사항을 꼭 유의해 주시기 바랍니다.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0" name="Google Shape;2300;p42"/>
          <p:cNvSpPr txBox="1"/>
          <p:nvPr/>
        </p:nvSpPr>
        <p:spPr>
          <a:xfrm>
            <a:off x="822960" y="2339525"/>
            <a:ext cx="8232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플레이북 활용 시 유의 사항</a:t>
            </a:r>
            <a:endParaRPr b="0" i="0" sz="17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내 내용을 임의로 가공해서 별도 공유 또는 재인용 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전문을 웹에 게시하거나 상업적으로 활용하는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1" name="Google Shape;2301;p42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2" name="Google Shape;2302;p42"/>
          <p:cNvSpPr/>
          <p:nvPr/>
        </p:nvSpPr>
        <p:spPr>
          <a:xfrm>
            <a:off x="822960" y="608076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