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3F6371-C4A3-46A8-8800-388B6035BCA3}">
  <a:tblStyle styleId="{083F6371-C4A3-46A8-8800-388B6035BC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9" name="Google Shape;115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1" name="Google Shape;126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3" name="Google Shape;137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2" name="Google Shape;147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5" name="Google Shape;148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0" name="Google Shape;152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9" name="Google Shape;15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0" name="Google Shape;157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8" name="Google Shape;168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0" name="Google Shape;17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1" name="Google Shape;179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2" name="Google Shape;187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3" name="Google Shape;187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1" name="Google Shape;19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2" name="Google Shape;197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4" name="Google Shape;19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5" name="Google Shape;19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2" name="Google Shape;204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9" name="Google Shape;209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0" name="Google Shape;210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1" name="Google Shape;216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2" name="Google Shape;216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0" name="Google Shape;224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1" name="Google Shape;224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5" name="Google Shape;228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6" name="Google Shape;228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39:notes"/>
          <p:cNvSpPr/>
          <p:nvPr>
            <p:ph idx="2" type="sldImg"/>
          </p:nvPr>
        </p:nvSpPr>
        <p:spPr>
          <a:xfrm>
            <a:off x="685800" y="1524000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9" name="Google Shape;2299;p39:notes"/>
          <p:cNvSpPr txBox="1"/>
          <p:nvPr>
            <p:ph idx="1" type="body"/>
          </p:nvPr>
        </p:nvSpPr>
        <p:spPr>
          <a:xfrm>
            <a:off x="685800" y="5867400"/>
            <a:ext cx="54864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0" name="Google Shape;2300;p39:notes"/>
          <p:cNvSpPr txBox="1"/>
          <p:nvPr>
            <p:ph idx="12" type="sldNum"/>
          </p:nvPr>
        </p:nvSpPr>
        <p:spPr>
          <a:xfrm>
            <a:off x="3884613" y="11580284"/>
            <a:ext cx="29718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gqmarket.naver.com/" TargetMode="External"/><Relationship Id="rId4" Type="http://schemas.openxmlformats.org/officeDocument/2006/relationships/hyperlink" Target="https://ogqmarket.naver.com/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ogqmarket.sooplive.com/emoticon" TargetMode="External"/><Relationship Id="rId7" Type="http://schemas.openxmlformats.org/officeDocument/2006/relationships/hyperlink" Target="https://ogqmarket.sooplive.com/emoticon" TargetMode="External"/><Relationship Id="rId8" Type="http://schemas.openxmlformats.org/officeDocument/2006/relationships/image" Target="../media/image11.png"/><Relationship Id="rId9" Type="http://schemas.openxmlformats.org/officeDocument/2006/relationships/hyperlink" Target="https://chattingplus.ogq.me/" TargetMode="External"/><Relationship Id="rId10" Type="http://schemas.openxmlformats.org/officeDocument/2006/relationships/hyperlink" Target="https://chattingplus.ogq.me/" TargetMode="External"/><Relationship Id="rId11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hyperlink" Target="https://ogqmarket.naver.com/chart" TargetMode="External"/><Relationship Id="rId5" Type="http://schemas.openxmlformats.org/officeDocument/2006/relationships/hyperlink" Target="https://ogqmarket.naver.com/ch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hyperlink" Target="https://ogqmarket.sooplive.com/emoticon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hyperlink" Target="https://chattingplus.ogq.me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34.png"/><Relationship Id="rId9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form.naver.com/response/Dde51Bon31cOcS_3Utfcgg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" y="1280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2331720"/>
            <a:ext cx="822960" cy="329184"/>
          </a:xfrm>
          <a:prstGeom prst="roundRect">
            <a:avLst>
              <a:gd fmla="val 50000" name="adj"/>
            </a:avLst>
          </a:prstGeom>
          <a:solidFill>
            <a:srgbClr val="B7D5C6"/>
          </a:solidFill>
          <a:ln cap="flat" cmpd="sng" w="12700">
            <a:solidFill>
              <a:srgbClr val="B7D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22960" y="2331720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53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38"/>
                </a:solidFill>
                <a:latin typeface="Arial"/>
                <a:ea typeface="Arial"/>
                <a:cs typeface="Arial"/>
                <a:sym typeface="Arial"/>
              </a:rPr>
              <a:t>Vol.2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28346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데이터 기반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22960" y="3383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 OGQ마켓 · SOOP OGQ이모티콘 · 채팅+ OGQ마켓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4538"/>
          </a:solidFill>
          <a:ln cap="flat" cmpd="sng" w="12700">
            <a:solidFill>
              <a:srgbClr val="1F4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31520" y="23774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731520" y="32004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플레이북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31520" y="6035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846320" y="64008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349240" y="64008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349240" y="64008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37760" y="119786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120640" y="107899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소개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937760" y="152704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120640" y="140817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주요 마켓 소개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846320" y="205740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349240" y="205740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349240" y="205740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937760" y="261518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120640" y="24963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인사이트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37760" y="294436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120640" y="282549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세부 데이터 분석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846320" y="347472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349240" y="347472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349240" y="34747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37760" y="403250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120640" y="391363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/ 애니메이션 스티커(이모티콘) </a:t>
            </a:r>
            <a:endParaRPr b="0" i="0" sz="1050" u="none" cap="none" strike="noStrike">
              <a:solidFill>
                <a:srgbClr val="1F29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가이드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937760" y="436168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120640" y="424281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등록 가이드 · 기타 가이드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937760" y="4690872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120640" y="457200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심사 반려 현황 및 대응 방안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549640" y="64008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052560" y="64008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052560" y="64008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41080" y="119786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823960" y="107899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 상위 매출 탐색 방법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641080" y="152704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823960" y="140817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(TOP 25)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641080" y="1856232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823960" y="173736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641080" y="2185416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823960" y="2066544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641080" y="2514600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823960" y="2395728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641080" y="284378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823960" y="27249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성공 공식 요약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1188720"/>
            <a:ext cx="11274600" cy="5212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7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누구나 크리에이터가 되는 세상 — 크리에이터 콘텐츠 마켓 플랫폼, OGQ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크리에이터가 콘텐츠를 만들고, OGQ에 등록하여 여러 플랫폼의 OGQ마켓에서 판매할 수 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22960" y="2148840"/>
            <a:ext cx="3270504" cy="3721608"/>
          </a:xfrm>
          <a:prstGeom prst="roundRect">
            <a:avLst>
              <a:gd fmla="val 4225" name="adj"/>
            </a:avLst>
          </a:prstGeom>
          <a:solidFill>
            <a:srgbClr val="F6F8FA"/>
          </a:solidFill>
          <a:ln cap="flat" cmpd="sng" w="12700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097280" y="242316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224784" y="2423160"/>
            <a:ext cx="594300" cy="5943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6516" y="25648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1097280" y="3017520"/>
            <a:ext cx="2721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097280" y="3474720"/>
            <a:ext cx="2721864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크리에이터가 만든다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097280" y="3931920"/>
            <a:ext cx="2721864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스티커(이모티콘), 이미지, 음원 등 원하는 디지털 콘텐츠를 자유롭게 제작합니다. 형식과 장르에 제한 없이 누구나 크리에이터가 될 수 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66616" y="3881628"/>
            <a:ext cx="2196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459224" y="2148840"/>
            <a:ext cx="3270504" cy="3721608"/>
          </a:xfrm>
          <a:prstGeom prst="roundRect">
            <a:avLst>
              <a:gd fmla="val 4225" name="adj"/>
            </a:avLst>
          </a:prstGeom>
          <a:solidFill>
            <a:srgbClr val="F6F8FA"/>
          </a:solidFill>
          <a:ln cap="flat" cmpd="sng" w="12700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733544" y="242316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61048" y="2423160"/>
            <a:ext cx="594300" cy="5943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2780" y="25648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4733544" y="3017520"/>
            <a:ext cx="2721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733544" y="3474720"/>
            <a:ext cx="2721864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OGQ에 등록한다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733544" y="3931920"/>
            <a:ext cx="2721864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크리에이터 스튜디오에 한 번만 등록하면 네이버 OGQ마켓, SOOP OGQ이모티콘, 채팅+ OGQ마켓 등 여러 플랫폼에 동시에 판매 콘텐츠가 노출됩니다.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802880" y="3881628"/>
            <a:ext cx="2196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095488" y="2148840"/>
            <a:ext cx="3270504" cy="3721608"/>
          </a:xfrm>
          <a:prstGeom prst="roundRect">
            <a:avLst>
              <a:gd fmla="val 4225" name="adj"/>
            </a:avLst>
          </a:prstGeom>
          <a:solidFill>
            <a:srgbClr val="F6F8FA"/>
          </a:solidFill>
          <a:ln cap="flat" cmpd="sng" w="12700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369808" y="242316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0497312" y="2423160"/>
            <a:ext cx="594300" cy="5943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39044" y="25648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8369808" y="3017520"/>
            <a:ext cx="2721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SELL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369808" y="3474720"/>
            <a:ext cx="2721864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플랫폼 OGQ마켓에서 판매한다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369808" y="3931920"/>
            <a:ext cx="2721864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플랫폼의 이용자가 OGQ마켓을 통해 콘텐츠를 구매하여 이용할 수 있습니다. OGQ마켓에서 발생한 판매 수익은 크리에이터에게 전달되며, 월별 정산을 통해 수익을 창출하실 수 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332720" y="6400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" y="36576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783080" y="365760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소개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8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8"/>
          <p:cNvSpPr/>
          <p:nvPr/>
        </p:nvSpPr>
        <p:spPr>
          <a:xfrm>
            <a:off x="178308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주요 마켓 소개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대표 이모티콘 마켓을 소개합니다.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NAVER, SOOP, 삼성 문자메시지 앱 ‘채팅+’ 플랫폼에서 OGQ 콘텐츠를 판매하실 수 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22960" y="2148840"/>
            <a:ext cx="3343046" cy="3931920"/>
          </a:xfrm>
          <a:prstGeom prst="roundRect">
            <a:avLst>
              <a:gd fmla="val 4000" name="adj"/>
            </a:avLst>
          </a:prstGeom>
          <a:solidFill>
            <a:srgbClr val="F2FAF4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088136" y="2404872"/>
            <a:ext cx="441870" cy="457200"/>
          </a:xfrm>
          <a:prstGeom prst="roundRect">
            <a:avLst>
              <a:gd fmla="val 20000" name="adj"/>
            </a:avLst>
          </a:prstGeom>
          <a:solidFill>
            <a:srgbClr val="3BB54A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088136" y="240487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>
            <a:hlinkClick r:id="rId3"/>
          </p:cNvPr>
          <p:cNvSpPr/>
          <p:nvPr/>
        </p:nvSpPr>
        <p:spPr>
          <a:xfrm>
            <a:off x="1635862" y="2404872"/>
            <a:ext cx="22649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1250"/>
              <a:buFont typeface="Malgun Gothic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4"/>
              </a:rPr>
              <a:t>네이버 OGQ마켓 (바로가기)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088136" y="2971800"/>
            <a:ext cx="281269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블로그·카페 등 네이버 플랫폼 내에서 댓글/글쓰기 등으로 이용할 수 있는 스티커(이모티콘)를 판매하는 디지털 콘텐츠 마켓입니다.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136" y="3805733"/>
            <a:ext cx="2812694" cy="193304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1" name="Google Shape;141;p8"/>
          <p:cNvSpPr/>
          <p:nvPr/>
        </p:nvSpPr>
        <p:spPr>
          <a:xfrm>
            <a:off x="4422953" y="2148840"/>
            <a:ext cx="3343046" cy="3931920"/>
          </a:xfrm>
          <a:prstGeom prst="roundRect">
            <a:avLst>
              <a:gd fmla="val 4000" name="adj"/>
            </a:avLst>
          </a:prstGeom>
          <a:solidFill>
            <a:srgbClr val="EEF4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688129" y="2404872"/>
            <a:ext cx="441870" cy="457200"/>
          </a:xfrm>
          <a:prstGeom prst="roundRect">
            <a:avLst>
              <a:gd fmla="val 20000" name="adj"/>
            </a:avLst>
          </a:prstGeom>
          <a:solidFill>
            <a:srgbClr val="1A6D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688129" y="240487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>
            <a:hlinkClick r:id="rId6"/>
          </p:cNvPr>
          <p:cNvSpPr/>
          <p:nvPr/>
        </p:nvSpPr>
        <p:spPr>
          <a:xfrm>
            <a:off x="5235854" y="2404872"/>
            <a:ext cx="22649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1250"/>
              <a:buFont typeface="Malgun Gothic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7"/>
              </a:rPr>
              <a:t>SOOP OGQ이모티콘 (바로가기)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688129" y="2971800"/>
            <a:ext cx="281269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 전문 플랫폼 SOOP에서 스트리밍 환경(채팅창, 댓글) 등에서 사용할 수 있는 이모티콘을 판매하는 디지털 콘텐츠 마켓입니다.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8129" y="3805733"/>
            <a:ext cx="2812694" cy="193304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7" name="Google Shape;147;p8"/>
          <p:cNvSpPr/>
          <p:nvPr/>
        </p:nvSpPr>
        <p:spPr>
          <a:xfrm>
            <a:off x="8022946" y="2148840"/>
            <a:ext cx="3343046" cy="3931920"/>
          </a:xfrm>
          <a:prstGeom prst="roundRect">
            <a:avLst>
              <a:gd fmla="val 4000" name="adj"/>
            </a:avLst>
          </a:prstGeom>
          <a:solidFill>
            <a:srgbClr val="FFF5EC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288122" y="2404872"/>
            <a:ext cx="441870" cy="457200"/>
          </a:xfrm>
          <a:prstGeom prst="roundRect">
            <a:avLst>
              <a:gd fmla="val 20000" name="adj"/>
            </a:avLst>
          </a:prstGeom>
          <a:solidFill>
            <a:srgbClr val="F5821F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288122" y="240487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>
            <a:hlinkClick r:id="rId9"/>
          </p:cNvPr>
          <p:cNvSpPr/>
          <p:nvPr/>
        </p:nvSpPr>
        <p:spPr>
          <a:xfrm>
            <a:off x="8835847" y="2404872"/>
            <a:ext cx="22649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250"/>
              <a:buFont typeface="Malgun Gothic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10"/>
              </a:rPr>
              <a:t>채팅+ OGQ마켓 (바로가기)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288122" y="2971800"/>
            <a:ext cx="281269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통신 3사(SKT, KT, LGU+)가 협력한 차세대 문자 메시지 서비스 ‘채팅+’ 환경에서 이모티콘을 판매하는 디지털 콘텐츠 마켓입니다.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332720" y="6400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8" title="스크린샷 2026-08-25 오후 5.56.04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88122" y="3805733"/>
            <a:ext cx="2812694" cy="193304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인사이트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640080" y="36576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0"/>
          <p:cNvSpPr/>
          <p:nvPr/>
        </p:nvSpPr>
        <p:spPr>
          <a:xfrm>
            <a:off x="1783080" y="365760"/>
            <a:ext cx="9875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인사이트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1188720"/>
            <a:ext cx="11274600" cy="5212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동기 &amp; 핵심 인사이트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주요 마켓들의 구매자는 같은 스티커(이모티콘)를 전혀 다른 이유로 구매합니다.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0332720" y="6400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22960" y="2148840"/>
            <a:ext cx="3337500" cy="3612000"/>
          </a:xfrm>
          <a:prstGeom prst="roundRect">
            <a:avLst>
              <a:gd fmla="val 4384" name="adj"/>
            </a:avLst>
          </a:prstGeom>
          <a:solidFill>
            <a:srgbClr val="F6FBF7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078992" y="2148840"/>
            <a:ext cx="2825400" cy="54900"/>
          </a:xfrm>
          <a:prstGeom prst="roundRect">
            <a:avLst>
              <a:gd fmla="val 50000" name="adj"/>
            </a:avLst>
          </a:prstGeom>
          <a:solidFill>
            <a:srgbClr val="3BB54A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078992" y="242316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3BB54A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078992" y="242316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OGQ마켓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337560" y="2377440"/>
            <a:ext cx="567000" cy="567000"/>
          </a:xfrm>
          <a:prstGeom prst="ellipse">
            <a:avLst/>
          </a:prstGeom>
          <a:solidFill>
            <a:srgbClr val="E6F5E9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2514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1078992" y="2862072"/>
            <a:ext cx="282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기록하는 사람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078992" y="3300984"/>
            <a:ext cx="28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BB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포스팅의 가독성과 구조를 잡기 위해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078992" y="3721608"/>
            <a:ext cx="2825400" cy="5121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170432" y="3867912"/>
            <a:ext cx="640200" cy="219600"/>
          </a:xfrm>
          <a:prstGeom prst="roundRect">
            <a:avLst>
              <a:gd fmla="val 50000" name="adj"/>
            </a:avLst>
          </a:prstGeom>
          <a:solidFill>
            <a:srgbClr val="E6F5E9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170432" y="386791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BB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연령층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901952" y="3767328"/>
            <a:ext cx="196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B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20~40대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901952" y="3986784"/>
            <a:ext cx="196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블로거 / 네이버 카페 회원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078992" y="4325112"/>
            <a:ext cx="282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 문구·구분선·맛집 리뷰 헤더처럼 포스팅 게시글을 보다 완성도 있게 구성하기 위하여 스티커(이모티콘)를 구매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078992" y="4892040"/>
            <a:ext cx="2825400" cy="658500"/>
          </a:xfrm>
          <a:prstGeom prst="roundRect">
            <a:avLst>
              <a:gd fmla="val 13889" name="adj"/>
            </a:avLst>
          </a:prstGeom>
          <a:solidFill>
            <a:srgbClr val="E6F5E9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188720" y="4892040"/>
            <a:ext cx="114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B54A"/>
                </a:solidFill>
                <a:latin typeface="Arial"/>
                <a:ea typeface="Arial"/>
                <a:cs typeface="Arial"/>
                <a:sym typeface="Arial"/>
              </a:rPr>
              <a:t>33.9%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304288" y="4892040"/>
            <a:ext cx="155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블로그·포스팅 실용 테마 매출 비중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(2026년 상반기 전체 매출 대비)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425696" y="2148840"/>
            <a:ext cx="3337500" cy="3612000"/>
          </a:xfrm>
          <a:prstGeom prst="roundRect">
            <a:avLst>
              <a:gd fmla="val 4384" name="adj"/>
            </a:avLst>
          </a:prstGeom>
          <a:solidFill>
            <a:srgbClr val="F4F8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681728" y="2148840"/>
            <a:ext cx="2825400" cy="54900"/>
          </a:xfrm>
          <a:prstGeom prst="roundRect">
            <a:avLst>
              <a:gd fmla="val 50000" name="adj"/>
            </a:avLst>
          </a:prstGeom>
          <a:solidFill>
            <a:srgbClr val="1A6D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681728" y="242316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1A6D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681728" y="242316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940296" y="2377440"/>
            <a:ext cx="567000" cy="567000"/>
          </a:xfrm>
          <a:prstGeom prst="ellipse">
            <a:avLst/>
          </a:prstGeom>
          <a:solidFill>
            <a:srgbClr val="E4EE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7456" y="2514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4681728" y="2862072"/>
            <a:ext cx="282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반응하는 사람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681728" y="3300984"/>
            <a:ext cx="28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A6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중 나의 존재를 드러내기 위해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681728" y="3721608"/>
            <a:ext cx="2825400" cy="5121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773168" y="3867912"/>
            <a:ext cx="640200" cy="219600"/>
          </a:xfrm>
          <a:prstGeom prst="roundRect">
            <a:avLst>
              <a:gd fmla="val 50000" name="adj"/>
            </a:avLst>
          </a:prstGeom>
          <a:solidFill>
            <a:srgbClr val="E4EE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73168" y="386791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1A6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연령층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504688" y="3767328"/>
            <a:ext cx="196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A6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20~30대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504688" y="3986784"/>
            <a:ext cx="196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회원 (시청자/스트리머)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681728" y="4325112"/>
            <a:ext cx="282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채팅창에서 내가 좋아하는 스트리머와 적극적으로 소통하기 위하여 보다 가독성 있고 눈에 잘 띄는 이모티콘을 구매하여 소통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681728" y="4892040"/>
            <a:ext cx="2825400" cy="658500"/>
          </a:xfrm>
          <a:prstGeom prst="roundRect">
            <a:avLst>
              <a:gd fmla="val 13889" name="adj"/>
            </a:avLst>
          </a:prstGeom>
          <a:solidFill>
            <a:srgbClr val="E4EE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791456" y="4892040"/>
            <a:ext cx="114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6DFF"/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907024" y="4892040"/>
            <a:ext cx="155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 선호 비율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(2026년 상반기 정지형 이모티콘 대비)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028432" y="2148840"/>
            <a:ext cx="3337500" cy="3612000"/>
          </a:xfrm>
          <a:prstGeom prst="roundRect">
            <a:avLst>
              <a:gd fmla="val 4384" name="adj"/>
            </a:avLst>
          </a:prstGeom>
          <a:solidFill>
            <a:srgbClr val="FFF8F2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284464" y="2148840"/>
            <a:ext cx="2825400" cy="54900"/>
          </a:xfrm>
          <a:prstGeom prst="roundRect">
            <a:avLst>
              <a:gd fmla="val 50000" name="adj"/>
            </a:avLst>
          </a:prstGeom>
          <a:solidFill>
            <a:srgbClr val="F5821F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284464" y="242316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F5821F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284464" y="242316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543032" y="2377440"/>
            <a:ext cx="567000" cy="567000"/>
          </a:xfrm>
          <a:prstGeom prst="ellipse">
            <a:avLst/>
          </a:prstGeom>
          <a:solidFill>
            <a:srgbClr val="FFEED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0192" y="2514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8284464" y="2862072"/>
            <a:ext cx="282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안부를 전하는 사람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284464" y="3300984"/>
            <a:ext cx="28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5821F"/>
                </a:solidFill>
                <a:latin typeface="Malgun Gothic"/>
                <a:ea typeface="Malgun Gothic"/>
                <a:cs typeface="Malgun Gothic"/>
                <a:sym typeface="Malgun Gothic"/>
              </a:rPr>
              <a:t>딱딱한 텍스트 대신 이모티콘으로 마음을 표현하기 위해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284464" y="3721608"/>
            <a:ext cx="2825400" cy="5121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375904" y="3867912"/>
            <a:ext cx="640200" cy="219600"/>
          </a:xfrm>
          <a:prstGeom prst="roundRect">
            <a:avLst>
              <a:gd fmla="val 50000" name="adj"/>
            </a:avLst>
          </a:prstGeom>
          <a:solidFill>
            <a:srgbClr val="FFEED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375904" y="386791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5821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연령층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107424" y="3767328"/>
            <a:ext cx="196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821F"/>
                </a:solidFill>
                <a:latin typeface="Malgun Gothic"/>
                <a:ea typeface="Malgun Gothic"/>
                <a:cs typeface="Malgun Gothic"/>
                <a:sym typeface="Malgun Gothic"/>
              </a:rPr>
              <a:t>40대 이상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9107424" y="3986784"/>
            <a:ext cx="196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 갤럭시 문자(채팅+) 이용자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284464" y="4325112"/>
            <a:ext cx="282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인사·감사·응원·안부 등과 같이 격식 있는 메시지를 부드럽게 만들어주기 위하여 이모티콘을 구매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284464" y="4892040"/>
            <a:ext cx="2825400" cy="658500"/>
          </a:xfrm>
          <a:prstGeom prst="roundRect">
            <a:avLst>
              <a:gd fmla="val 13889" name="adj"/>
            </a:avLst>
          </a:prstGeom>
          <a:solidFill>
            <a:srgbClr val="FFEED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394192" y="4892040"/>
            <a:ext cx="114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821F"/>
                </a:solidFill>
                <a:latin typeface="Arial"/>
                <a:ea typeface="Arial"/>
                <a:cs typeface="Arial"/>
                <a:sym typeface="Arial"/>
              </a:rPr>
              <a:t>3.2배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9509760" y="4892040"/>
            <a:ext cx="155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 시즌(2월) 매출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(2026년 1월 매출 대비)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22960" y="5961979"/>
            <a:ext cx="10543032" cy="36570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999439" y="5961979"/>
            <a:ext cx="10162642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구매자 인사이트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네이버는 ‘글’, SOOP은 ‘방송’, 채팅+는 ‘관계’ — 사용처가 다르면 잘 팔리는 스티커(이모티콘)도 다릅니다.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OGQ마켓 - 구매자 세부 데이터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22960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999708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141106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 성향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158781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1317855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실용적인 텍스트/꾸미기형 선호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317855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'형광펜', '말풍선', '블꾸' 등 포스팅 글을 돋보이게 하는 정지형 스티커(이모티콘)를 압도적으로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58781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317855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및 인증 특화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317855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'맛집 리뷰', '공정위 문구' 등 실제 포스팅에 바로 활용 가능한 기능성 스티커(이모티콘) 구매율 높음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196106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372854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514253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531927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691001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포스팅 및 정보 전달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691001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 글의 가독성을 높이고 문단을 나누어 가독성을 확보하는 도구로 주로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531927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691001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정보성 배치 및 꾸미기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691001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기록, 맛집 탐방을 꾸미거나 특히 협찬 여부를 명확히 알리는 정보성 배치 용도가 핵심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22960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999708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141106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유형 선호도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141106" y="4453128"/>
            <a:ext cx="463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포스팅의 집중을 유지하기 위해 정지형 타입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196106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372854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514253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키워드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514253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514253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698466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698466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8882679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882679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066892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0066892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514253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514253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698466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698466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882679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8882679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맛집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066892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0066892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43000" y="4963297"/>
            <a:ext cx="3952149" cy="381000"/>
          </a:xfrm>
          <a:prstGeom prst="roundRect">
            <a:avLst>
              <a:gd fmla="val 2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095149" y="4963300"/>
            <a:ext cx="238889" cy="381000"/>
          </a:xfrm>
          <a:prstGeom prst="roundRect">
            <a:avLst>
              <a:gd fmla="val 30188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1143000" y="4965192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정지형 94%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11"/>
          <p:cNvGrpSpPr/>
          <p:nvPr/>
        </p:nvGrpSpPr>
        <p:grpSpPr>
          <a:xfrm>
            <a:off x="1162050" y="5569610"/>
            <a:ext cx="3515325" cy="190503"/>
            <a:chOff x="19050" y="0"/>
            <a:chExt cx="3515325" cy="190503"/>
          </a:xfrm>
        </p:grpSpPr>
        <p:sp>
          <p:nvSpPr>
            <p:cNvPr id="288" name="Google Shape;288;p11"/>
            <p:cNvSpPr/>
            <p:nvPr/>
          </p:nvSpPr>
          <p:spPr>
            <a:xfrm>
              <a:off x="19050" y="19050"/>
              <a:ext cx="152400" cy="1524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 txBox="1"/>
            <p:nvPr/>
          </p:nvSpPr>
          <p:spPr>
            <a:xfrm>
              <a:off x="238125" y="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정지형 스티커(이모티콘)</a:t>
              </a:r>
              <a:endParaRPr b="0" i="0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1638300" y="19050"/>
              <a:ext cx="152400" cy="1524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 txBox="1"/>
            <p:nvPr/>
          </p:nvSpPr>
          <p:spPr>
            <a:xfrm>
              <a:off x="1857375" y="3"/>
              <a:ext cx="167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애니메이션 스티커(이모티콘)</a:t>
              </a:r>
              <a:endParaRPr b="0" i="0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457200" y="1188720"/>
            <a:ext cx="11274600" cy="5212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2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2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 - 구매자 세부 데이터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22960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999708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141106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 성향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158781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317855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과장되고 역동적인 애니메이션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317855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움직임이 크고 눈에 띄어 채팅창에서 강렬한 인상을 줄 수 있는 애니메이션 이모티콘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158781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317855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유머 및 인터넷 방송 문화 특화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317855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특유의 유머 코드, 은어, 유행어, 스트리머 상황에 유쾌하게 반응할 수 있는 도발적 콘셉트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96106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372854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514253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531927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691001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방송 리액션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22960" y="3886200"/>
            <a:ext cx="5169900" cy="224040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691001" y="2340864"/>
            <a:ext cx="446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내용에 즉각적이고 강렬하게 반응하기 위한 리액션 목적이 매우 큼</a:t>
            </a:r>
            <a:b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빠르게 올라가는 채팅창 속에서 자신의 감정과 존재감을 재미있게 표현하는 데 적극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 strike="noStrike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99708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141106" y="4050792"/>
            <a:ext cx="472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유형 선호도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141106" y="4453128"/>
            <a:ext cx="463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채팅창에서 강렬한 인상을 보여줄 수 있는 애니메이션 타입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196106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372854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514253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키워드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514253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514253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698466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7698466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8882679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882679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시청자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0066892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0066892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잔망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514253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514253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고양이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698466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7698466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말랑말랑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8882679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8882679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066892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0066892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769108" y="4965192"/>
            <a:ext cx="2564891" cy="381000"/>
          </a:xfrm>
          <a:prstGeom prst="roundRect">
            <a:avLst>
              <a:gd fmla="val 2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143000" y="4965192"/>
            <a:ext cx="1626107" cy="381000"/>
          </a:xfrm>
          <a:prstGeom prst="roundRect">
            <a:avLst>
              <a:gd fmla="val 2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12"/>
          <p:cNvGrpSpPr/>
          <p:nvPr/>
        </p:nvGrpSpPr>
        <p:grpSpPr>
          <a:xfrm>
            <a:off x="1162050" y="5569610"/>
            <a:ext cx="3267225" cy="190500"/>
            <a:chOff x="19050" y="0"/>
            <a:chExt cx="3267225" cy="190500"/>
          </a:xfrm>
        </p:grpSpPr>
        <p:sp>
          <p:nvSpPr>
            <p:cNvPr id="344" name="Google Shape;344;p12"/>
            <p:cNvSpPr/>
            <p:nvPr/>
          </p:nvSpPr>
          <p:spPr>
            <a:xfrm>
              <a:off x="19050" y="19050"/>
              <a:ext cx="152400" cy="1524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" name="Google Shape;345;p12"/>
            <p:cNvGrpSpPr/>
            <p:nvPr/>
          </p:nvGrpSpPr>
          <p:grpSpPr>
            <a:xfrm>
              <a:off x="238125" y="0"/>
              <a:ext cx="1428900" cy="190500"/>
              <a:chOff x="0" y="0"/>
              <a:chExt cx="1428900" cy="190500"/>
            </a:xfrm>
          </p:grpSpPr>
          <p:sp>
            <p:nvSpPr>
              <p:cNvPr id="346" name="Google Shape;346;p12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2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정지형 이모티콘</a:t>
                </a:r>
                <a:endParaRPr b="0" i="0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8" name="Google Shape;348;p12"/>
            <p:cNvSpPr/>
            <p:nvPr/>
          </p:nvSpPr>
          <p:spPr>
            <a:xfrm>
              <a:off x="1638300" y="19050"/>
              <a:ext cx="152400" cy="1524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9" name="Google Shape;349;p12"/>
            <p:cNvGrpSpPr/>
            <p:nvPr/>
          </p:nvGrpSpPr>
          <p:grpSpPr>
            <a:xfrm>
              <a:off x="1857375" y="0"/>
              <a:ext cx="1428900" cy="190500"/>
              <a:chOff x="0" y="0"/>
              <a:chExt cx="1428900" cy="190500"/>
            </a:xfrm>
          </p:grpSpPr>
          <p:sp>
            <p:nvSpPr>
              <p:cNvPr id="350" name="Google Shape;350;p12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2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애니메이션 이모티콘</a:t>
                </a:r>
                <a:endParaRPr b="0" i="0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2" name="Google Shape;352;p12"/>
          <p:cNvSpPr txBox="1"/>
          <p:nvPr/>
        </p:nvSpPr>
        <p:spPr>
          <a:xfrm>
            <a:off x="1033000" y="4965192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142875" wrap="square" tIns="0">
            <a:noAutofit/>
          </a:bodyPr>
          <a:lstStyle/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				애니메이션 61%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528816" y="2953512"/>
            <a:ext cx="88500" cy="9150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673326" y="2862072"/>
            <a:ext cx="446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스트리머도 적극 사용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691038" y="3113527"/>
            <a:ext cx="446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플랫폼에서 방송하는 스트리머들은 본인들의 IP를 활용한 이모티콘을 출시하여 팬과의 커뮤니케이션 수단으로 사용하기도하며, 방송국 공지 등을 작성할 때 많이 사용</a:t>
            </a:r>
            <a:endParaRPr b="0" i="0" sz="900" u="none" cap="none" strike="noStrike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3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3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 - 구매자 세부 데이터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822960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999708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141106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 성향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1158781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1317855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따뜻하고 정중한 메시지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317855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'감사와 행복', '예쁜 말', '착한 손글씨', '색연필 글씨' 등 다정하고 온화한 분위기의 텍스트가 포함된 이모티콘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1158781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1317855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시즌성 및 예의범절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1317855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'설날', '명절 인사말', '새해' 등 특정 기념일이나 '사회생활'에 맞춘 무난한 톤앤매너의 이모티콘이 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6196106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372854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514253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6531927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691001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메시지를 이용하는 높은 연령대의 이모티콘 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691001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이용 고객은 대부분 연령대가 높은 40~50대로 텍스트 대신 이모티콘으로 소통 및 마음을 표현하고자 주로 사용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531927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6691001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안부 인사 및 관계 유지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6691001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가족, 친척, 직장 동료 등 지인들에게 명절 안부를 묻거나 일상적인 인사, 따뜻한 위로를 전하는 등 '사회적 관계 유지'를 위한 정중한 커뮤니케이션 용도로 주로 사용.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822960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999708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141106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유형 선호도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141106" y="4453128"/>
            <a:ext cx="46396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메시지를 통해 의미 보다 강조하여 전달할 수 있는 애니메이션 타입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196106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372854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514253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키워드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514253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514253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7698466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7698466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손글씨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882679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8882679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귀요미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0066892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10066892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514253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6514253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사회생활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7698466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7698466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8882679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8882679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0066892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10066892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3"/>
          <p:cNvGrpSpPr/>
          <p:nvPr/>
        </p:nvGrpSpPr>
        <p:grpSpPr>
          <a:xfrm>
            <a:off x="1162050" y="5569610"/>
            <a:ext cx="3267225" cy="190500"/>
            <a:chOff x="19050" y="0"/>
            <a:chExt cx="3267225" cy="190500"/>
          </a:xfrm>
        </p:grpSpPr>
        <p:sp>
          <p:nvSpPr>
            <p:cNvPr id="408" name="Google Shape;408;p13"/>
            <p:cNvSpPr/>
            <p:nvPr/>
          </p:nvSpPr>
          <p:spPr>
            <a:xfrm>
              <a:off x="19050" y="19050"/>
              <a:ext cx="152400" cy="1524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9" name="Google Shape;409;p13"/>
            <p:cNvGrpSpPr/>
            <p:nvPr/>
          </p:nvGrpSpPr>
          <p:grpSpPr>
            <a:xfrm>
              <a:off x="238125" y="0"/>
              <a:ext cx="1428900" cy="190500"/>
              <a:chOff x="0" y="0"/>
              <a:chExt cx="1428900" cy="190500"/>
            </a:xfrm>
          </p:grpSpPr>
          <p:sp>
            <p:nvSpPr>
              <p:cNvPr id="410" name="Google Shape;410;p13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3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정지형 이모티콘</a:t>
                </a:r>
                <a:endParaRPr b="0" i="0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2" name="Google Shape;412;p13"/>
            <p:cNvSpPr/>
            <p:nvPr/>
          </p:nvSpPr>
          <p:spPr>
            <a:xfrm>
              <a:off x="1638300" y="19050"/>
              <a:ext cx="152400" cy="1524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3" name="Google Shape;413;p13"/>
            <p:cNvGrpSpPr/>
            <p:nvPr/>
          </p:nvGrpSpPr>
          <p:grpSpPr>
            <a:xfrm>
              <a:off x="1857375" y="0"/>
              <a:ext cx="1428900" cy="190500"/>
              <a:chOff x="0" y="0"/>
              <a:chExt cx="1428900" cy="190500"/>
            </a:xfrm>
          </p:grpSpPr>
          <p:sp>
            <p:nvSpPr>
              <p:cNvPr id="414" name="Google Shape;414;p13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3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애니메이션 이모티콘</a:t>
                </a:r>
                <a:endParaRPr b="0" i="0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6" name="Google Shape;416;p13"/>
          <p:cNvSpPr/>
          <p:nvPr/>
        </p:nvSpPr>
        <p:spPr>
          <a:xfrm>
            <a:off x="3443859" y="4965192"/>
            <a:ext cx="1890140" cy="381000"/>
          </a:xfrm>
          <a:prstGeom prst="roundRect">
            <a:avLst>
              <a:gd fmla="val 2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143000" y="4965192"/>
            <a:ext cx="2300859" cy="381000"/>
          </a:xfrm>
          <a:prstGeom prst="roundRect">
            <a:avLst>
              <a:gd fmla="val 2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1142988" y="4965192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1428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정지형 55%				애니메이션 45%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 OGQ마켓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5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15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스티커(이모티콘) 탐색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콘텐츠를 인기 차트로 확인하는 방법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인기차트를 통하여 현재 마켓 트렌드를 확인해 보세요.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48840"/>
            <a:ext cx="4153583" cy="3515661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445" name="Google Shape;445;p15"/>
          <p:cNvSpPr/>
          <p:nvPr/>
        </p:nvSpPr>
        <p:spPr>
          <a:xfrm>
            <a:off x="822960" y="5961888"/>
            <a:ext cx="4153583" cy="274320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>
            <a:hlinkClick r:id="rId4"/>
          </p:cNvPr>
          <p:cNvSpPr/>
          <p:nvPr/>
        </p:nvSpPr>
        <p:spPr>
          <a:xfrm>
            <a:off x="822960" y="5961888"/>
            <a:ext cx="41535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 OGQ마켓 › 페이지 최상단 ‘인기차트’ </a:t>
            </a:r>
            <a:r>
              <a:rPr b="1" i="0" lang="en-US" sz="90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(바로가기)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5771910" y="2148840"/>
            <a:ext cx="5594299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5930983" y="2441448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5930983" y="2441448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523090" y="2350008"/>
            <a:ext cx="46661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인기차트로 흐름 읽기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6523090" y="2642616"/>
            <a:ext cx="466618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당일(1시간)·일일(24시간) 판매+조회 합산, 최근 6개월 제공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771910" y="3300984"/>
            <a:ext cx="5594299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5930983" y="3593592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930983" y="359359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523090" y="3502152"/>
            <a:ext cx="46661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유입으로 검증하기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523090" y="3794760"/>
            <a:ext cx="466618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공정위·구분선·맛집·리뷰·내돈내산 등 플레이북에 제시한 핵심 키워드 및 인기 검색어와 비교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5771910" y="4453128"/>
            <a:ext cx="5594299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5930983" y="4745736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930983" y="4745736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523090" y="4654296"/>
            <a:ext cx="46661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크리에이터 페이지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6523090" y="4946904"/>
            <a:ext cx="466618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시리즈로 이어지는 컨셉 등 레퍼런스 참고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6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16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16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분석하기 (TOP 25)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월별 TOP 25 콘텐츠의 상세 데이터를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822960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822960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96.3%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822960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스티커(이모티콘) 판매 수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498494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3498494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3498494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콘텐츠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6174029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6174029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6174029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밈(meme) 활용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849563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8849563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18.6%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8849563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시리즈(넘버링)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822960" y="3566160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감성형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2104384" y="3566160"/>
            <a:ext cx="2695410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852819" y="3566160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822960" y="3913632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× 블로그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2104384" y="3913632"/>
            <a:ext cx="2071615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229024" y="3913632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26.9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822960" y="4261104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실용 텍스트형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2104384" y="4261104"/>
            <a:ext cx="1855983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4013392" y="4261104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24.1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822960" y="4608576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2104384" y="4608576"/>
            <a:ext cx="1078164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3235573" y="4608576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16"/>
          <p:cNvCxnSpPr/>
          <p:nvPr/>
        </p:nvCxnSpPr>
        <p:spPr>
          <a:xfrm>
            <a:off x="2104384" y="3520440"/>
            <a:ext cx="0" cy="13716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6"/>
          <p:cNvSpPr/>
          <p:nvPr/>
        </p:nvSpPr>
        <p:spPr>
          <a:xfrm>
            <a:off x="822960" y="49377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감성형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표현 중심 캐릭터 — 매월 1·2위 고정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822960" y="51663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× 블로그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캐릭터가 맛집·리뷰·일상기록 등 블로그 상황을 연기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822960" y="53949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실용 텍스트형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 문구, 형광펜 리뷰, 말풍선 모음 ZIP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822960" y="56235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기반 — 네이버 스트리머 팬카페 기반, 단월 폭발력은 크지만 지속성 낮음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속성별 데이터 (유형=판매 수 · 그 외=매출액)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6"/>
          <p:cNvGraphicFramePr/>
          <p:nvPr/>
        </p:nvGraphicFramePr>
        <p:xfrm>
          <a:off x="5462601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{083F6371-C4A3-46A8-8800-388B6035BCA3}</a:tableStyleId>
              </a:tblPr>
              <a:tblGrid>
                <a:gridCol w="1237225"/>
                <a:gridCol w="1325600"/>
                <a:gridCol w="1007475"/>
                <a:gridCol w="1325600"/>
                <a:gridCol w="10074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속성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애니메이션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비중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46.4%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29.7%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종류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기반 분류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추상적 캐릭터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35.6%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도메인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블로그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86.6%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성격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귀여운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개그·병맛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색상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무채색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파스텔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라인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굵은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가는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투명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맥락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리뷰·기록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62.4%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공감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6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1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17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블로거가 작성하는 포스팅마다의 ‘장면’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요즘 네이버 블로그 트렌드를 참고하여 스티커(이모티콘)로 표현해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822960" y="2148840"/>
            <a:ext cx="3976835" cy="310896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822960" y="2148840"/>
            <a:ext cx="3976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네이버 블로그는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5241665" y="2148840"/>
            <a:ext cx="6124326" cy="31089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5241665" y="2148840"/>
            <a:ext cx="612432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포스팅에 이런 스티커(이모티콘)를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822960" y="2532888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946683" y="2651760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8" name="Google Shape;5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57" y="2743200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7"/>
          <p:cNvSpPr/>
          <p:nvPr/>
        </p:nvSpPr>
        <p:spPr>
          <a:xfrm>
            <a:off x="1423903" y="2615184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1423903" y="2615184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협찬·체험단 글 증가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423903" y="2807208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체험단·협찬 글이 늘고,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 표기는 사실상 필수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4897006" y="2734056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5241665" y="2532888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5347714" y="2615184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5347714" y="261518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5860284" y="2587752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공정위·내돈내산 문구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5347714" y="2834640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컬러·손그림·캐릭터가 팻말 든 버전으로 변형 — 같은 문구라도 디자인이 갈리면 수요도 갈립니다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9306875" y="26060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9306875" y="26060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내돈내산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10349689" y="26060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10349689" y="26060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협찬 문구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9306875" y="286207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9306875" y="286207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솔직 후기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10349689" y="286207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10349689" y="286207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포함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822960" y="3200400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946683" y="3319272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8" name="Google Shape;5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57" y="3410712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7"/>
          <p:cNvSpPr/>
          <p:nvPr/>
        </p:nvSpPr>
        <p:spPr>
          <a:xfrm>
            <a:off x="1423903" y="3282696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1423903" y="3282696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경험형 글 유리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1423903" y="3474720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맛집·여행 등 직접 경험 글이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인용·홈피드에서 유리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4897006" y="3401568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5241665" y="3200400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5347714" y="3282696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5347714" y="328269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5860284" y="3255264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상황 스티커(이모티콘)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5347714" y="3502152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글의 고정 항목을 스티커(이모티콘)로 — 별점·주차·웨이팅·재방문 등 매 글마다 반복되는 정보 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9306875" y="32735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9306875" y="32735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재방문 의사 100%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10349689" y="32735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0349689" y="32735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웨이팅 30분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9306875" y="352958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9306875" y="352958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가능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10349689" y="352958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10349689" y="352958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가성비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822960" y="3867912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946683" y="3986784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8" name="Google Shape;5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057" y="4078224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7"/>
          <p:cNvSpPr/>
          <p:nvPr/>
        </p:nvSpPr>
        <p:spPr>
          <a:xfrm>
            <a:off x="1423903" y="3950208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1423903" y="3950208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첫인상이 중요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1423903" y="4142232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개인화 피드 시대,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첫인상이 이탈률을 좌우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4897006" y="4069080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5241665" y="3867912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5347714" y="3950208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5347714" y="395020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5860284" y="3922776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꾸미기(블꾸)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5347714" y="4169664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내용 및 블로그를 꾸며주는 요소를 모아 하나의 세트로 제작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9306875" y="39410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9306875" y="39410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포스팅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10349689" y="39410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10349689" y="39410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TIP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9306875" y="419709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9306875" y="419709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10349689" y="419709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10349689" y="419709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822960" y="4535424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946683" y="4654296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8" name="Google Shape;58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57" y="4745736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7"/>
          <p:cNvSpPr/>
          <p:nvPr/>
        </p:nvSpPr>
        <p:spPr>
          <a:xfrm>
            <a:off x="1423903" y="4617720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1423903" y="4617720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일상·감성 꾸준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1423903" y="4809744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기록·감성 글은 꾸준하고,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캐릭터가 블로그 상황을 연기하는 방식 확산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4897006" y="4736592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5241665" y="4535424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5347714" y="4617720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5347714" y="461772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5860284" y="4590288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‘블로거인 캐릭터’ 시리즈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5347714" y="4837176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캐릭터 하나를 정하고 리뷰편·일상편·근황편으로 이어가기 — 시리즈가 롱런을 만듭니다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9306875" y="46085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9306875" y="46085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오늘도 기록 완료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10349689" y="46085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10349689" y="46085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밀림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9306875" y="4864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9306875" y="4864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이웃 방문 감사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10349689" y="4864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10349689" y="4864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블태기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822960" y="5202936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946683" y="5321808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8" name="Google Shape;60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57" y="5413248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7"/>
          <p:cNvSpPr/>
          <p:nvPr/>
        </p:nvSpPr>
        <p:spPr>
          <a:xfrm>
            <a:off x="1423903" y="5285232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1423903" y="5285232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틈새 · 숏폼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1423903" y="5477256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밈·유머는 공급이 적고 수요는 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클립(숏폼) 삽입 포스팅 증가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4897006" y="5404104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5241665" y="5202936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5347714" y="5285232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5347714" y="528523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5860284" y="5257800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블로거 밈 리액션 · 클립 안내형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5347714" y="5504688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블로거끼리 통하는 상황 개그, 영상 삽입 글용 안내 스티커(이모티콘) — 경쟁이 적은 영역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9306875" y="52760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9306875" y="52760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품절 대란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10349689" y="52760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10349689" y="52760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지옥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9306875" y="5532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9306875" y="5532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영상으로 보기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10349689" y="5532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10349689" y="5532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클립 확인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18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18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24종 이미지의 순서는 ‘블로그 글 한 편’의 순서로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이용자의 사용 패턴을 참고하여 스티커(이모티콘)를 구성해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22960" y="2569464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8"/>
          <p:cNvSpPr/>
          <p:nvPr/>
        </p:nvSpPr>
        <p:spPr>
          <a:xfrm>
            <a:off x="929008" y="2660904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929008" y="2660904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1~4번 · 4장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2060197" y="2671071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글을 여는 장면. 마켓 미리보기에 가장 먼저 보이는 자리 — 세트의 대표 얼굴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2060197" y="2916936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안녕하세요 · 오늘의 포스팅 · 시작합니다 · 목차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1353204" y="3154680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822960" y="3246120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929008" y="3337560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929008" y="3337560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진행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5~12번 · 8장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2060197" y="3347727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이동·도착·정보·팁·사진 안내처럼 글 중간중간 끼우는 상황 스티커(이모티콘)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2060197" y="3593592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도착 · 정보 · TIP · 체크 · 사진 보기 · 잠깐 · 기록 중 · 다음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1353204" y="3831336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822960" y="3922776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929008" y="4014216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8"/>
          <p:cNvSpPr/>
          <p:nvPr/>
        </p:nvSpPr>
        <p:spPr>
          <a:xfrm>
            <a:off x="929008" y="4014216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13~18번 · 6장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2060197" y="4024383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사건에 대한 반응. 긍정 3 : 부정 3, 강도는 3~4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2060197" y="4270248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대박 · 최고 · 뿌듯 · 헉 · 피곤 · 당황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1353204" y="4507992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822960" y="4599432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929008" y="4690872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8"/>
          <p:cNvSpPr/>
          <p:nvPr/>
        </p:nvSpPr>
        <p:spPr>
          <a:xfrm>
            <a:off x="929008" y="4690872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판단·정리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19~22번 · 4장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2060197" y="4701039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글의 결론 칸. 추천/비추/보류를 한 장으로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2060197" y="4946904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재방문 의사 100% · 패스 · 고민 중 · 총평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1353204" y="5184648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822960" y="5276088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8"/>
          <p:cNvSpPr/>
          <p:nvPr/>
        </p:nvSpPr>
        <p:spPr>
          <a:xfrm>
            <a:off x="929008" y="5367528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929008" y="5367528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23~24번 · 2장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2060197" y="5377695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글을 닫는 인사. 댓글 답글에도 재사용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2060197" y="5623560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감사합니다 · 다음 포스팅에서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478903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6478903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715938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715938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783986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783986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8520345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8520345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920082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920082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진행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988130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988130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6478903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6478903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715938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715938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783986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783986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8520345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8520345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920082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920082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988130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988130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6478903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6478903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715938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715938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783986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783986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8520345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8520345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920082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920082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988130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988130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6478903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8"/>
          <p:cNvSpPr/>
          <p:nvPr/>
        </p:nvSpPr>
        <p:spPr>
          <a:xfrm>
            <a:off x="6478903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판단·정리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715938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8"/>
          <p:cNvSpPr/>
          <p:nvPr/>
        </p:nvSpPr>
        <p:spPr>
          <a:xfrm>
            <a:off x="715938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/>
          <p:nvPr/>
        </p:nvSpPr>
        <p:spPr>
          <a:xfrm>
            <a:off x="783986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8"/>
          <p:cNvSpPr/>
          <p:nvPr/>
        </p:nvSpPr>
        <p:spPr>
          <a:xfrm>
            <a:off x="783986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8520345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8"/>
          <p:cNvSpPr/>
          <p:nvPr/>
        </p:nvSpPr>
        <p:spPr>
          <a:xfrm>
            <a:off x="8520345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920082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920082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988130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8"/>
          <p:cNvSpPr/>
          <p:nvPr/>
        </p:nvSpPr>
        <p:spPr>
          <a:xfrm>
            <a:off x="988130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6443553" y="2532888"/>
            <a:ext cx="2748434" cy="4572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10579462" y="2551176"/>
            <a:ext cx="88374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 1~4번 이미지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첫인상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6390529" y="4398264"/>
            <a:ext cx="497546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규칙 4가지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6390529" y="46177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1~4번 도입 이미지 장면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먼저 보이는 자리. 세트의 핵심 용도(리뷰·인사) 및 대표 이미지 세팅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6390529" y="48463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구간은 붙여서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감정끼리, 정보끼리 모여 있어야 글 쓰다가 바로 찾음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6390529" y="50749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긍정·부정은 짝으로 나란히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‘대박’ 옆에 ‘헉’, ‘추천’ 옆에 ‘패스’ — 선택지가 한 화면에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6390529" y="53035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4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장은 항상 인사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24번 = 글 닫는 문구. 댓글·답글에서 가장 자주 재사용됨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9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19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8" name="Google Shape;738;p19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작성 시간에 스티커(이모티콘) 구매까지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통해 주요 매출 발생 시간, 시즌에 맞춰 출시 예약을 설정할 수 있습니다. 전략적으로 이용해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19"/>
          <p:cNvCxnSpPr/>
          <p:nvPr/>
        </p:nvCxnSpPr>
        <p:spPr>
          <a:xfrm>
            <a:off x="955521" y="4526280"/>
            <a:ext cx="5390821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19"/>
          <p:cNvSpPr/>
          <p:nvPr/>
        </p:nvSpPr>
        <p:spPr>
          <a:xfrm>
            <a:off x="998198" y="3529585"/>
            <a:ext cx="139262" cy="1014983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9"/>
          <p:cNvSpPr/>
          <p:nvPr/>
        </p:nvSpPr>
        <p:spPr>
          <a:xfrm>
            <a:off x="95552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1222816" y="3845357"/>
            <a:ext cx="139262" cy="69921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9"/>
          <p:cNvSpPr/>
          <p:nvPr/>
        </p:nvSpPr>
        <p:spPr>
          <a:xfrm>
            <a:off x="118013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1447433" y="4116020"/>
            <a:ext cx="139262" cy="42854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140475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1672051" y="4251351"/>
            <a:ext cx="139262" cy="29321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162937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1896668" y="4341572"/>
            <a:ext cx="139262" cy="202996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185399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2121286" y="4409237"/>
            <a:ext cx="139262" cy="13533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207860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1990234" y="4244645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0.6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2345903" y="4364127"/>
            <a:ext cx="139262" cy="18044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230322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2570521" y="4251351"/>
            <a:ext cx="139262" cy="29321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252784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2795138" y="4070909"/>
            <a:ext cx="139262" cy="47365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275246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3019756" y="3755137"/>
            <a:ext cx="139262" cy="78943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297707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3244374" y="3597250"/>
            <a:ext cx="139262" cy="94731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9"/>
          <p:cNvSpPr/>
          <p:nvPr/>
        </p:nvSpPr>
        <p:spPr>
          <a:xfrm>
            <a:off x="320169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3468991" y="3416809"/>
            <a:ext cx="139262" cy="112775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342631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3693609" y="3416809"/>
            <a:ext cx="139262" cy="112775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365093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3918226" y="3281477"/>
            <a:ext cx="139262" cy="1263091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9"/>
          <p:cNvSpPr/>
          <p:nvPr/>
        </p:nvSpPr>
        <p:spPr>
          <a:xfrm>
            <a:off x="387554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4142844" y="3146146"/>
            <a:ext cx="139262" cy="139842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410016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/>
          <p:nvPr/>
        </p:nvSpPr>
        <p:spPr>
          <a:xfrm>
            <a:off x="4367461" y="3146146"/>
            <a:ext cx="139262" cy="139842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432478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9"/>
          <p:cNvSpPr/>
          <p:nvPr/>
        </p:nvSpPr>
        <p:spPr>
          <a:xfrm>
            <a:off x="4592079" y="3101036"/>
            <a:ext cx="139262" cy="144353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454940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9"/>
          <p:cNvSpPr/>
          <p:nvPr/>
        </p:nvSpPr>
        <p:spPr>
          <a:xfrm>
            <a:off x="4816696" y="3168701"/>
            <a:ext cx="139262" cy="137586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477401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5041314" y="3258922"/>
            <a:ext cx="139262" cy="128564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9"/>
          <p:cNvSpPr/>
          <p:nvPr/>
        </p:nvSpPr>
        <p:spPr>
          <a:xfrm>
            <a:off x="499863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9"/>
          <p:cNvSpPr/>
          <p:nvPr/>
        </p:nvSpPr>
        <p:spPr>
          <a:xfrm>
            <a:off x="5265931" y="3326588"/>
            <a:ext cx="139262" cy="121798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9"/>
          <p:cNvSpPr/>
          <p:nvPr/>
        </p:nvSpPr>
        <p:spPr>
          <a:xfrm>
            <a:off x="522325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5490549" y="3304033"/>
            <a:ext cx="139262" cy="1240535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9"/>
          <p:cNvSpPr/>
          <p:nvPr/>
        </p:nvSpPr>
        <p:spPr>
          <a:xfrm>
            <a:off x="5447872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5715167" y="3123591"/>
            <a:ext cx="139262" cy="142097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9"/>
          <p:cNvSpPr/>
          <p:nvPr/>
        </p:nvSpPr>
        <p:spPr>
          <a:xfrm>
            <a:off x="567248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/>
          <p:nvPr/>
        </p:nvSpPr>
        <p:spPr>
          <a:xfrm>
            <a:off x="5939784" y="3055925"/>
            <a:ext cx="139262" cy="1488643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9"/>
          <p:cNvSpPr/>
          <p:nvPr/>
        </p:nvSpPr>
        <p:spPr>
          <a:xfrm>
            <a:off x="5897107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9"/>
          <p:cNvSpPr/>
          <p:nvPr/>
        </p:nvSpPr>
        <p:spPr>
          <a:xfrm>
            <a:off x="5808732" y="2891333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6.6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/>
          <p:nvPr/>
        </p:nvSpPr>
        <p:spPr>
          <a:xfrm>
            <a:off x="6164402" y="3236367"/>
            <a:ext cx="139262" cy="1308201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9"/>
          <p:cNvSpPr/>
          <p:nvPr/>
        </p:nvSpPr>
        <p:spPr>
          <a:xfrm>
            <a:off x="612172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3857874" y="2816352"/>
            <a:ext cx="2506142" cy="1728216"/>
          </a:xfrm>
          <a:prstGeom prst="roundRect">
            <a:avLst>
              <a:gd fmla="val 2646" name="adj"/>
            </a:avLst>
          </a:prstGeom>
          <a:noFill/>
          <a:ln cap="flat" cmpd="sng" w="1270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9"/>
          <p:cNvSpPr/>
          <p:nvPr/>
        </p:nvSpPr>
        <p:spPr>
          <a:xfrm>
            <a:off x="2991808" y="2633472"/>
            <a:ext cx="335453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13~23시 집중 구간 — 하루 매출의 약 2/3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9"/>
          <p:cNvSpPr/>
          <p:nvPr/>
        </p:nvSpPr>
        <p:spPr>
          <a:xfrm>
            <a:off x="822960" y="4709160"/>
            <a:ext cx="265122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가로축: 시 (0~23시)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9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9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요일별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19"/>
          <p:cNvCxnSpPr/>
          <p:nvPr/>
        </p:nvCxnSpPr>
        <p:spPr>
          <a:xfrm>
            <a:off x="6814725" y="4526280"/>
            <a:ext cx="4374518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19"/>
          <p:cNvSpPr/>
          <p:nvPr/>
        </p:nvSpPr>
        <p:spPr>
          <a:xfrm>
            <a:off x="6939711" y="3069082"/>
            <a:ext cx="374958" cy="147548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9"/>
          <p:cNvSpPr/>
          <p:nvPr/>
        </p:nvSpPr>
        <p:spPr>
          <a:xfrm>
            <a:off x="6814725" y="2904490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9"/>
          <p:cNvSpPr/>
          <p:nvPr/>
        </p:nvSpPr>
        <p:spPr>
          <a:xfrm>
            <a:off x="681472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9"/>
          <p:cNvSpPr/>
          <p:nvPr/>
        </p:nvSpPr>
        <p:spPr>
          <a:xfrm>
            <a:off x="7564642" y="3087878"/>
            <a:ext cx="374958" cy="145669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9"/>
          <p:cNvSpPr/>
          <p:nvPr/>
        </p:nvSpPr>
        <p:spPr>
          <a:xfrm>
            <a:off x="7439655" y="292328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9"/>
          <p:cNvSpPr/>
          <p:nvPr/>
        </p:nvSpPr>
        <p:spPr>
          <a:xfrm>
            <a:off x="743965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9"/>
          <p:cNvSpPr/>
          <p:nvPr/>
        </p:nvSpPr>
        <p:spPr>
          <a:xfrm>
            <a:off x="8189573" y="3200654"/>
            <a:ext cx="374958" cy="134391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9"/>
          <p:cNvSpPr/>
          <p:nvPr/>
        </p:nvSpPr>
        <p:spPr>
          <a:xfrm>
            <a:off x="8064587" y="3036062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14.3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9"/>
          <p:cNvSpPr/>
          <p:nvPr/>
        </p:nvSpPr>
        <p:spPr>
          <a:xfrm>
            <a:off x="8064587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9"/>
          <p:cNvSpPr/>
          <p:nvPr/>
        </p:nvSpPr>
        <p:spPr>
          <a:xfrm>
            <a:off x="8814505" y="3106674"/>
            <a:ext cx="374958" cy="143789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9"/>
          <p:cNvSpPr/>
          <p:nvPr/>
        </p:nvSpPr>
        <p:spPr>
          <a:xfrm>
            <a:off x="8689518" y="2942082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9"/>
          <p:cNvSpPr/>
          <p:nvPr/>
        </p:nvSpPr>
        <p:spPr>
          <a:xfrm>
            <a:off x="8689518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9"/>
          <p:cNvSpPr/>
          <p:nvPr/>
        </p:nvSpPr>
        <p:spPr>
          <a:xfrm>
            <a:off x="9439436" y="3087878"/>
            <a:ext cx="374958" cy="145669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9"/>
          <p:cNvSpPr/>
          <p:nvPr/>
        </p:nvSpPr>
        <p:spPr>
          <a:xfrm>
            <a:off x="9314450" y="292328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9"/>
          <p:cNvSpPr/>
          <p:nvPr/>
        </p:nvSpPr>
        <p:spPr>
          <a:xfrm>
            <a:off x="9314450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9"/>
          <p:cNvSpPr/>
          <p:nvPr/>
        </p:nvSpPr>
        <p:spPr>
          <a:xfrm>
            <a:off x="10064367" y="3473196"/>
            <a:ext cx="374958" cy="107137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9"/>
          <p:cNvSpPr/>
          <p:nvPr/>
        </p:nvSpPr>
        <p:spPr>
          <a:xfrm>
            <a:off x="9939381" y="330860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11.4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9"/>
          <p:cNvSpPr/>
          <p:nvPr/>
        </p:nvSpPr>
        <p:spPr>
          <a:xfrm>
            <a:off x="9939381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9"/>
          <p:cNvSpPr/>
          <p:nvPr/>
        </p:nvSpPr>
        <p:spPr>
          <a:xfrm>
            <a:off x="10689298" y="3398012"/>
            <a:ext cx="374958" cy="1146556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9"/>
          <p:cNvSpPr/>
          <p:nvPr/>
        </p:nvSpPr>
        <p:spPr>
          <a:xfrm>
            <a:off x="10564312" y="3233420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9"/>
          <p:cNvSpPr/>
          <p:nvPr/>
        </p:nvSpPr>
        <p:spPr>
          <a:xfrm>
            <a:off x="10564312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9"/>
          <p:cNvSpPr/>
          <p:nvPr/>
        </p:nvSpPr>
        <p:spPr>
          <a:xfrm>
            <a:off x="6637975" y="4709150"/>
            <a:ext cx="4593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평일 76.3%  ·  주말 23.6%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9"/>
          <p:cNvSpPr/>
          <p:nvPr/>
        </p:nvSpPr>
        <p:spPr>
          <a:xfrm>
            <a:off x="822960" y="4956048"/>
            <a:ext cx="70699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9~12월 시즌 캘린더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9"/>
          <p:cNvSpPr/>
          <p:nvPr/>
        </p:nvSpPr>
        <p:spPr>
          <a:xfrm>
            <a:off x="8229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9"/>
          <p:cNvSpPr/>
          <p:nvPr/>
        </p:nvSpPr>
        <p:spPr>
          <a:xfrm>
            <a:off x="9555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9"/>
          <p:cNvSpPr/>
          <p:nvPr/>
        </p:nvSpPr>
        <p:spPr>
          <a:xfrm>
            <a:off x="9555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추석 연휴(9/24~26) · 개학 · 가을 시작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9"/>
          <p:cNvSpPr/>
          <p:nvPr/>
        </p:nvSpPr>
        <p:spPr>
          <a:xfrm>
            <a:off x="9555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명절 인사 · 여행 리뷰 · 가을 감성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9"/>
          <p:cNvSpPr/>
          <p:nvPr/>
        </p:nvSpPr>
        <p:spPr>
          <a:xfrm>
            <a:off x="34971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9"/>
          <p:cNvSpPr/>
          <p:nvPr/>
        </p:nvSpPr>
        <p:spPr>
          <a:xfrm>
            <a:off x="36297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9"/>
          <p:cNvSpPr/>
          <p:nvPr/>
        </p:nvSpPr>
        <p:spPr>
          <a:xfrm>
            <a:off x="36297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개천절 · 한글날 · 단풍 나들이 · 할로윈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36297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나들이 상황 · 축제 후기 · 할로윈 리액션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6171361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9"/>
          <p:cNvSpPr/>
          <p:nvPr/>
        </p:nvSpPr>
        <p:spPr>
          <a:xfrm>
            <a:off x="6303922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9"/>
          <p:cNvSpPr/>
          <p:nvPr/>
        </p:nvSpPr>
        <p:spPr>
          <a:xfrm>
            <a:off x="6303922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수능(11/19) · 빼빼로데이 · 블랙 프라이데이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6303922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응원 문구 · 쇼핑 리뷰 · 내돈내산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9"/>
          <p:cNvSpPr/>
          <p:nvPr/>
        </p:nvSpPr>
        <p:spPr>
          <a:xfrm>
            <a:off x="8845562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9"/>
          <p:cNvSpPr/>
          <p:nvPr/>
        </p:nvSpPr>
        <p:spPr>
          <a:xfrm>
            <a:off x="8978123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9"/>
          <p:cNvSpPr/>
          <p:nvPr/>
        </p:nvSpPr>
        <p:spPr>
          <a:xfrm>
            <a:off x="8978123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크리스마스 · 연말 결산 · 송년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/>
          <p:nvPr/>
        </p:nvSpPr>
        <p:spPr>
          <a:xfrm>
            <a:off x="8978123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감사·송년 인사 · 회고 문구 · 새해 계획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출시에 도전해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9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0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2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0" name="Google Shape;850;p20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핵심 내용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0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0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플레이북으로 안내해 드린 방법을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20"/>
          <p:cNvCxnSpPr/>
          <p:nvPr/>
        </p:nvCxnSpPr>
        <p:spPr>
          <a:xfrm>
            <a:off x="1826006" y="2231136"/>
            <a:ext cx="8536939" cy="0"/>
          </a:xfrm>
          <a:prstGeom prst="straightConnector1">
            <a:avLst/>
          </a:prstGeom>
          <a:noFill/>
          <a:ln cap="flat" cmpd="sng" w="19050">
            <a:solidFill>
              <a:srgbClr val="C5D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20"/>
          <p:cNvSpPr/>
          <p:nvPr/>
        </p:nvSpPr>
        <p:spPr>
          <a:xfrm>
            <a:off x="174646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0"/>
          <p:cNvSpPr/>
          <p:nvPr/>
        </p:nvSpPr>
        <p:spPr>
          <a:xfrm>
            <a:off x="822960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0"/>
          <p:cNvSpPr/>
          <p:nvPr/>
        </p:nvSpPr>
        <p:spPr>
          <a:xfrm>
            <a:off x="955521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0"/>
          <p:cNvSpPr/>
          <p:nvPr/>
        </p:nvSpPr>
        <p:spPr>
          <a:xfrm>
            <a:off x="982033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0"/>
          <p:cNvSpPr/>
          <p:nvPr/>
        </p:nvSpPr>
        <p:spPr>
          <a:xfrm>
            <a:off x="145925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0"/>
          <p:cNvSpPr/>
          <p:nvPr/>
        </p:nvSpPr>
        <p:spPr>
          <a:xfrm>
            <a:off x="228113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1" name="Google Shape;8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34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20"/>
          <p:cNvSpPr/>
          <p:nvPr/>
        </p:nvSpPr>
        <p:spPr>
          <a:xfrm>
            <a:off x="955521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0"/>
          <p:cNvSpPr/>
          <p:nvPr/>
        </p:nvSpPr>
        <p:spPr>
          <a:xfrm>
            <a:off x="999708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스티커(이모티콘)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0"/>
          <p:cNvSpPr/>
          <p:nvPr/>
        </p:nvSpPr>
        <p:spPr>
          <a:xfrm>
            <a:off x="982033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차트를 통해 실제 NAVER OGQ마켓에서 인기 있는 콘텐츠를 확인해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0"/>
          <p:cNvSpPr/>
          <p:nvPr/>
        </p:nvSpPr>
        <p:spPr>
          <a:xfrm>
            <a:off x="955521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0"/>
          <p:cNvSpPr/>
          <p:nvPr/>
        </p:nvSpPr>
        <p:spPr>
          <a:xfrm>
            <a:off x="1061570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0"/>
          <p:cNvSpPr/>
          <p:nvPr/>
        </p:nvSpPr>
        <p:spPr>
          <a:xfrm>
            <a:off x="122948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차트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"/>
          <p:cNvSpPr/>
          <p:nvPr/>
        </p:nvSpPr>
        <p:spPr>
          <a:xfrm>
            <a:off x="955521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1061570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0"/>
          <p:cNvSpPr/>
          <p:nvPr/>
        </p:nvSpPr>
        <p:spPr>
          <a:xfrm>
            <a:off x="122948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유입, 핵심 키워드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2846727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0"/>
          <p:cNvSpPr/>
          <p:nvPr/>
        </p:nvSpPr>
        <p:spPr>
          <a:xfrm>
            <a:off x="3880704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0"/>
          <p:cNvSpPr/>
          <p:nvPr/>
        </p:nvSpPr>
        <p:spPr>
          <a:xfrm>
            <a:off x="2957194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0"/>
          <p:cNvSpPr/>
          <p:nvPr/>
        </p:nvSpPr>
        <p:spPr>
          <a:xfrm>
            <a:off x="3089756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3116268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0"/>
          <p:cNvSpPr/>
          <p:nvPr/>
        </p:nvSpPr>
        <p:spPr>
          <a:xfrm>
            <a:off x="3593488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0"/>
          <p:cNvSpPr/>
          <p:nvPr/>
        </p:nvSpPr>
        <p:spPr>
          <a:xfrm>
            <a:off x="4415367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8" name="Google Shape;8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79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20"/>
          <p:cNvSpPr/>
          <p:nvPr/>
        </p:nvSpPr>
        <p:spPr>
          <a:xfrm>
            <a:off x="3089756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0"/>
          <p:cNvSpPr/>
          <p:nvPr/>
        </p:nvSpPr>
        <p:spPr>
          <a:xfrm>
            <a:off x="3133943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0"/>
          <p:cNvSpPr/>
          <p:nvPr/>
        </p:nvSpPr>
        <p:spPr>
          <a:xfrm>
            <a:off x="3116268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3089756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0"/>
          <p:cNvSpPr/>
          <p:nvPr/>
        </p:nvSpPr>
        <p:spPr>
          <a:xfrm>
            <a:off x="3195805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0"/>
          <p:cNvSpPr/>
          <p:nvPr/>
        </p:nvSpPr>
        <p:spPr>
          <a:xfrm>
            <a:off x="3363715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0"/>
          <p:cNvSpPr/>
          <p:nvPr/>
        </p:nvSpPr>
        <p:spPr>
          <a:xfrm>
            <a:off x="3089756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0"/>
          <p:cNvSpPr/>
          <p:nvPr/>
        </p:nvSpPr>
        <p:spPr>
          <a:xfrm>
            <a:off x="3195805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0"/>
          <p:cNvSpPr/>
          <p:nvPr/>
        </p:nvSpPr>
        <p:spPr>
          <a:xfrm>
            <a:off x="3363715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속성별 데이터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4980962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0"/>
          <p:cNvSpPr/>
          <p:nvPr/>
        </p:nvSpPr>
        <p:spPr>
          <a:xfrm>
            <a:off x="601493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0"/>
          <p:cNvSpPr/>
          <p:nvPr/>
        </p:nvSpPr>
        <p:spPr>
          <a:xfrm>
            <a:off x="5091429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20"/>
          <p:cNvSpPr/>
          <p:nvPr/>
        </p:nvSpPr>
        <p:spPr>
          <a:xfrm>
            <a:off x="5223990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5250503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572772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654960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5" name="Google Shape;8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681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0"/>
          <p:cNvSpPr/>
          <p:nvPr/>
        </p:nvSpPr>
        <p:spPr>
          <a:xfrm>
            <a:off x="5223990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20"/>
          <p:cNvSpPr/>
          <p:nvPr/>
        </p:nvSpPr>
        <p:spPr>
          <a:xfrm>
            <a:off x="5268178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주제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5250503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0"/>
          <p:cNvSpPr/>
          <p:nvPr/>
        </p:nvSpPr>
        <p:spPr>
          <a:xfrm>
            <a:off x="5223990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5330039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0"/>
          <p:cNvSpPr/>
          <p:nvPr/>
        </p:nvSpPr>
        <p:spPr>
          <a:xfrm>
            <a:off x="549795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블로그 트렌드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5223990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0"/>
          <p:cNvSpPr/>
          <p:nvPr/>
        </p:nvSpPr>
        <p:spPr>
          <a:xfrm>
            <a:off x="5330039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549795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트렌드에 따른 스티커(이모티콘)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0"/>
          <p:cNvSpPr/>
          <p:nvPr/>
        </p:nvSpPr>
        <p:spPr>
          <a:xfrm>
            <a:off x="7115197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0"/>
          <p:cNvSpPr/>
          <p:nvPr/>
        </p:nvSpPr>
        <p:spPr>
          <a:xfrm>
            <a:off x="8149174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0"/>
          <p:cNvSpPr/>
          <p:nvPr/>
        </p:nvSpPr>
        <p:spPr>
          <a:xfrm>
            <a:off x="7225664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7358225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0"/>
          <p:cNvSpPr/>
          <p:nvPr/>
        </p:nvSpPr>
        <p:spPr>
          <a:xfrm>
            <a:off x="7384738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/>
          <p:nvPr/>
        </p:nvSpPr>
        <p:spPr>
          <a:xfrm>
            <a:off x="7861958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0"/>
          <p:cNvSpPr/>
          <p:nvPr/>
        </p:nvSpPr>
        <p:spPr>
          <a:xfrm>
            <a:off x="8683837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2" name="Google Shape;9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1049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20"/>
          <p:cNvSpPr/>
          <p:nvPr/>
        </p:nvSpPr>
        <p:spPr>
          <a:xfrm>
            <a:off x="7358225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0"/>
          <p:cNvSpPr/>
          <p:nvPr/>
        </p:nvSpPr>
        <p:spPr>
          <a:xfrm>
            <a:off x="7402412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환경과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/>
          <p:nvPr/>
        </p:nvSpPr>
        <p:spPr>
          <a:xfrm>
            <a:off x="7384738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0"/>
          <p:cNvSpPr/>
          <p:nvPr/>
        </p:nvSpPr>
        <p:spPr>
          <a:xfrm>
            <a:off x="7358225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0"/>
          <p:cNvSpPr/>
          <p:nvPr/>
        </p:nvSpPr>
        <p:spPr>
          <a:xfrm>
            <a:off x="7464274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20"/>
          <p:cNvSpPr/>
          <p:nvPr/>
        </p:nvSpPr>
        <p:spPr>
          <a:xfrm>
            <a:off x="7632185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흐름에 따른 배치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0"/>
          <p:cNvSpPr/>
          <p:nvPr/>
        </p:nvSpPr>
        <p:spPr>
          <a:xfrm>
            <a:off x="7358225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0"/>
          <p:cNvSpPr/>
          <p:nvPr/>
        </p:nvSpPr>
        <p:spPr>
          <a:xfrm>
            <a:off x="7464274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0"/>
          <p:cNvSpPr/>
          <p:nvPr/>
        </p:nvSpPr>
        <p:spPr>
          <a:xfrm>
            <a:off x="7632185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0"/>
          <p:cNvSpPr/>
          <p:nvPr/>
        </p:nvSpPr>
        <p:spPr>
          <a:xfrm>
            <a:off x="9249431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0"/>
          <p:cNvSpPr/>
          <p:nvPr/>
        </p:nvSpPr>
        <p:spPr>
          <a:xfrm>
            <a:off x="1028340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0"/>
          <p:cNvSpPr/>
          <p:nvPr/>
        </p:nvSpPr>
        <p:spPr>
          <a:xfrm>
            <a:off x="9359899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0"/>
          <p:cNvSpPr/>
          <p:nvPr/>
        </p:nvSpPr>
        <p:spPr>
          <a:xfrm>
            <a:off x="9492460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0"/>
          <p:cNvSpPr/>
          <p:nvPr/>
        </p:nvSpPr>
        <p:spPr>
          <a:xfrm>
            <a:off x="9518972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0"/>
          <p:cNvSpPr/>
          <p:nvPr/>
        </p:nvSpPr>
        <p:spPr>
          <a:xfrm>
            <a:off x="999619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0"/>
          <p:cNvSpPr/>
          <p:nvPr/>
        </p:nvSpPr>
        <p:spPr>
          <a:xfrm>
            <a:off x="1081807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29" name="Google Shape;92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1528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0"/>
          <p:cNvSpPr/>
          <p:nvPr/>
        </p:nvSpPr>
        <p:spPr>
          <a:xfrm>
            <a:off x="9492460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20"/>
          <p:cNvSpPr/>
          <p:nvPr/>
        </p:nvSpPr>
        <p:spPr>
          <a:xfrm>
            <a:off x="9536647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패턴과 시즌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9518972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출시에 도전해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0"/>
          <p:cNvSpPr/>
          <p:nvPr/>
        </p:nvSpPr>
        <p:spPr>
          <a:xfrm>
            <a:off x="9492460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0"/>
          <p:cNvSpPr/>
          <p:nvPr/>
        </p:nvSpPr>
        <p:spPr>
          <a:xfrm>
            <a:off x="9598509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0"/>
          <p:cNvSpPr/>
          <p:nvPr/>
        </p:nvSpPr>
        <p:spPr>
          <a:xfrm>
            <a:off x="976642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시간대, 요일별 매출 비율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0"/>
          <p:cNvSpPr/>
          <p:nvPr/>
        </p:nvSpPr>
        <p:spPr>
          <a:xfrm>
            <a:off x="9492460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0"/>
          <p:cNvSpPr/>
          <p:nvPr/>
        </p:nvSpPr>
        <p:spPr>
          <a:xfrm>
            <a:off x="9598509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0"/>
          <p:cNvSpPr/>
          <p:nvPr/>
        </p:nvSpPr>
        <p:spPr>
          <a:xfrm>
            <a:off x="976642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시즌별 캘린더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0"/>
          <p:cNvSpPr/>
          <p:nvPr/>
        </p:nvSpPr>
        <p:spPr>
          <a:xfrm>
            <a:off x="822960" y="5870448"/>
            <a:ext cx="10543032" cy="457200"/>
          </a:xfrm>
          <a:prstGeom prst="roundRect">
            <a:avLst>
              <a:gd fmla="val 16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0"/>
          <p:cNvSpPr/>
          <p:nvPr/>
        </p:nvSpPr>
        <p:spPr>
          <a:xfrm>
            <a:off x="999439" y="5870448"/>
            <a:ext cx="101626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자료는 크리에이터 님들의 OGQ 콘텐츠 제작에 참고가 되도록 데이터를 정리한 것입니다. 정답이 아닌 출발점이니, 나만의 스타일과 아이디어에 맞게 자유롭게 활용해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0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1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1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1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1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1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2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1" name="Google Shape;961;p22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2" name="Google Shape;962;p22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탐색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22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이모티콘을 실시간 인기순으로 확인하는 방법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2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인기차트를 통하여 현재 마켓 트렌드를 확인해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6" name="Google Shape;9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48840"/>
            <a:ext cx="4197770" cy="1461587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967" name="Google Shape;967;p22"/>
          <p:cNvSpPr/>
          <p:nvPr/>
        </p:nvSpPr>
        <p:spPr>
          <a:xfrm>
            <a:off x="3562557" y="2221992"/>
            <a:ext cx="1369798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2"/>
          <p:cNvSpPr/>
          <p:nvPr/>
        </p:nvSpPr>
        <p:spPr>
          <a:xfrm>
            <a:off x="3562557" y="2221992"/>
            <a:ext cx="136979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메인 피처드 큐레이션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9" name="Google Shape;9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3770894"/>
            <a:ext cx="4197770" cy="1951443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970" name="Google Shape;970;p22"/>
          <p:cNvSpPr/>
          <p:nvPr/>
        </p:nvSpPr>
        <p:spPr>
          <a:xfrm>
            <a:off x="3385809" y="3844046"/>
            <a:ext cx="1546547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3385809" y="3844046"/>
            <a:ext cx="1546547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이모티콘 탭 · 인기순 정렬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2"/>
          <p:cNvSpPr/>
          <p:nvPr/>
        </p:nvSpPr>
        <p:spPr>
          <a:xfrm>
            <a:off x="822960" y="5961888"/>
            <a:ext cx="4197770" cy="274320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2"/>
          <p:cNvSpPr/>
          <p:nvPr/>
        </p:nvSpPr>
        <p:spPr>
          <a:xfrm>
            <a:off x="822960" y="5961888"/>
            <a:ext cx="41977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 › 홈 ‘인기 이모티콘’ / 이모티콘 탭 ‘인기순’  </a:t>
            </a:r>
            <a:r>
              <a:rPr b="0" i="0" lang="en-US" sz="8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(바로가기)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5330039" y="2148840"/>
            <a:ext cx="603595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2"/>
          <p:cNvSpPr/>
          <p:nvPr/>
        </p:nvSpPr>
        <p:spPr>
          <a:xfrm>
            <a:off x="5489113" y="2441448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2"/>
          <p:cNvSpPr/>
          <p:nvPr/>
        </p:nvSpPr>
        <p:spPr>
          <a:xfrm>
            <a:off x="5489113" y="2441448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6081219" y="2350008"/>
            <a:ext cx="5108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‘인기 이모티콘’ 큐레이션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2"/>
          <p:cNvSpPr/>
          <p:nvPr/>
        </p:nvSpPr>
        <p:spPr>
          <a:xfrm>
            <a:off x="6081219" y="2642616"/>
            <a:ext cx="5108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 메인 홈 인기 이모티콘을 통해 실시간 인기차트 제공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2"/>
          <p:cNvSpPr/>
          <p:nvPr/>
        </p:nvSpPr>
        <p:spPr>
          <a:xfrm>
            <a:off x="5330039" y="3300984"/>
            <a:ext cx="603595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2"/>
          <p:cNvSpPr/>
          <p:nvPr/>
        </p:nvSpPr>
        <p:spPr>
          <a:xfrm>
            <a:off x="5489113" y="3593592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2"/>
          <p:cNvSpPr/>
          <p:nvPr/>
        </p:nvSpPr>
        <p:spPr>
          <a:xfrm>
            <a:off x="5489113" y="359359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/>
          <p:nvPr/>
        </p:nvSpPr>
        <p:spPr>
          <a:xfrm>
            <a:off x="6081219" y="3502152"/>
            <a:ext cx="5108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탭에서 ‘인기순’ 정렬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2"/>
          <p:cNvSpPr/>
          <p:nvPr/>
        </p:nvSpPr>
        <p:spPr>
          <a:xfrm>
            <a:off x="6081219" y="3794760"/>
            <a:ext cx="5108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목록의 인기순에서도 인기 차트 확인 가능 (‘움직이는 이모티콘’ 체크 별도 확인 가능)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2"/>
          <p:cNvSpPr/>
          <p:nvPr/>
        </p:nvSpPr>
        <p:spPr>
          <a:xfrm>
            <a:off x="5330039" y="4453128"/>
            <a:ext cx="603595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22"/>
          <p:cNvSpPr/>
          <p:nvPr/>
        </p:nvSpPr>
        <p:spPr>
          <a:xfrm>
            <a:off x="5489113" y="4745736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2"/>
          <p:cNvSpPr/>
          <p:nvPr/>
        </p:nvSpPr>
        <p:spPr>
          <a:xfrm>
            <a:off x="5489113" y="4745736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2"/>
          <p:cNvSpPr/>
          <p:nvPr/>
        </p:nvSpPr>
        <p:spPr>
          <a:xfrm>
            <a:off x="6081219" y="4654296"/>
            <a:ext cx="5108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실시간이므로 기록하며 추적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2"/>
          <p:cNvSpPr/>
          <p:nvPr/>
        </p:nvSpPr>
        <p:spPr>
          <a:xfrm>
            <a:off x="6081219" y="4946904"/>
            <a:ext cx="5108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기간을 설정하여 인기차트 확인이 불가하여 주기적인 확인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2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3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6" name="Google Shape;996;p23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23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분석하기 (TOP 25)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3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3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월별 TOP 25 콘텐츠의 상세 데이터를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3"/>
          <p:cNvSpPr/>
          <p:nvPr/>
        </p:nvSpPr>
        <p:spPr>
          <a:xfrm>
            <a:off x="822960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3"/>
          <p:cNvSpPr/>
          <p:nvPr/>
        </p:nvSpPr>
        <p:spPr>
          <a:xfrm>
            <a:off x="822960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94.2%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822960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 판매 수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3"/>
          <p:cNvSpPr/>
          <p:nvPr/>
        </p:nvSpPr>
        <p:spPr>
          <a:xfrm>
            <a:off x="3498494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3"/>
          <p:cNvSpPr/>
          <p:nvPr/>
        </p:nvSpPr>
        <p:spPr>
          <a:xfrm>
            <a:off x="3498494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77.7%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3"/>
          <p:cNvSpPr/>
          <p:nvPr/>
        </p:nvSpPr>
        <p:spPr>
          <a:xfrm>
            <a:off x="3498494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콘텐츠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3"/>
          <p:cNvSpPr/>
          <p:nvPr/>
        </p:nvSpPr>
        <p:spPr>
          <a:xfrm>
            <a:off x="6174029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3"/>
          <p:cNvSpPr/>
          <p:nvPr/>
        </p:nvSpPr>
        <p:spPr>
          <a:xfrm>
            <a:off x="6174029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53.3%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3"/>
          <p:cNvSpPr/>
          <p:nvPr/>
        </p:nvSpPr>
        <p:spPr>
          <a:xfrm>
            <a:off x="6174029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밈(meme) 활용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3"/>
          <p:cNvSpPr/>
          <p:nvPr/>
        </p:nvSpPr>
        <p:spPr>
          <a:xfrm>
            <a:off x="8849563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3"/>
          <p:cNvSpPr/>
          <p:nvPr/>
        </p:nvSpPr>
        <p:spPr>
          <a:xfrm>
            <a:off x="8849563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29.6%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3"/>
          <p:cNvSpPr/>
          <p:nvPr/>
        </p:nvSpPr>
        <p:spPr>
          <a:xfrm>
            <a:off x="8849563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시리즈(넘버링)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3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3"/>
          <p:cNvSpPr/>
          <p:nvPr/>
        </p:nvSpPr>
        <p:spPr>
          <a:xfrm>
            <a:off x="822960" y="3566160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리액션·개그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3"/>
          <p:cNvSpPr/>
          <p:nvPr/>
        </p:nvSpPr>
        <p:spPr>
          <a:xfrm>
            <a:off x="2104384" y="3566160"/>
            <a:ext cx="2695410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3"/>
          <p:cNvSpPr/>
          <p:nvPr/>
        </p:nvSpPr>
        <p:spPr>
          <a:xfrm>
            <a:off x="4852819" y="3566160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51.9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3"/>
          <p:cNvSpPr/>
          <p:nvPr/>
        </p:nvSpPr>
        <p:spPr>
          <a:xfrm>
            <a:off x="822960" y="3913632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일상·감성 캐릭터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2104384" y="3913632"/>
            <a:ext cx="882889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3"/>
          <p:cNvSpPr/>
          <p:nvPr/>
        </p:nvSpPr>
        <p:spPr>
          <a:xfrm>
            <a:off x="3040298" y="3913632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17.0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3"/>
          <p:cNvSpPr/>
          <p:nvPr/>
        </p:nvSpPr>
        <p:spPr>
          <a:xfrm>
            <a:off x="822960" y="4261104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밈·유행어 리액션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3"/>
          <p:cNvSpPr/>
          <p:nvPr/>
        </p:nvSpPr>
        <p:spPr>
          <a:xfrm>
            <a:off x="2104384" y="4261104"/>
            <a:ext cx="867309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3"/>
          <p:cNvSpPr/>
          <p:nvPr/>
        </p:nvSpPr>
        <p:spPr>
          <a:xfrm>
            <a:off x="3024718" y="4261104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16.7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822960" y="4608576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/>
          <p:nvPr/>
        </p:nvSpPr>
        <p:spPr>
          <a:xfrm>
            <a:off x="2104384" y="4608576"/>
            <a:ext cx="747859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23"/>
          <p:cNvSpPr/>
          <p:nvPr/>
        </p:nvSpPr>
        <p:spPr>
          <a:xfrm>
            <a:off x="2905268" y="4608576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14.4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23"/>
          <p:cNvCxnSpPr/>
          <p:nvPr/>
        </p:nvCxnSpPr>
        <p:spPr>
          <a:xfrm>
            <a:off x="2104384" y="3520440"/>
            <a:ext cx="0" cy="13716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23"/>
          <p:cNvSpPr/>
          <p:nvPr/>
        </p:nvSpPr>
        <p:spPr>
          <a:xfrm>
            <a:off x="822960" y="49377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리액션·개그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표정·제스처 리액션, 개그 성격 51.9%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822960" y="51663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일상·감성 캐릭터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동물 캐릭터 — 텍스트 비중은 낮게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3"/>
          <p:cNvSpPr/>
          <p:nvPr/>
        </p:nvSpPr>
        <p:spPr>
          <a:xfrm>
            <a:off x="822960" y="53949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밈·유행어 리액션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초성체·밈 문구를 캐릭터에 결합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822960" y="56235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기반, 방송인 유행어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3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3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속성별 데이터 (유형=판매 수 · 그 외=매출액)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4" name="Google Shape;1034;p23"/>
          <p:cNvGraphicFramePr/>
          <p:nvPr/>
        </p:nvGraphicFramePr>
        <p:xfrm>
          <a:off x="5462601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{083F6371-C4A3-46A8-8800-388B6035BCA3}</a:tableStyleId>
              </a:tblPr>
              <a:tblGrid>
                <a:gridCol w="1237225"/>
                <a:gridCol w="1325600"/>
                <a:gridCol w="1007475"/>
                <a:gridCol w="1325600"/>
                <a:gridCol w="10074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속성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애니메이션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비중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보통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종류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74.9%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감탄사·의성어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기반 분류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71.7%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추상적 캐릭터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도메인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방송·게임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62.5%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34.3%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성격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개그·병맛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59.7%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귀여운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색상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파스텔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52.1%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원색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라인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굵은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91.6%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가는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투명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맥락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방송 리액션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56.3%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공감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5" name="Google Shape;1035;p23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3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3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4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24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5" name="Google Shape;1045;p24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4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4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시청자가 채팅을 치는 ‘순간’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4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라이브 방송의 흐름을 참고하여 이모티콘으로 표현해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4"/>
          <p:cNvSpPr/>
          <p:nvPr/>
        </p:nvSpPr>
        <p:spPr>
          <a:xfrm>
            <a:off x="822960" y="2148840"/>
            <a:ext cx="3976835" cy="310896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24"/>
          <p:cNvSpPr/>
          <p:nvPr/>
        </p:nvSpPr>
        <p:spPr>
          <a:xfrm>
            <a:off x="822960" y="2148840"/>
            <a:ext cx="3976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SOOP 실시간 스트리밍은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4"/>
          <p:cNvSpPr/>
          <p:nvPr/>
        </p:nvSpPr>
        <p:spPr>
          <a:xfrm>
            <a:off x="5241665" y="2148840"/>
            <a:ext cx="6124326" cy="31089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4"/>
          <p:cNvSpPr/>
          <p:nvPr/>
        </p:nvSpPr>
        <p:spPr>
          <a:xfrm>
            <a:off x="5241665" y="2148840"/>
            <a:ext cx="612432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실시간 채팅창에 이런 이모티콘을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4"/>
          <p:cNvSpPr/>
          <p:nvPr/>
        </p:nvSpPr>
        <p:spPr>
          <a:xfrm>
            <a:off x="822960" y="2532888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4"/>
          <p:cNvSpPr/>
          <p:nvPr/>
        </p:nvSpPr>
        <p:spPr>
          <a:xfrm>
            <a:off x="946683" y="2651760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5" name="Google Shape;10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57" y="2743200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4"/>
          <p:cNvSpPr/>
          <p:nvPr/>
        </p:nvSpPr>
        <p:spPr>
          <a:xfrm>
            <a:off x="1423903" y="2615184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4"/>
          <p:cNvSpPr/>
          <p:nvPr/>
        </p:nvSpPr>
        <p:spPr>
          <a:xfrm>
            <a:off x="1423903" y="2615184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채팅창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4"/>
          <p:cNvSpPr/>
          <p:nvPr/>
        </p:nvSpPr>
        <p:spPr>
          <a:xfrm>
            <a:off x="1423903" y="2807208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채팅은 ‘읽는 것’이 아니라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‘순식간에 알아보는 것’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4"/>
          <p:cNvSpPr/>
          <p:nvPr/>
        </p:nvSpPr>
        <p:spPr>
          <a:xfrm>
            <a:off x="4897006" y="2734056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24"/>
          <p:cNvSpPr/>
          <p:nvPr/>
        </p:nvSpPr>
        <p:spPr>
          <a:xfrm>
            <a:off x="5241665" y="2532888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24"/>
          <p:cNvSpPr/>
          <p:nvPr/>
        </p:nvSpPr>
        <p:spPr>
          <a:xfrm>
            <a:off x="5347714" y="2615184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24"/>
          <p:cNvSpPr/>
          <p:nvPr/>
        </p:nvSpPr>
        <p:spPr>
          <a:xfrm>
            <a:off x="5347714" y="261518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4"/>
          <p:cNvSpPr/>
          <p:nvPr/>
        </p:nvSpPr>
        <p:spPr>
          <a:xfrm>
            <a:off x="5860284" y="2587752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무자막 클로즈업 리액션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4"/>
          <p:cNvSpPr/>
          <p:nvPr/>
        </p:nvSpPr>
        <p:spPr>
          <a:xfrm>
            <a:off x="5347714" y="2834640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자막 없이 표정만으로 읽히게. 작은 채팅창에서도 한눈에 알아보는 크기와 대비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4"/>
          <p:cNvSpPr/>
          <p:nvPr/>
        </p:nvSpPr>
        <p:spPr>
          <a:xfrm>
            <a:off x="9306875" y="26060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24"/>
          <p:cNvSpPr/>
          <p:nvPr/>
        </p:nvSpPr>
        <p:spPr>
          <a:xfrm>
            <a:off x="9306875" y="26060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4"/>
          <p:cNvSpPr/>
          <p:nvPr/>
        </p:nvSpPr>
        <p:spPr>
          <a:xfrm>
            <a:off x="10349689" y="26060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24"/>
          <p:cNvSpPr/>
          <p:nvPr/>
        </p:nvSpPr>
        <p:spPr>
          <a:xfrm>
            <a:off x="10349689" y="26060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볼터치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9306875" y="286207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24"/>
          <p:cNvSpPr/>
          <p:nvPr/>
        </p:nvSpPr>
        <p:spPr>
          <a:xfrm>
            <a:off x="9306875" y="286207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눈 표정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4"/>
          <p:cNvSpPr/>
          <p:nvPr/>
        </p:nvSpPr>
        <p:spPr>
          <a:xfrm>
            <a:off x="10349689" y="286207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24"/>
          <p:cNvSpPr/>
          <p:nvPr/>
        </p:nvSpPr>
        <p:spPr>
          <a:xfrm>
            <a:off x="10349689" y="286207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무자막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4"/>
          <p:cNvSpPr/>
          <p:nvPr/>
        </p:nvSpPr>
        <p:spPr>
          <a:xfrm>
            <a:off x="822960" y="3200400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4"/>
          <p:cNvSpPr/>
          <p:nvPr/>
        </p:nvSpPr>
        <p:spPr>
          <a:xfrm>
            <a:off x="946683" y="3319272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5" name="Google Shape;10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57" y="3410712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24"/>
          <p:cNvSpPr/>
          <p:nvPr/>
        </p:nvSpPr>
        <p:spPr>
          <a:xfrm>
            <a:off x="1423903" y="3282696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4"/>
          <p:cNvSpPr/>
          <p:nvPr/>
        </p:nvSpPr>
        <p:spPr>
          <a:xfrm>
            <a:off x="1423903" y="3282696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 선호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4"/>
          <p:cNvSpPr/>
          <p:nvPr/>
        </p:nvSpPr>
        <p:spPr>
          <a:xfrm>
            <a:off x="1423903" y="3474720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대신 움직이는 이모티콘,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움직여야 보인다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4"/>
          <p:cNvSpPr/>
          <p:nvPr/>
        </p:nvSpPr>
        <p:spPr>
          <a:xfrm>
            <a:off x="4897006" y="3401568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4"/>
          <p:cNvSpPr/>
          <p:nvPr/>
        </p:nvSpPr>
        <p:spPr>
          <a:xfrm>
            <a:off x="5241665" y="3200400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4"/>
          <p:cNvSpPr/>
          <p:nvPr/>
        </p:nvSpPr>
        <p:spPr>
          <a:xfrm>
            <a:off x="5347714" y="3282696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4"/>
          <p:cNvSpPr/>
          <p:nvPr/>
        </p:nvSpPr>
        <p:spPr>
          <a:xfrm>
            <a:off x="5347714" y="328269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4"/>
          <p:cNvSpPr/>
          <p:nvPr/>
        </p:nvSpPr>
        <p:spPr>
          <a:xfrm>
            <a:off x="5860284" y="3255264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‘움티’ 루프 모션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4"/>
          <p:cNvSpPr/>
          <p:nvPr/>
        </p:nvSpPr>
        <p:spPr>
          <a:xfrm>
            <a:off x="5347714" y="3502152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1~2초 루프로 빠르게 지나가는 채팅창에서도 눈에 띄도록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4"/>
          <p:cNvSpPr/>
          <p:nvPr/>
        </p:nvSpPr>
        <p:spPr>
          <a:xfrm>
            <a:off x="9306875" y="32735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24"/>
          <p:cNvSpPr/>
          <p:nvPr/>
        </p:nvSpPr>
        <p:spPr>
          <a:xfrm>
            <a:off x="9306875" y="32735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4"/>
          <p:cNvSpPr/>
          <p:nvPr/>
        </p:nvSpPr>
        <p:spPr>
          <a:xfrm>
            <a:off x="10349689" y="32735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24"/>
          <p:cNvSpPr/>
          <p:nvPr/>
        </p:nvSpPr>
        <p:spPr>
          <a:xfrm>
            <a:off x="10349689" y="32735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4"/>
          <p:cNvSpPr/>
          <p:nvPr/>
        </p:nvSpPr>
        <p:spPr>
          <a:xfrm>
            <a:off x="9306875" y="352958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24"/>
          <p:cNvSpPr/>
          <p:nvPr/>
        </p:nvSpPr>
        <p:spPr>
          <a:xfrm>
            <a:off x="9306875" y="352958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 모션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4"/>
          <p:cNvSpPr/>
          <p:nvPr/>
        </p:nvSpPr>
        <p:spPr>
          <a:xfrm>
            <a:off x="10349689" y="352958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24"/>
          <p:cNvSpPr/>
          <p:nvPr/>
        </p:nvSpPr>
        <p:spPr>
          <a:xfrm>
            <a:off x="10349689" y="352958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4"/>
          <p:cNvSpPr/>
          <p:nvPr/>
        </p:nvSpPr>
        <p:spPr>
          <a:xfrm>
            <a:off x="822960" y="3867912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24"/>
          <p:cNvSpPr/>
          <p:nvPr/>
        </p:nvSpPr>
        <p:spPr>
          <a:xfrm>
            <a:off x="946683" y="3986784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5" name="Google Shape;109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057" y="4078224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24"/>
          <p:cNvSpPr/>
          <p:nvPr/>
        </p:nvSpPr>
        <p:spPr>
          <a:xfrm>
            <a:off x="1423903" y="3950208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4"/>
          <p:cNvSpPr/>
          <p:nvPr/>
        </p:nvSpPr>
        <p:spPr>
          <a:xfrm>
            <a:off x="1423903" y="3950208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시리즈물 대세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1423903" y="4142232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시리즈가 매출을 만든다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매출의 28.9%가 2탄·3탄·확대 ver 등 시리즈물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4"/>
          <p:cNvSpPr/>
          <p:nvPr/>
        </p:nvSpPr>
        <p:spPr>
          <a:xfrm>
            <a:off x="4897006" y="4069080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24"/>
          <p:cNvSpPr/>
          <p:nvPr/>
        </p:nvSpPr>
        <p:spPr>
          <a:xfrm>
            <a:off x="5241665" y="3867912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24"/>
          <p:cNvSpPr/>
          <p:nvPr/>
        </p:nvSpPr>
        <p:spPr>
          <a:xfrm>
            <a:off x="5347714" y="3950208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5347714" y="395020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4"/>
          <p:cNvSpPr/>
          <p:nvPr/>
        </p:nvSpPr>
        <p:spPr>
          <a:xfrm>
            <a:off x="5860284" y="3922776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만든 캐릭터 1종 → 확장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5347714" y="4169664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반응 온 캐릭터를 리액션편·확대 ver·시즌으로 이어가기. 새 캐릭터보다 확장이 안정적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4"/>
          <p:cNvSpPr/>
          <p:nvPr/>
        </p:nvSpPr>
        <p:spPr>
          <a:xfrm>
            <a:off x="9306875" y="39410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9306875" y="39410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4"/>
          <p:cNvSpPr/>
          <p:nvPr/>
        </p:nvSpPr>
        <p:spPr>
          <a:xfrm>
            <a:off x="10349689" y="39410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24"/>
          <p:cNvSpPr/>
          <p:nvPr/>
        </p:nvSpPr>
        <p:spPr>
          <a:xfrm>
            <a:off x="10349689" y="39410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2탄, 3탄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4"/>
          <p:cNvSpPr/>
          <p:nvPr/>
        </p:nvSpPr>
        <p:spPr>
          <a:xfrm>
            <a:off x="9306875" y="419709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24"/>
          <p:cNvSpPr/>
          <p:nvPr/>
        </p:nvSpPr>
        <p:spPr>
          <a:xfrm>
            <a:off x="9306875" y="419709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확대 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4"/>
          <p:cNvSpPr/>
          <p:nvPr/>
        </p:nvSpPr>
        <p:spPr>
          <a:xfrm>
            <a:off x="10349689" y="419709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24"/>
          <p:cNvSpPr/>
          <p:nvPr/>
        </p:nvSpPr>
        <p:spPr>
          <a:xfrm>
            <a:off x="10349689" y="419709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 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4"/>
          <p:cNvSpPr/>
          <p:nvPr/>
        </p:nvSpPr>
        <p:spPr>
          <a:xfrm>
            <a:off x="822960" y="4535424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4"/>
          <p:cNvSpPr/>
          <p:nvPr/>
        </p:nvSpPr>
        <p:spPr>
          <a:xfrm>
            <a:off x="946683" y="4654296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5" name="Google Shape;111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57" y="4745736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24"/>
          <p:cNvSpPr/>
          <p:nvPr/>
        </p:nvSpPr>
        <p:spPr>
          <a:xfrm>
            <a:off x="1423903" y="4617720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4"/>
          <p:cNvSpPr/>
          <p:nvPr/>
        </p:nvSpPr>
        <p:spPr>
          <a:xfrm>
            <a:off x="1423903" y="4617720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고채도 이미지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4"/>
          <p:cNvSpPr/>
          <p:nvPr/>
        </p:nvSpPr>
        <p:spPr>
          <a:xfrm>
            <a:off x="1423903" y="4809744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후원·응원·리액션 순간엔 강하게 표현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굵은 선 · 큰 동작으로 순간을 강조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4"/>
          <p:cNvSpPr/>
          <p:nvPr/>
        </p:nvSpPr>
        <p:spPr>
          <a:xfrm>
            <a:off x="4897006" y="4736592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4"/>
          <p:cNvSpPr/>
          <p:nvPr/>
        </p:nvSpPr>
        <p:spPr>
          <a:xfrm>
            <a:off x="5241665" y="4535424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4"/>
          <p:cNvSpPr/>
          <p:nvPr/>
        </p:nvSpPr>
        <p:spPr>
          <a:xfrm>
            <a:off x="5347714" y="4617720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4"/>
          <p:cNvSpPr/>
          <p:nvPr/>
        </p:nvSpPr>
        <p:spPr>
          <a:xfrm>
            <a:off x="5347714" y="461772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4"/>
          <p:cNvSpPr/>
          <p:nvPr/>
        </p:nvSpPr>
        <p:spPr>
          <a:xfrm>
            <a:off x="5860284" y="4590288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고채도 후원·응원 리액션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4"/>
          <p:cNvSpPr/>
          <p:nvPr/>
        </p:nvSpPr>
        <p:spPr>
          <a:xfrm>
            <a:off x="5347714" y="4837176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후원·응원·리액션 순간에 사용하는 이모티콘은 형광·원색 포인트가 눈에 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4"/>
          <p:cNvSpPr/>
          <p:nvPr/>
        </p:nvSpPr>
        <p:spPr>
          <a:xfrm>
            <a:off x="9306875" y="46085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4"/>
          <p:cNvSpPr/>
          <p:nvPr/>
        </p:nvSpPr>
        <p:spPr>
          <a:xfrm>
            <a:off x="9306875" y="46085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후원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4"/>
          <p:cNvSpPr/>
          <p:nvPr/>
        </p:nvSpPr>
        <p:spPr>
          <a:xfrm>
            <a:off x="10349689" y="46085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4"/>
          <p:cNvSpPr/>
          <p:nvPr/>
        </p:nvSpPr>
        <p:spPr>
          <a:xfrm>
            <a:off x="10349689" y="46085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4"/>
          <p:cNvSpPr/>
          <p:nvPr/>
        </p:nvSpPr>
        <p:spPr>
          <a:xfrm>
            <a:off x="9306875" y="4864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4"/>
          <p:cNvSpPr/>
          <p:nvPr/>
        </p:nvSpPr>
        <p:spPr>
          <a:xfrm>
            <a:off x="9306875" y="4864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댄스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4"/>
          <p:cNvSpPr/>
          <p:nvPr/>
        </p:nvSpPr>
        <p:spPr>
          <a:xfrm>
            <a:off x="10349689" y="4864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4"/>
          <p:cNvSpPr/>
          <p:nvPr/>
        </p:nvSpPr>
        <p:spPr>
          <a:xfrm>
            <a:off x="10349689" y="4864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응원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4"/>
          <p:cNvSpPr/>
          <p:nvPr/>
        </p:nvSpPr>
        <p:spPr>
          <a:xfrm>
            <a:off x="822960" y="5202936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4"/>
          <p:cNvSpPr/>
          <p:nvPr/>
        </p:nvSpPr>
        <p:spPr>
          <a:xfrm>
            <a:off x="946683" y="5321808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5" name="Google Shape;113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57" y="5413248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4"/>
          <p:cNvSpPr/>
          <p:nvPr/>
        </p:nvSpPr>
        <p:spPr>
          <a:xfrm>
            <a:off x="1423903" y="5285232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24"/>
          <p:cNvSpPr/>
          <p:nvPr/>
        </p:nvSpPr>
        <p:spPr>
          <a:xfrm>
            <a:off x="1423903" y="5285232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유행어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4"/>
          <p:cNvSpPr/>
          <p:nvPr/>
        </p:nvSpPr>
        <p:spPr>
          <a:xfrm>
            <a:off x="1423903" y="5477256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스트리머 전용 밈·유행어는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매출은 높으나 아직도 공급 부족 현상 지속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4"/>
          <p:cNvSpPr/>
          <p:nvPr/>
        </p:nvSpPr>
        <p:spPr>
          <a:xfrm>
            <a:off x="4897006" y="5404104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24"/>
          <p:cNvSpPr/>
          <p:nvPr/>
        </p:nvSpPr>
        <p:spPr>
          <a:xfrm>
            <a:off x="5241665" y="5202936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24"/>
          <p:cNvSpPr/>
          <p:nvPr/>
        </p:nvSpPr>
        <p:spPr>
          <a:xfrm>
            <a:off x="5347714" y="5285232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24"/>
          <p:cNvSpPr/>
          <p:nvPr/>
        </p:nvSpPr>
        <p:spPr>
          <a:xfrm>
            <a:off x="5347714" y="528523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4"/>
          <p:cNvSpPr/>
          <p:nvPr/>
        </p:nvSpPr>
        <p:spPr>
          <a:xfrm>
            <a:off x="5860284" y="5257800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방송인 유행어 아카이브형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4"/>
          <p:cNvSpPr/>
          <p:nvPr/>
        </p:nvSpPr>
        <p:spPr>
          <a:xfrm>
            <a:off x="5347714" y="5504688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방송에서 반복되는 은어·유행어·팬덤 인사를 이모티콘으로. 해당 방송 시청자만 아는 문구가 곧 팬덤 수요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4"/>
          <p:cNvSpPr/>
          <p:nvPr/>
        </p:nvSpPr>
        <p:spPr>
          <a:xfrm>
            <a:off x="9306875" y="52760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24"/>
          <p:cNvSpPr/>
          <p:nvPr/>
        </p:nvSpPr>
        <p:spPr>
          <a:xfrm>
            <a:off x="9306875" y="52760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유행어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4"/>
          <p:cNvSpPr/>
          <p:nvPr/>
        </p:nvSpPr>
        <p:spPr>
          <a:xfrm>
            <a:off x="10349689" y="52760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4"/>
          <p:cNvSpPr/>
          <p:nvPr/>
        </p:nvSpPr>
        <p:spPr>
          <a:xfrm>
            <a:off x="10349689" y="52760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4"/>
          <p:cNvSpPr/>
          <p:nvPr/>
        </p:nvSpPr>
        <p:spPr>
          <a:xfrm>
            <a:off x="9306875" y="5532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24"/>
          <p:cNvSpPr/>
          <p:nvPr/>
        </p:nvSpPr>
        <p:spPr>
          <a:xfrm>
            <a:off x="9306875" y="5532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4"/>
          <p:cNvSpPr/>
          <p:nvPr/>
        </p:nvSpPr>
        <p:spPr>
          <a:xfrm>
            <a:off x="10349689" y="5532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4"/>
          <p:cNvSpPr/>
          <p:nvPr/>
        </p:nvSpPr>
        <p:spPr>
          <a:xfrm>
            <a:off x="10349689" y="5532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전용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4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4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4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5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25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3" name="Google Shape;1163;p25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5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5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24종 이미지의 순서는 ‘방송 흐름’ 순서로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5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이용자의 사용 패턴을 참고하여 이모티콘을 구성해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5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5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5"/>
          <p:cNvSpPr/>
          <p:nvPr/>
        </p:nvSpPr>
        <p:spPr>
          <a:xfrm>
            <a:off x="822960" y="2569464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5"/>
          <p:cNvSpPr/>
          <p:nvPr/>
        </p:nvSpPr>
        <p:spPr>
          <a:xfrm>
            <a:off x="929008" y="2660904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5"/>
          <p:cNvSpPr/>
          <p:nvPr/>
        </p:nvSpPr>
        <p:spPr>
          <a:xfrm>
            <a:off x="929008" y="2660904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입장·인사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 · 3장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5"/>
          <p:cNvSpPr/>
          <p:nvPr/>
        </p:nvSpPr>
        <p:spPr>
          <a:xfrm>
            <a:off x="2060197" y="2671071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방송에 들어와 처음 치는 채팅. 미리보기에 먼저 보이는 자리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5"/>
          <p:cNvSpPr/>
          <p:nvPr/>
        </p:nvSpPr>
        <p:spPr>
          <a:xfrm>
            <a:off x="2060197" y="2916936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하이 · 안녕 · O하~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5"/>
          <p:cNvSpPr/>
          <p:nvPr/>
        </p:nvSpPr>
        <p:spPr>
          <a:xfrm>
            <a:off x="1353204" y="3154680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5"/>
          <p:cNvSpPr/>
          <p:nvPr/>
        </p:nvSpPr>
        <p:spPr>
          <a:xfrm>
            <a:off x="822960" y="3246120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5"/>
          <p:cNvSpPr/>
          <p:nvPr/>
        </p:nvSpPr>
        <p:spPr>
          <a:xfrm>
            <a:off x="929008" y="3337560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5"/>
          <p:cNvSpPr/>
          <p:nvPr/>
        </p:nvSpPr>
        <p:spPr>
          <a:xfrm>
            <a:off x="929008" y="3337560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시청·리액션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4~10번 · 7장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5"/>
          <p:cNvSpPr/>
          <p:nvPr/>
        </p:nvSpPr>
        <p:spPr>
          <a:xfrm>
            <a:off x="2060197" y="3347727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방송을 보면서 흘리듯 치는 가벼운 반응. 대화를 끊지 않는 짧은 컷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5"/>
          <p:cNvSpPr/>
          <p:nvPr/>
        </p:nvSpPr>
        <p:spPr>
          <a:xfrm>
            <a:off x="2060197" y="3593592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ㅋㅋㅋ · ㅇㅈ · 확인 · 굿 · 두둥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5"/>
          <p:cNvSpPr/>
          <p:nvPr/>
        </p:nvSpPr>
        <p:spPr>
          <a:xfrm>
            <a:off x="1353204" y="3831336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5"/>
          <p:cNvSpPr/>
          <p:nvPr/>
        </p:nvSpPr>
        <p:spPr>
          <a:xfrm>
            <a:off x="822960" y="3922776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25"/>
          <p:cNvSpPr/>
          <p:nvPr/>
        </p:nvSpPr>
        <p:spPr>
          <a:xfrm>
            <a:off x="929008" y="4014216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25"/>
          <p:cNvSpPr/>
          <p:nvPr/>
        </p:nvSpPr>
        <p:spPr>
          <a:xfrm>
            <a:off x="929008" y="4014216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폭발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11~20번 · 10장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5"/>
          <p:cNvSpPr/>
          <p:nvPr/>
        </p:nvSpPr>
        <p:spPr>
          <a:xfrm>
            <a:off x="2060197" y="4024383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사건에 대한 반응. 세트에서 가장 비중이 큰 구간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5"/>
          <p:cNvSpPr/>
          <p:nvPr/>
        </p:nvSpPr>
        <p:spPr>
          <a:xfrm>
            <a:off x="2060197" y="4270248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대박 · 오열 · 심쿵 · 속터져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5"/>
          <p:cNvSpPr/>
          <p:nvPr/>
        </p:nvSpPr>
        <p:spPr>
          <a:xfrm>
            <a:off x="1353204" y="4507992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25"/>
          <p:cNvSpPr/>
          <p:nvPr/>
        </p:nvSpPr>
        <p:spPr>
          <a:xfrm>
            <a:off x="822960" y="4599432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25"/>
          <p:cNvSpPr/>
          <p:nvPr/>
        </p:nvSpPr>
        <p:spPr>
          <a:xfrm>
            <a:off x="929008" y="4690872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25"/>
          <p:cNvSpPr/>
          <p:nvPr/>
        </p:nvSpPr>
        <p:spPr>
          <a:xfrm>
            <a:off x="929008" y="4690872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반박·거절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21~22번 · 2장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5"/>
          <p:cNvSpPr/>
          <p:nvPr/>
        </p:nvSpPr>
        <p:spPr>
          <a:xfrm>
            <a:off x="2060197" y="4701039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도발·항의를 한 장으로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5"/>
          <p:cNvSpPr/>
          <p:nvPr/>
        </p:nvSpPr>
        <p:spPr>
          <a:xfrm>
            <a:off x="2060197" y="4946904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안돼 · 그만 · 어쩌라고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5"/>
          <p:cNvSpPr/>
          <p:nvPr/>
        </p:nvSpPr>
        <p:spPr>
          <a:xfrm>
            <a:off x="1353204" y="5184648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25"/>
          <p:cNvSpPr/>
          <p:nvPr/>
        </p:nvSpPr>
        <p:spPr>
          <a:xfrm>
            <a:off x="822960" y="5276088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25"/>
          <p:cNvSpPr/>
          <p:nvPr/>
        </p:nvSpPr>
        <p:spPr>
          <a:xfrm>
            <a:off x="929008" y="5367528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25"/>
          <p:cNvSpPr/>
          <p:nvPr/>
        </p:nvSpPr>
        <p:spPr>
          <a:xfrm>
            <a:off x="929008" y="5367528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응원·작별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23~24번 · 2장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5"/>
          <p:cNvSpPr/>
          <p:nvPr/>
        </p:nvSpPr>
        <p:spPr>
          <a:xfrm>
            <a:off x="2060197" y="5377695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마무리. 마지막 장은 항상 작별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5"/>
          <p:cNvSpPr/>
          <p:nvPr/>
        </p:nvSpPr>
        <p:spPr>
          <a:xfrm>
            <a:off x="2060197" y="5623560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화이팅 · 바이 · O바~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5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5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5"/>
          <p:cNvSpPr/>
          <p:nvPr/>
        </p:nvSpPr>
        <p:spPr>
          <a:xfrm>
            <a:off x="6478903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5"/>
          <p:cNvSpPr/>
          <p:nvPr/>
        </p:nvSpPr>
        <p:spPr>
          <a:xfrm>
            <a:off x="6478903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입장·인사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5"/>
          <p:cNvSpPr/>
          <p:nvPr/>
        </p:nvSpPr>
        <p:spPr>
          <a:xfrm>
            <a:off x="715938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5"/>
          <p:cNvSpPr/>
          <p:nvPr/>
        </p:nvSpPr>
        <p:spPr>
          <a:xfrm>
            <a:off x="715938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5"/>
          <p:cNvSpPr/>
          <p:nvPr/>
        </p:nvSpPr>
        <p:spPr>
          <a:xfrm>
            <a:off x="783986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5"/>
          <p:cNvSpPr/>
          <p:nvPr/>
        </p:nvSpPr>
        <p:spPr>
          <a:xfrm>
            <a:off x="783986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5"/>
          <p:cNvSpPr/>
          <p:nvPr/>
        </p:nvSpPr>
        <p:spPr>
          <a:xfrm>
            <a:off x="8520345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5"/>
          <p:cNvSpPr/>
          <p:nvPr/>
        </p:nvSpPr>
        <p:spPr>
          <a:xfrm>
            <a:off x="8520345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시청·리액션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5"/>
          <p:cNvSpPr/>
          <p:nvPr/>
        </p:nvSpPr>
        <p:spPr>
          <a:xfrm>
            <a:off x="920082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5"/>
          <p:cNvSpPr/>
          <p:nvPr/>
        </p:nvSpPr>
        <p:spPr>
          <a:xfrm>
            <a:off x="920082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5"/>
          <p:cNvSpPr/>
          <p:nvPr/>
        </p:nvSpPr>
        <p:spPr>
          <a:xfrm>
            <a:off x="988130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5"/>
          <p:cNvSpPr/>
          <p:nvPr/>
        </p:nvSpPr>
        <p:spPr>
          <a:xfrm>
            <a:off x="988130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5"/>
          <p:cNvSpPr/>
          <p:nvPr/>
        </p:nvSpPr>
        <p:spPr>
          <a:xfrm>
            <a:off x="6478903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5"/>
          <p:cNvSpPr/>
          <p:nvPr/>
        </p:nvSpPr>
        <p:spPr>
          <a:xfrm>
            <a:off x="6478903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5"/>
          <p:cNvSpPr/>
          <p:nvPr/>
        </p:nvSpPr>
        <p:spPr>
          <a:xfrm>
            <a:off x="715938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25"/>
          <p:cNvSpPr/>
          <p:nvPr/>
        </p:nvSpPr>
        <p:spPr>
          <a:xfrm>
            <a:off x="715938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5"/>
          <p:cNvSpPr/>
          <p:nvPr/>
        </p:nvSpPr>
        <p:spPr>
          <a:xfrm>
            <a:off x="783986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5"/>
          <p:cNvSpPr/>
          <p:nvPr/>
        </p:nvSpPr>
        <p:spPr>
          <a:xfrm>
            <a:off x="783986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5"/>
          <p:cNvSpPr/>
          <p:nvPr/>
        </p:nvSpPr>
        <p:spPr>
          <a:xfrm>
            <a:off x="8520345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25"/>
          <p:cNvSpPr/>
          <p:nvPr/>
        </p:nvSpPr>
        <p:spPr>
          <a:xfrm>
            <a:off x="8520345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5"/>
          <p:cNvSpPr/>
          <p:nvPr/>
        </p:nvSpPr>
        <p:spPr>
          <a:xfrm>
            <a:off x="920082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5"/>
          <p:cNvSpPr/>
          <p:nvPr/>
        </p:nvSpPr>
        <p:spPr>
          <a:xfrm>
            <a:off x="920082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폭발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5"/>
          <p:cNvSpPr/>
          <p:nvPr/>
        </p:nvSpPr>
        <p:spPr>
          <a:xfrm>
            <a:off x="988130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5"/>
          <p:cNvSpPr/>
          <p:nvPr/>
        </p:nvSpPr>
        <p:spPr>
          <a:xfrm>
            <a:off x="988130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5"/>
          <p:cNvSpPr/>
          <p:nvPr/>
        </p:nvSpPr>
        <p:spPr>
          <a:xfrm>
            <a:off x="6478903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25"/>
          <p:cNvSpPr/>
          <p:nvPr/>
        </p:nvSpPr>
        <p:spPr>
          <a:xfrm>
            <a:off x="6478903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5"/>
          <p:cNvSpPr/>
          <p:nvPr/>
        </p:nvSpPr>
        <p:spPr>
          <a:xfrm>
            <a:off x="715938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25"/>
          <p:cNvSpPr/>
          <p:nvPr/>
        </p:nvSpPr>
        <p:spPr>
          <a:xfrm>
            <a:off x="715938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5"/>
          <p:cNvSpPr/>
          <p:nvPr/>
        </p:nvSpPr>
        <p:spPr>
          <a:xfrm>
            <a:off x="783986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5"/>
          <p:cNvSpPr/>
          <p:nvPr/>
        </p:nvSpPr>
        <p:spPr>
          <a:xfrm>
            <a:off x="783986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5"/>
          <p:cNvSpPr/>
          <p:nvPr/>
        </p:nvSpPr>
        <p:spPr>
          <a:xfrm>
            <a:off x="8520345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25"/>
          <p:cNvSpPr/>
          <p:nvPr/>
        </p:nvSpPr>
        <p:spPr>
          <a:xfrm>
            <a:off x="8520345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5"/>
          <p:cNvSpPr/>
          <p:nvPr/>
        </p:nvSpPr>
        <p:spPr>
          <a:xfrm>
            <a:off x="920082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5"/>
          <p:cNvSpPr/>
          <p:nvPr/>
        </p:nvSpPr>
        <p:spPr>
          <a:xfrm>
            <a:off x="920082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5"/>
          <p:cNvSpPr/>
          <p:nvPr/>
        </p:nvSpPr>
        <p:spPr>
          <a:xfrm>
            <a:off x="988130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5"/>
          <p:cNvSpPr/>
          <p:nvPr/>
        </p:nvSpPr>
        <p:spPr>
          <a:xfrm>
            <a:off x="988130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5"/>
          <p:cNvSpPr/>
          <p:nvPr/>
        </p:nvSpPr>
        <p:spPr>
          <a:xfrm>
            <a:off x="6478903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5"/>
          <p:cNvSpPr/>
          <p:nvPr/>
        </p:nvSpPr>
        <p:spPr>
          <a:xfrm>
            <a:off x="6478903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5"/>
          <p:cNvSpPr/>
          <p:nvPr/>
        </p:nvSpPr>
        <p:spPr>
          <a:xfrm>
            <a:off x="715938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5"/>
          <p:cNvSpPr/>
          <p:nvPr/>
        </p:nvSpPr>
        <p:spPr>
          <a:xfrm>
            <a:off x="715938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5"/>
          <p:cNvSpPr/>
          <p:nvPr/>
        </p:nvSpPr>
        <p:spPr>
          <a:xfrm>
            <a:off x="783986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5"/>
          <p:cNvSpPr/>
          <p:nvPr/>
        </p:nvSpPr>
        <p:spPr>
          <a:xfrm>
            <a:off x="783986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반박·거절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5"/>
          <p:cNvSpPr/>
          <p:nvPr/>
        </p:nvSpPr>
        <p:spPr>
          <a:xfrm>
            <a:off x="8520345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5"/>
          <p:cNvSpPr/>
          <p:nvPr/>
        </p:nvSpPr>
        <p:spPr>
          <a:xfrm>
            <a:off x="8520345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5"/>
          <p:cNvSpPr/>
          <p:nvPr/>
        </p:nvSpPr>
        <p:spPr>
          <a:xfrm>
            <a:off x="920082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5"/>
          <p:cNvSpPr/>
          <p:nvPr/>
        </p:nvSpPr>
        <p:spPr>
          <a:xfrm>
            <a:off x="920082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응원·작별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25"/>
          <p:cNvSpPr/>
          <p:nvPr/>
        </p:nvSpPr>
        <p:spPr>
          <a:xfrm>
            <a:off x="988130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5"/>
          <p:cNvSpPr/>
          <p:nvPr/>
        </p:nvSpPr>
        <p:spPr>
          <a:xfrm>
            <a:off x="988130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5"/>
          <p:cNvSpPr/>
          <p:nvPr/>
        </p:nvSpPr>
        <p:spPr>
          <a:xfrm>
            <a:off x="6443553" y="2532888"/>
            <a:ext cx="2067954" cy="4572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5"/>
          <p:cNvSpPr/>
          <p:nvPr/>
        </p:nvSpPr>
        <p:spPr>
          <a:xfrm>
            <a:off x="10579462" y="2551176"/>
            <a:ext cx="88374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 1~3번 이미지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첫인상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5"/>
          <p:cNvSpPr/>
          <p:nvPr/>
        </p:nvSpPr>
        <p:spPr>
          <a:xfrm>
            <a:off x="6390529" y="4398264"/>
            <a:ext cx="497546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규칙 4가지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5"/>
          <p:cNvSpPr/>
          <p:nvPr/>
        </p:nvSpPr>
        <p:spPr>
          <a:xfrm>
            <a:off x="6390529" y="46177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1~3번에 가장 잘 팔릴 장면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미리보기에 먼저 보이는 자리. 인사 + 가장 많이 사용하는 리액션 1장을 앞에 배치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5"/>
          <p:cNvSpPr/>
          <p:nvPr/>
        </p:nvSpPr>
        <p:spPr>
          <a:xfrm>
            <a:off x="6390529" y="48463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 리액션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방송마다 사용하는 인기 리액션 배치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5"/>
          <p:cNvSpPr/>
          <p:nvPr/>
        </p:nvSpPr>
        <p:spPr>
          <a:xfrm>
            <a:off x="6390529" y="50749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가장 많이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중 10장은 감정이 드러나도록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5"/>
          <p:cNvSpPr/>
          <p:nvPr/>
        </p:nvSpPr>
        <p:spPr>
          <a:xfrm>
            <a:off x="6390529" y="53035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4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시작은 등장 인사, 마지막 장은 작별 인사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중 다수가 인사로 시작과 종료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5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5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5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26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4" name="Google Shape;1264;p26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5" name="Google Shape;1265;p26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6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26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스트리머 방송 시간에 이모티콘 구매까지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6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통해 주요 매출 발생 시간, 시즌에 맞춰 출시 예약을 설정할 수 있습니다. 전략적으로 이용해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6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26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1" name="Google Shape;1271;p26"/>
          <p:cNvCxnSpPr/>
          <p:nvPr/>
        </p:nvCxnSpPr>
        <p:spPr>
          <a:xfrm>
            <a:off x="955521" y="4526280"/>
            <a:ext cx="5390821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2" name="Google Shape;1272;p26"/>
          <p:cNvSpPr/>
          <p:nvPr/>
        </p:nvSpPr>
        <p:spPr>
          <a:xfrm>
            <a:off x="998198" y="3404937"/>
            <a:ext cx="139262" cy="113963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26"/>
          <p:cNvSpPr/>
          <p:nvPr/>
        </p:nvSpPr>
        <p:spPr>
          <a:xfrm>
            <a:off x="95552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6"/>
          <p:cNvSpPr/>
          <p:nvPr/>
        </p:nvSpPr>
        <p:spPr>
          <a:xfrm>
            <a:off x="1222816" y="3618618"/>
            <a:ext cx="139262" cy="92595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6"/>
          <p:cNvSpPr/>
          <p:nvPr/>
        </p:nvSpPr>
        <p:spPr>
          <a:xfrm>
            <a:off x="118013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6"/>
          <p:cNvSpPr/>
          <p:nvPr/>
        </p:nvSpPr>
        <p:spPr>
          <a:xfrm>
            <a:off x="1447433" y="3867912"/>
            <a:ext cx="139262" cy="676656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6"/>
          <p:cNvSpPr/>
          <p:nvPr/>
        </p:nvSpPr>
        <p:spPr>
          <a:xfrm>
            <a:off x="140475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6"/>
          <p:cNvSpPr/>
          <p:nvPr/>
        </p:nvSpPr>
        <p:spPr>
          <a:xfrm>
            <a:off x="1672051" y="4063786"/>
            <a:ext cx="139262" cy="480782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26"/>
          <p:cNvSpPr/>
          <p:nvPr/>
        </p:nvSpPr>
        <p:spPr>
          <a:xfrm>
            <a:off x="162937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6"/>
          <p:cNvSpPr/>
          <p:nvPr/>
        </p:nvSpPr>
        <p:spPr>
          <a:xfrm>
            <a:off x="1896668" y="4224047"/>
            <a:ext cx="139262" cy="32052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26"/>
          <p:cNvSpPr/>
          <p:nvPr/>
        </p:nvSpPr>
        <p:spPr>
          <a:xfrm>
            <a:off x="185399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6"/>
          <p:cNvSpPr/>
          <p:nvPr/>
        </p:nvSpPr>
        <p:spPr>
          <a:xfrm>
            <a:off x="2121286" y="4295274"/>
            <a:ext cx="139262" cy="24929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26"/>
          <p:cNvSpPr/>
          <p:nvPr/>
        </p:nvSpPr>
        <p:spPr>
          <a:xfrm>
            <a:off x="207860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26"/>
          <p:cNvSpPr/>
          <p:nvPr/>
        </p:nvSpPr>
        <p:spPr>
          <a:xfrm>
            <a:off x="2345903" y="4330888"/>
            <a:ext cx="139262" cy="21368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26"/>
          <p:cNvSpPr/>
          <p:nvPr/>
        </p:nvSpPr>
        <p:spPr>
          <a:xfrm>
            <a:off x="230322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6"/>
          <p:cNvSpPr/>
          <p:nvPr/>
        </p:nvSpPr>
        <p:spPr>
          <a:xfrm>
            <a:off x="2570521" y="4348694"/>
            <a:ext cx="139262" cy="19587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26"/>
          <p:cNvSpPr/>
          <p:nvPr/>
        </p:nvSpPr>
        <p:spPr>
          <a:xfrm>
            <a:off x="252784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6"/>
          <p:cNvSpPr/>
          <p:nvPr/>
        </p:nvSpPr>
        <p:spPr>
          <a:xfrm>
            <a:off x="2439469" y="4184102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6"/>
          <p:cNvSpPr/>
          <p:nvPr/>
        </p:nvSpPr>
        <p:spPr>
          <a:xfrm>
            <a:off x="2795138" y="4277467"/>
            <a:ext cx="139262" cy="26710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26"/>
          <p:cNvSpPr/>
          <p:nvPr/>
        </p:nvSpPr>
        <p:spPr>
          <a:xfrm>
            <a:off x="275246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6"/>
          <p:cNvSpPr/>
          <p:nvPr/>
        </p:nvSpPr>
        <p:spPr>
          <a:xfrm>
            <a:off x="3019756" y="4259661"/>
            <a:ext cx="139262" cy="28490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6"/>
          <p:cNvSpPr/>
          <p:nvPr/>
        </p:nvSpPr>
        <p:spPr>
          <a:xfrm>
            <a:off x="297707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6"/>
          <p:cNvSpPr/>
          <p:nvPr/>
        </p:nvSpPr>
        <p:spPr>
          <a:xfrm>
            <a:off x="3244374" y="4170627"/>
            <a:ext cx="139262" cy="37394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26"/>
          <p:cNvSpPr/>
          <p:nvPr/>
        </p:nvSpPr>
        <p:spPr>
          <a:xfrm>
            <a:off x="320169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6"/>
          <p:cNvSpPr/>
          <p:nvPr/>
        </p:nvSpPr>
        <p:spPr>
          <a:xfrm>
            <a:off x="3468991" y="4099400"/>
            <a:ext cx="139262" cy="44516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26"/>
          <p:cNvSpPr/>
          <p:nvPr/>
        </p:nvSpPr>
        <p:spPr>
          <a:xfrm>
            <a:off x="342631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6"/>
          <p:cNvSpPr/>
          <p:nvPr/>
        </p:nvSpPr>
        <p:spPr>
          <a:xfrm>
            <a:off x="3693609" y="4028173"/>
            <a:ext cx="139262" cy="51639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26"/>
          <p:cNvSpPr/>
          <p:nvPr/>
        </p:nvSpPr>
        <p:spPr>
          <a:xfrm>
            <a:off x="365093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6"/>
          <p:cNvSpPr/>
          <p:nvPr/>
        </p:nvSpPr>
        <p:spPr>
          <a:xfrm>
            <a:off x="3918226" y="3974753"/>
            <a:ext cx="139262" cy="56981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26"/>
          <p:cNvSpPr/>
          <p:nvPr/>
        </p:nvSpPr>
        <p:spPr>
          <a:xfrm>
            <a:off x="387554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6"/>
          <p:cNvSpPr/>
          <p:nvPr/>
        </p:nvSpPr>
        <p:spPr>
          <a:xfrm>
            <a:off x="4142844" y="3885719"/>
            <a:ext cx="139262" cy="65884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26"/>
          <p:cNvSpPr/>
          <p:nvPr/>
        </p:nvSpPr>
        <p:spPr>
          <a:xfrm>
            <a:off x="410016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6"/>
          <p:cNvSpPr/>
          <p:nvPr/>
        </p:nvSpPr>
        <p:spPr>
          <a:xfrm>
            <a:off x="4367461" y="3832299"/>
            <a:ext cx="139262" cy="71226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26"/>
          <p:cNvSpPr/>
          <p:nvPr/>
        </p:nvSpPr>
        <p:spPr>
          <a:xfrm>
            <a:off x="432478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6"/>
          <p:cNvSpPr/>
          <p:nvPr/>
        </p:nvSpPr>
        <p:spPr>
          <a:xfrm>
            <a:off x="4592079" y="3654231"/>
            <a:ext cx="139262" cy="89033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26"/>
          <p:cNvSpPr/>
          <p:nvPr/>
        </p:nvSpPr>
        <p:spPr>
          <a:xfrm>
            <a:off x="454940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6"/>
          <p:cNvSpPr/>
          <p:nvPr/>
        </p:nvSpPr>
        <p:spPr>
          <a:xfrm>
            <a:off x="4816696" y="3672038"/>
            <a:ext cx="139262" cy="87253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26"/>
          <p:cNvSpPr/>
          <p:nvPr/>
        </p:nvSpPr>
        <p:spPr>
          <a:xfrm>
            <a:off x="477401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6"/>
          <p:cNvSpPr/>
          <p:nvPr/>
        </p:nvSpPr>
        <p:spPr>
          <a:xfrm>
            <a:off x="5041314" y="3529584"/>
            <a:ext cx="139262" cy="101498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6"/>
          <p:cNvSpPr/>
          <p:nvPr/>
        </p:nvSpPr>
        <p:spPr>
          <a:xfrm>
            <a:off x="499863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6"/>
          <p:cNvSpPr/>
          <p:nvPr/>
        </p:nvSpPr>
        <p:spPr>
          <a:xfrm>
            <a:off x="5265931" y="3298097"/>
            <a:ext cx="139262" cy="1246471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26"/>
          <p:cNvSpPr/>
          <p:nvPr/>
        </p:nvSpPr>
        <p:spPr>
          <a:xfrm>
            <a:off x="522325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6"/>
          <p:cNvSpPr/>
          <p:nvPr/>
        </p:nvSpPr>
        <p:spPr>
          <a:xfrm>
            <a:off x="5490549" y="3137836"/>
            <a:ext cx="139262" cy="140673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26"/>
          <p:cNvSpPr/>
          <p:nvPr/>
        </p:nvSpPr>
        <p:spPr>
          <a:xfrm>
            <a:off x="5447872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6"/>
          <p:cNvSpPr/>
          <p:nvPr/>
        </p:nvSpPr>
        <p:spPr>
          <a:xfrm>
            <a:off x="5715167" y="3084416"/>
            <a:ext cx="139262" cy="146015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26"/>
          <p:cNvSpPr/>
          <p:nvPr/>
        </p:nvSpPr>
        <p:spPr>
          <a:xfrm>
            <a:off x="567248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6"/>
          <p:cNvSpPr/>
          <p:nvPr/>
        </p:nvSpPr>
        <p:spPr>
          <a:xfrm>
            <a:off x="5939784" y="3030996"/>
            <a:ext cx="139262" cy="151357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26"/>
          <p:cNvSpPr/>
          <p:nvPr/>
        </p:nvSpPr>
        <p:spPr>
          <a:xfrm>
            <a:off x="5897107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6"/>
          <p:cNvSpPr/>
          <p:nvPr/>
        </p:nvSpPr>
        <p:spPr>
          <a:xfrm>
            <a:off x="5808732" y="2866404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8.5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6"/>
          <p:cNvSpPr/>
          <p:nvPr/>
        </p:nvSpPr>
        <p:spPr>
          <a:xfrm>
            <a:off x="6164402" y="3173449"/>
            <a:ext cx="139262" cy="1371119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6"/>
          <p:cNvSpPr/>
          <p:nvPr/>
        </p:nvSpPr>
        <p:spPr>
          <a:xfrm>
            <a:off x="612172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6"/>
          <p:cNvSpPr/>
          <p:nvPr/>
        </p:nvSpPr>
        <p:spPr>
          <a:xfrm>
            <a:off x="4980962" y="2816352"/>
            <a:ext cx="1383054" cy="1728216"/>
          </a:xfrm>
          <a:prstGeom prst="roundRect">
            <a:avLst>
              <a:gd fmla="val 3195" name="adj"/>
            </a:avLst>
          </a:prstGeom>
          <a:noFill/>
          <a:ln cap="flat" cmpd="sng" w="1270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26"/>
          <p:cNvSpPr/>
          <p:nvPr/>
        </p:nvSpPr>
        <p:spPr>
          <a:xfrm>
            <a:off x="3584651" y="2633472"/>
            <a:ext cx="276169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18~23시 집중 구간 — 하루 매출의 45%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6"/>
          <p:cNvSpPr/>
          <p:nvPr/>
        </p:nvSpPr>
        <p:spPr>
          <a:xfrm>
            <a:off x="822960" y="4709160"/>
            <a:ext cx="265122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가로축: 시 (0~23시)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6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26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요일별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7" name="Google Shape;1327;p26"/>
          <p:cNvCxnSpPr/>
          <p:nvPr/>
        </p:nvCxnSpPr>
        <p:spPr>
          <a:xfrm>
            <a:off x="6814725" y="4526280"/>
            <a:ext cx="4374518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8" name="Google Shape;1328;p26"/>
          <p:cNvSpPr/>
          <p:nvPr/>
        </p:nvSpPr>
        <p:spPr>
          <a:xfrm>
            <a:off x="6939711" y="3238246"/>
            <a:ext cx="374958" cy="130632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26"/>
          <p:cNvSpPr/>
          <p:nvPr/>
        </p:nvSpPr>
        <p:spPr>
          <a:xfrm>
            <a:off x="6814725" y="307365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6"/>
          <p:cNvSpPr/>
          <p:nvPr/>
        </p:nvSpPr>
        <p:spPr>
          <a:xfrm>
            <a:off x="681472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6"/>
          <p:cNvSpPr/>
          <p:nvPr/>
        </p:nvSpPr>
        <p:spPr>
          <a:xfrm>
            <a:off x="7564642" y="3228848"/>
            <a:ext cx="374958" cy="1315720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26"/>
          <p:cNvSpPr/>
          <p:nvPr/>
        </p:nvSpPr>
        <p:spPr>
          <a:xfrm>
            <a:off x="7439655" y="306425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6"/>
          <p:cNvSpPr/>
          <p:nvPr/>
        </p:nvSpPr>
        <p:spPr>
          <a:xfrm>
            <a:off x="743965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6"/>
          <p:cNvSpPr/>
          <p:nvPr/>
        </p:nvSpPr>
        <p:spPr>
          <a:xfrm>
            <a:off x="8189573" y="3285236"/>
            <a:ext cx="374958" cy="125933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26"/>
          <p:cNvSpPr/>
          <p:nvPr/>
        </p:nvSpPr>
        <p:spPr>
          <a:xfrm>
            <a:off x="8064587" y="312064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6"/>
          <p:cNvSpPr/>
          <p:nvPr/>
        </p:nvSpPr>
        <p:spPr>
          <a:xfrm>
            <a:off x="8064587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6"/>
          <p:cNvSpPr/>
          <p:nvPr/>
        </p:nvSpPr>
        <p:spPr>
          <a:xfrm>
            <a:off x="8814505" y="3069082"/>
            <a:ext cx="374958" cy="147548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26"/>
          <p:cNvSpPr/>
          <p:nvPr/>
        </p:nvSpPr>
        <p:spPr>
          <a:xfrm>
            <a:off x="8689518" y="2904490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6"/>
          <p:cNvSpPr/>
          <p:nvPr/>
        </p:nvSpPr>
        <p:spPr>
          <a:xfrm>
            <a:off x="8689518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26"/>
          <p:cNvSpPr/>
          <p:nvPr/>
        </p:nvSpPr>
        <p:spPr>
          <a:xfrm>
            <a:off x="9439436" y="3050286"/>
            <a:ext cx="374958" cy="149428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26"/>
          <p:cNvSpPr/>
          <p:nvPr/>
        </p:nvSpPr>
        <p:spPr>
          <a:xfrm>
            <a:off x="9314450" y="288569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6"/>
          <p:cNvSpPr/>
          <p:nvPr/>
        </p:nvSpPr>
        <p:spPr>
          <a:xfrm>
            <a:off x="9314450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6"/>
          <p:cNvSpPr/>
          <p:nvPr/>
        </p:nvSpPr>
        <p:spPr>
          <a:xfrm>
            <a:off x="10064367" y="3238246"/>
            <a:ext cx="374958" cy="130632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26"/>
          <p:cNvSpPr/>
          <p:nvPr/>
        </p:nvSpPr>
        <p:spPr>
          <a:xfrm>
            <a:off x="9939381" y="307365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6"/>
          <p:cNvSpPr/>
          <p:nvPr/>
        </p:nvSpPr>
        <p:spPr>
          <a:xfrm>
            <a:off x="9939381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26"/>
          <p:cNvSpPr/>
          <p:nvPr/>
        </p:nvSpPr>
        <p:spPr>
          <a:xfrm>
            <a:off x="10689298" y="3304032"/>
            <a:ext cx="374958" cy="1240536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26"/>
          <p:cNvSpPr/>
          <p:nvPr/>
        </p:nvSpPr>
        <p:spPr>
          <a:xfrm>
            <a:off x="10564312" y="3139440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6"/>
          <p:cNvSpPr/>
          <p:nvPr/>
        </p:nvSpPr>
        <p:spPr>
          <a:xfrm>
            <a:off x="10564312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6"/>
          <p:cNvSpPr/>
          <p:nvPr/>
        </p:nvSpPr>
        <p:spPr>
          <a:xfrm>
            <a:off x="6637975" y="4709150"/>
            <a:ext cx="4593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목·금 31.6%  ·  주말 27.1%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26"/>
          <p:cNvSpPr/>
          <p:nvPr/>
        </p:nvSpPr>
        <p:spPr>
          <a:xfrm>
            <a:off x="822960" y="4956048"/>
            <a:ext cx="70699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9~12월 캘린더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6"/>
          <p:cNvSpPr/>
          <p:nvPr/>
        </p:nvSpPr>
        <p:spPr>
          <a:xfrm>
            <a:off x="8229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26"/>
          <p:cNvSpPr/>
          <p:nvPr/>
        </p:nvSpPr>
        <p:spPr>
          <a:xfrm>
            <a:off x="9555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6"/>
          <p:cNvSpPr/>
          <p:nvPr/>
        </p:nvSpPr>
        <p:spPr>
          <a:xfrm>
            <a:off x="9555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LCK 결승(9/13) · 추석(9/24~26) · 아시안게임(9/19~)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6"/>
          <p:cNvSpPr/>
          <p:nvPr/>
        </p:nvSpPr>
        <p:spPr>
          <a:xfrm>
            <a:off x="9555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응원·승리 리액션 · 명절 인사 · 국대 응원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6"/>
          <p:cNvSpPr/>
          <p:nvPr/>
        </p:nvSpPr>
        <p:spPr>
          <a:xfrm>
            <a:off x="34971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26"/>
          <p:cNvSpPr/>
          <p:nvPr/>
        </p:nvSpPr>
        <p:spPr>
          <a:xfrm>
            <a:off x="36297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6"/>
          <p:cNvSpPr/>
          <p:nvPr/>
        </p:nvSpPr>
        <p:spPr>
          <a:xfrm>
            <a:off x="36297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롤드컵 개막(10/15) · 할로윈 · 가을 신규 방송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6"/>
          <p:cNvSpPr/>
          <p:nvPr/>
        </p:nvSpPr>
        <p:spPr>
          <a:xfrm>
            <a:off x="36297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롤드컵 응원 · 할로윈 리액션 · 첫 방송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6"/>
          <p:cNvSpPr/>
          <p:nvPr/>
        </p:nvSpPr>
        <p:spPr>
          <a:xfrm>
            <a:off x="6171361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26"/>
          <p:cNvSpPr/>
          <p:nvPr/>
        </p:nvSpPr>
        <p:spPr>
          <a:xfrm>
            <a:off x="6303922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6"/>
          <p:cNvSpPr/>
          <p:nvPr/>
        </p:nvSpPr>
        <p:spPr>
          <a:xfrm>
            <a:off x="6303922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롤드컵 결승(11/14) · 수능(11/19) · 빼빼로데이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6"/>
          <p:cNvSpPr/>
          <p:nvPr/>
        </p:nvSpPr>
        <p:spPr>
          <a:xfrm>
            <a:off x="6303922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우승 축하 리액션 · 수능 응원 · 고백·선물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6"/>
          <p:cNvSpPr/>
          <p:nvPr/>
        </p:nvSpPr>
        <p:spPr>
          <a:xfrm>
            <a:off x="8845562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26"/>
          <p:cNvSpPr/>
          <p:nvPr/>
        </p:nvSpPr>
        <p:spPr>
          <a:xfrm>
            <a:off x="8978123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6"/>
          <p:cNvSpPr/>
          <p:nvPr/>
        </p:nvSpPr>
        <p:spPr>
          <a:xfrm>
            <a:off x="8978123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대상(12월 말) · 크리스마스 · 연말 결산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6"/>
          <p:cNvSpPr/>
          <p:nvPr/>
        </p:nvSpPr>
        <p:spPr>
          <a:xfrm>
            <a:off x="8978123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수상 축하·감사 · 연말 결산 리액션 · 새해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6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26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출시에 도전해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6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27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6" name="Google Shape;1376;p2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7" name="Google Shape;1377;p27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핵심 내용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7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27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7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플레이북으로 안내해 드린 방법을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1" name="Google Shape;1381;p27"/>
          <p:cNvCxnSpPr/>
          <p:nvPr/>
        </p:nvCxnSpPr>
        <p:spPr>
          <a:xfrm>
            <a:off x="1826006" y="2231136"/>
            <a:ext cx="8536939" cy="0"/>
          </a:xfrm>
          <a:prstGeom prst="straightConnector1">
            <a:avLst/>
          </a:prstGeom>
          <a:noFill/>
          <a:ln cap="flat" cmpd="sng" w="19050">
            <a:solidFill>
              <a:srgbClr val="C5D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2" name="Google Shape;1382;p27"/>
          <p:cNvSpPr/>
          <p:nvPr/>
        </p:nvSpPr>
        <p:spPr>
          <a:xfrm>
            <a:off x="174646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7"/>
          <p:cNvSpPr/>
          <p:nvPr/>
        </p:nvSpPr>
        <p:spPr>
          <a:xfrm>
            <a:off x="822960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27"/>
          <p:cNvSpPr/>
          <p:nvPr/>
        </p:nvSpPr>
        <p:spPr>
          <a:xfrm>
            <a:off x="955521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7"/>
          <p:cNvSpPr/>
          <p:nvPr/>
        </p:nvSpPr>
        <p:spPr>
          <a:xfrm>
            <a:off x="982033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7"/>
          <p:cNvSpPr/>
          <p:nvPr/>
        </p:nvSpPr>
        <p:spPr>
          <a:xfrm>
            <a:off x="145925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7"/>
          <p:cNvSpPr/>
          <p:nvPr/>
        </p:nvSpPr>
        <p:spPr>
          <a:xfrm>
            <a:off x="228113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88" name="Google Shape;13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34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27"/>
          <p:cNvSpPr/>
          <p:nvPr/>
        </p:nvSpPr>
        <p:spPr>
          <a:xfrm>
            <a:off x="955521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27"/>
          <p:cNvSpPr/>
          <p:nvPr/>
        </p:nvSpPr>
        <p:spPr>
          <a:xfrm>
            <a:off x="999708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27"/>
          <p:cNvSpPr/>
          <p:nvPr/>
        </p:nvSpPr>
        <p:spPr>
          <a:xfrm>
            <a:off x="982033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인기 이모티콘 큐레이션과 인기순 정렬로 실제 SOOP에서 인기 있는 콘텐츠를 확인해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7"/>
          <p:cNvSpPr/>
          <p:nvPr/>
        </p:nvSpPr>
        <p:spPr>
          <a:xfrm>
            <a:off x="955521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27"/>
          <p:cNvSpPr/>
          <p:nvPr/>
        </p:nvSpPr>
        <p:spPr>
          <a:xfrm>
            <a:off x="1061570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27"/>
          <p:cNvSpPr/>
          <p:nvPr/>
        </p:nvSpPr>
        <p:spPr>
          <a:xfrm>
            <a:off x="122948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큐레이션 · 인기순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27"/>
          <p:cNvSpPr/>
          <p:nvPr/>
        </p:nvSpPr>
        <p:spPr>
          <a:xfrm>
            <a:off x="955521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27"/>
          <p:cNvSpPr/>
          <p:nvPr/>
        </p:nvSpPr>
        <p:spPr>
          <a:xfrm>
            <a:off x="1061570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27"/>
          <p:cNvSpPr/>
          <p:nvPr/>
        </p:nvSpPr>
        <p:spPr>
          <a:xfrm>
            <a:off x="122948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순위 기록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27"/>
          <p:cNvSpPr/>
          <p:nvPr/>
        </p:nvSpPr>
        <p:spPr>
          <a:xfrm>
            <a:off x="2846727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27"/>
          <p:cNvSpPr/>
          <p:nvPr/>
        </p:nvSpPr>
        <p:spPr>
          <a:xfrm>
            <a:off x="3880704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27"/>
          <p:cNvSpPr/>
          <p:nvPr/>
        </p:nvSpPr>
        <p:spPr>
          <a:xfrm>
            <a:off x="2957194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7"/>
          <p:cNvSpPr/>
          <p:nvPr/>
        </p:nvSpPr>
        <p:spPr>
          <a:xfrm>
            <a:off x="3089756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27"/>
          <p:cNvSpPr/>
          <p:nvPr/>
        </p:nvSpPr>
        <p:spPr>
          <a:xfrm>
            <a:off x="3116268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27"/>
          <p:cNvSpPr/>
          <p:nvPr/>
        </p:nvSpPr>
        <p:spPr>
          <a:xfrm>
            <a:off x="3593488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27"/>
          <p:cNvSpPr/>
          <p:nvPr/>
        </p:nvSpPr>
        <p:spPr>
          <a:xfrm>
            <a:off x="4415367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05" name="Google Shape;14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79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27"/>
          <p:cNvSpPr/>
          <p:nvPr/>
        </p:nvSpPr>
        <p:spPr>
          <a:xfrm>
            <a:off x="3089756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27"/>
          <p:cNvSpPr/>
          <p:nvPr/>
        </p:nvSpPr>
        <p:spPr>
          <a:xfrm>
            <a:off x="3133943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상세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7"/>
          <p:cNvSpPr/>
          <p:nvPr/>
        </p:nvSpPr>
        <p:spPr>
          <a:xfrm>
            <a:off x="3116268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7"/>
          <p:cNvSpPr/>
          <p:nvPr/>
        </p:nvSpPr>
        <p:spPr>
          <a:xfrm>
            <a:off x="3089756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27"/>
          <p:cNvSpPr/>
          <p:nvPr/>
        </p:nvSpPr>
        <p:spPr>
          <a:xfrm>
            <a:off x="3195805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27"/>
          <p:cNvSpPr/>
          <p:nvPr/>
        </p:nvSpPr>
        <p:spPr>
          <a:xfrm>
            <a:off x="3363715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27"/>
          <p:cNvSpPr/>
          <p:nvPr/>
        </p:nvSpPr>
        <p:spPr>
          <a:xfrm>
            <a:off x="3089756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27"/>
          <p:cNvSpPr/>
          <p:nvPr/>
        </p:nvSpPr>
        <p:spPr>
          <a:xfrm>
            <a:off x="3195805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27"/>
          <p:cNvSpPr/>
          <p:nvPr/>
        </p:nvSpPr>
        <p:spPr>
          <a:xfrm>
            <a:off x="3363715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속성별 데이터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27"/>
          <p:cNvSpPr/>
          <p:nvPr/>
        </p:nvSpPr>
        <p:spPr>
          <a:xfrm>
            <a:off x="4980962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27"/>
          <p:cNvSpPr/>
          <p:nvPr/>
        </p:nvSpPr>
        <p:spPr>
          <a:xfrm>
            <a:off x="601493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27"/>
          <p:cNvSpPr/>
          <p:nvPr/>
        </p:nvSpPr>
        <p:spPr>
          <a:xfrm>
            <a:off x="5091429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27"/>
          <p:cNvSpPr/>
          <p:nvPr/>
        </p:nvSpPr>
        <p:spPr>
          <a:xfrm>
            <a:off x="5223990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27"/>
          <p:cNvSpPr/>
          <p:nvPr/>
        </p:nvSpPr>
        <p:spPr>
          <a:xfrm>
            <a:off x="5250503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27"/>
          <p:cNvSpPr/>
          <p:nvPr/>
        </p:nvSpPr>
        <p:spPr>
          <a:xfrm>
            <a:off x="572772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27"/>
          <p:cNvSpPr/>
          <p:nvPr/>
        </p:nvSpPr>
        <p:spPr>
          <a:xfrm>
            <a:off x="654960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22" name="Google Shape;14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681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27"/>
          <p:cNvSpPr/>
          <p:nvPr/>
        </p:nvSpPr>
        <p:spPr>
          <a:xfrm>
            <a:off x="5223990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27"/>
          <p:cNvSpPr/>
          <p:nvPr/>
        </p:nvSpPr>
        <p:spPr>
          <a:xfrm>
            <a:off x="5268178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주제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27"/>
          <p:cNvSpPr/>
          <p:nvPr/>
        </p:nvSpPr>
        <p:spPr>
          <a:xfrm>
            <a:off x="5250503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27"/>
          <p:cNvSpPr/>
          <p:nvPr/>
        </p:nvSpPr>
        <p:spPr>
          <a:xfrm>
            <a:off x="5223990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27"/>
          <p:cNvSpPr/>
          <p:nvPr/>
        </p:nvSpPr>
        <p:spPr>
          <a:xfrm>
            <a:off x="5330039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27"/>
          <p:cNvSpPr/>
          <p:nvPr/>
        </p:nvSpPr>
        <p:spPr>
          <a:xfrm>
            <a:off x="549795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트렌드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27"/>
          <p:cNvSpPr/>
          <p:nvPr/>
        </p:nvSpPr>
        <p:spPr>
          <a:xfrm>
            <a:off x="5223990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27"/>
          <p:cNvSpPr/>
          <p:nvPr/>
        </p:nvSpPr>
        <p:spPr>
          <a:xfrm>
            <a:off x="5330039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27"/>
          <p:cNvSpPr/>
          <p:nvPr/>
        </p:nvSpPr>
        <p:spPr>
          <a:xfrm>
            <a:off x="549795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트렌드에 따른 이모티콘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27"/>
          <p:cNvSpPr/>
          <p:nvPr/>
        </p:nvSpPr>
        <p:spPr>
          <a:xfrm>
            <a:off x="7115197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27"/>
          <p:cNvSpPr/>
          <p:nvPr/>
        </p:nvSpPr>
        <p:spPr>
          <a:xfrm>
            <a:off x="8149174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27"/>
          <p:cNvSpPr/>
          <p:nvPr/>
        </p:nvSpPr>
        <p:spPr>
          <a:xfrm>
            <a:off x="7225664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27"/>
          <p:cNvSpPr/>
          <p:nvPr/>
        </p:nvSpPr>
        <p:spPr>
          <a:xfrm>
            <a:off x="7358225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27"/>
          <p:cNvSpPr/>
          <p:nvPr/>
        </p:nvSpPr>
        <p:spPr>
          <a:xfrm>
            <a:off x="7384738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27"/>
          <p:cNvSpPr/>
          <p:nvPr/>
        </p:nvSpPr>
        <p:spPr>
          <a:xfrm>
            <a:off x="7861958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27"/>
          <p:cNvSpPr/>
          <p:nvPr/>
        </p:nvSpPr>
        <p:spPr>
          <a:xfrm>
            <a:off x="8683837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39" name="Google Shape;143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1049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27"/>
          <p:cNvSpPr/>
          <p:nvPr/>
        </p:nvSpPr>
        <p:spPr>
          <a:xfrm>
            <a:off x="7358225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27"/>
          <p:cNvSpPr/>
          <p:nvPr/>
        </p:nvSpPr>
        <p:spPr>
          <a:xfrm>
            <a:off x="7402412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환경과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27"/>
          <p:cNvSpPr/>
          <p:nvPr/>
        </p:nvSpPr>
        <p:spPr>
          <a:xfrm>
            <a:off x="7384738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27"/>
          <p:cNvSpPr/>
          <p:nvPr/>
        </p:nvSpPr>
        <p:spPr>
          <a:xfrm>
            <a:off x="7358225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27"/>
          <p:cNvSpPr/>
          <p:nvPr/>
        </p:nvSpPr>
        <p:spPr>
          <a:xfrm>
            <a:off x="7464274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27"/>
          <p:cNvSpPr/>
          <p:nvPr/>
        </p:nvSpPr>
        <p:spPr>
          <a:xfrm>
            <a:off x="7632185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흐름에 따른 배치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27"/>
          <p:cNvSpPr/>
          <p:nvPr/>
        </p:nvSpPr>
        <p:spPr>
          <a:xfrm>
            <a:off x="7358225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27"/>
          <p:cNvSpPr/>
          <p:nvPr/>
        </p:nvSpPr>
        <p:spPr>
          <a:xfrm>
            <a:off x="7464274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27"/>
          <p:cNvSpPr/>
          <p:nvPr/>
        </p:nvSpPr>
        <p:spPr>
          <a:xfrm>
            <a:off x="7632185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27"/>
          <p:cNvSpPr/>
          <p:nvPr/>
        </p:nvSpPr>
        <p:spPr>
          <a:xfrm>
            <a:off x="9249431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27"/>
          <p:cNvSpPr/>
          <p:nvPr/>
        </p:nvSpPr>
        <p:spPr>
          <a:xfrm>
            <a:off x="1028340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27"/>
          <p:cNvSpPr/>
          <p:nvPr/>
        </p:nvSpPr>
        <p:spPr>
          <a:xfrm>
            <a:off x="9359899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27"/>
          <p:cNvSpPr/>
          <p:nvPr/>
        </p:nvSpPr>
        <p:spPr>
          <a:xfrm>
            <a:off x="9492460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27"/>
          <p:cNvSpPr/>
          <p:nvPr/>
        </p:nvSpPr>
        <p:spPr>
          <a:xfrm>
            <a:off x="9518972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27"/>
          <p:cNvSpPr/>
          <p:nvPr/>
        </p:nvSpPr>
        <p:spPr>
          <a:xfrm>
            <a:off x="999619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27"/>
          <p:cNvSpPr/>
          <p:nvPr/>
        </p:nvSpPr>
        <p:spPr>
          <a:xfrm>
            <a:off x="1081807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56" name="Google Shape;145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1528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27"/>
          <p:cNvSpPr/>
          <p:nvPr/>
        </p:nvSpPr>
        <p:spPr>
          <a:xfrm>
            <a:off x="9492460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27"/>
          <p:cNvSpPr/>
          <p:nvPr/>
        </p:nvSpPr>
        <p:spPr>
          <a:xfrm>
            <a:off x="9536647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패턴과 시즌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27"/>
          <p:cNvSpPr/>
          <p:nvPr/>
        </p:nvSpPr>
        <p:spPr>
          <a:xfrm>
            <a:off x="9518972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출시에 도전해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27"/>
          <p:cNvSpPr/>
          <p:nvPr/>
        </p:nvSpPr>
        <p:spPr>
          <a:xfrm>
            <a:off x="9492460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27"/>
          <p:cNvSpPr/>
          <p:nvPr/>
        </p:nvSpPr>
        <p:spPr>
          <a:xfrm>
            <a:off x="9598509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7"/>
          <p:cNvSpPr/>
          <p:nvPr/>
        </p:nvSpPr>
        <p:spPr>
          <a:xfrm>
            <a:off x="976642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시간대, 요일별 매출 비율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27"/>
          <p:cNvSpPr/>
          <p:nvPr/>
        </p:nvSpPr>
        <p:spPr>
          <a:xfrm>
            <a:off x="9492460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27"/>
          <p:cNvSpPr/>
          <p:nvPr/>
        </p:nvSpPr>
        <p:spPr>
          <a:xfrm>
            <a:off x="9598509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7"/>
          <p:cNvSpPr/>
          <p:nvPr/>
        </p:nvSpPr>
        <p:spPr>
          <a:xfrm>
            <a:off x="976642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시즌별 캘린더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27"/>
          <p:cNvSpPr/>
          <p:nvPr/>
        </p:nvSpPr>
        <p:spPr>
          <a:xfrm>
            <a:off x="822960" y="5870448"/>
            <a:ext cx="10543032" cy="457200"/>
          </a:xfrm>
          <a:prstGeom prst="roundRect">
            <a:avLst>
              <a:gd fmla="val 16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7"/>
          <p:cNvSpPr/>
          <p:nvPr/>
        </p:nvSpPr>
        <p:spPr>
          <a:xfrm>
            <a:off x="999439" y="5870448"/>
            <a:ext cx="101626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자료는 크리에이터 님들의 OGQ 콘텐츠 제작에 참고가 되도록 데이터를 정리한 것입니다. 정답이 아닌 출발점이니, 나만의 스타일과 아이디어에 맞게 자유롭게 활용해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27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8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28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8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8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8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28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28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28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29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8" name="Google Shape;1488;p29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9" name="Google Shape;1489;p29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스티커(이모티콘) 탐색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29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9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인기차트를 실시간으로 확인하는 방법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29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차트를 통하여 현재 마켓 트렌드를 확인해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3" name="Google Shape;14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48840"/>
            <a:ext cx="3093094" cy="1535258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94" name="Google Shape;1494;p29"/>
          <p:cNvSpPr/>
          <p:nvPr/>
        </p:nvSpPr>
        <p:spPr>
          <a:xfrm>
            <a:off x="2281132" y="2221992"/>
            <a:ext cx="1546547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9"/>
          <p:cNvSpPr/>
          <p:nvPr/>
        </p:nvSpPr>
        <p:spPr>
          <a:xfrm>
            <a:off x="2281132" y="2221992"/>
            <a:ext cx="1546547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메인 ‘인기차트’ 큐레이션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6" name="Google Shape;149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3847064"/>
            <a:ext cx="3093094" cy="194670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97" name="Google Shape;1497;p29"/>
          <p:cNvSpPr/>
          <p:nvPr/>
        </p:nvSpPr>
        <p:spPr>
          <a:xfrm>
            <a:off x="2369507" y="3920216"/>
            <a:ext cx="1458172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9"/>
          <p:cNvSpPr/>
          <p:nvPr/>
        </p:nvSpPr>
        <p:spPr>
          <a:xfrm>
            <a:off x="2369507" y="3920216"/>
            <a:ext cx="14581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인기 탭 · 실시간 순위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29"/>
          <p:cNvSpPr/>
          <p:nvPr/>
        </p:nvSpPr>
        <p:spPr>
          <a:xfrm>
            <a:off x="822960" y="5961888"/>
            <a:ext cx="3093094" cy="274320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29"/>
          <p:cNvSpPr/>
          <p:nvPr/>
        </p:nvSpPr>
        <p:spPr>
          <a:xfrm>
            <a:off x="822960" y="5961888"/>
            <a:ext cx="3093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 › 홈 ‘인기차트’ / ‘인기’ 탭  </a:t>
            </a:r>
            <a:r>
              <a:rPr b="0" i="0" lang="en-US" sz="8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(바로가기)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29"/>
          <p:cNvSpPr/>
          <p:nvPr/>
        </p:nvSpPr>
        <p:spPr>
          <a:xfrm>
            <a:off x="4136989" y="2148840"/>
            <a:ext cx="722900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29"/>
          <p:cNvSpPr/>
          <p:nvPr/>
        </p:nvSpPr>
        <p:spPr>
          <a:xfrm>
            <a:off x="4296062" y="2441448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29"/>
          <p:cNvSpPr/>
          <p:nvPr/>
        </p:nvSpPr>
        <p:spPr>
          <a:xfrm>
            <a:off x="4296062" y="2441448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29"/>
          <p:cNvSpPr/>
          <p:nvPr/>
        </p:nvSpPr>
        <p:spPr>
          <a:xfrm>
            <a:off x="4888169" y="2350008"/>
            <a:ext cx="6301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‘인기차트’ 큐레이션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29"/>
          <p:cNvSpPr/>
          <p:nvPr/>
        </p:nvSpPr>
        <p:spPr>
          <a:xfrm>
            <a:off x="4888169" y="2642616"/>
            <a:ext cx="630107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홈 인기차트 큐레이션을 통해 인기차트 확인 가능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29"/>
          <p:cNvSpPr/>
          <p:nvPr/>
        </p:nvSpPr>
        <p:spPr>
          <a:xfrm>
            <a:off x="4136989" y="3300984"/>
            <a:ext cx="722900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29"/>
          <p:cNvSpPr/>
          <p:nvPr/>
        </p:nvSpPr>
        <p:spPr>
          <a:xfrm>
            <a:off x="4296062" y="3593592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29"/>
          <p:cNvSpPr/>
          <p:nvPr/>
        </p:nvSpPr>
        <p:spPr>
          <a:xfrm>
            <a:off x="4296062" y="359359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29"/>
          <p:cNvSpPr/>
          <p:nvPr/>
        </p:nvSpPr>
        <p:spPr>
          <a:xfrm>
            <a:off x="4888169" y="3502152"/>
            <a:ext cx="6301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‘인기’ 탭에서 전체 순위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29"/>
          <p:cNvSpPr/>
          <p:nvPr/>
        </p:nvSpPr>
        <p:spPr>
          <a:xfrm>
            <a:off x="4888169" y="3794760"/>
            <a:ext cx="630107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탭에서 전체 실시간 인기 차트 확인 가능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29"/>
          <p:cNvSpPr/>
          <p:nvPr/>
        </p:nvSpPr>
        <p:spPr>
          <a:xfrm>
            <a:off x="4136989" y="4453128"/>
            <a:ext cx="722900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29"/>
          <p:cNvSpPr/>
          <p:nvPr/>
        </p:nvSpPr>
        <p:spPr>
          <a:xfrm>
            <a:off x="4296062" y="4745736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29"/>
          <p:cNvSpPr/>
          <p:nvPr/>
        </p:nvSpPr>
        <p:spPr>
          <a:xfrm>
            <a:off x="4296062" y="4745736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29"/>
          <p:cNvSpPr/>
          <p:nvPr/>
        </p:nvSpPr>
        <p:spPr>
          <a:xfrm>
            <a:off x="4888169" y="4654296"/>
            <a:ext cx="6301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실시간이므로 기록하며 추적</a:t>
            </a:r>
            <a:endParaRPr b="1" i="0" sz="1300" u="none" cap="none" strike="noStrike">
              <a:solidFill>
                <a:srgbClr val="1F29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5" name="Google Shape;1515;p29"/>
          <p:cNvSpPr/>
          <p:nvPr/>
        </p:nvSpPr>
        <p:spPr>
          <a:xfrm>
            <a:off x="4888169" y="4946904"/>
            <a:ext cx="630107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기간을 설정하여 인기 차트 확인이 불가하여 주기적인 확인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t/>
            </a:r>
            <a:endParaRPr b="0" i="0" sz="950" u="none" cap="none" strike="noStrike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6" name="Google Shape;1516;p29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0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3" name="Google Shape;1523;p3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4" name="Google Shape;1524;p30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분석하기 (TOP 25)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30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30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0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월별 TOP 25 매출액 기준 데이터입니다.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0"/>
          <p:cNvSpPr/>
          <p:nvPr/>
        </p:nvSpPr>
        <p:spPr>
          <a:xfrm>
            <a:off x="822960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30"/>
          <p:cNvSpPr/>
          <p:nvPr/>
        </p:nvSpPr>
        <p:spPr>
          <a:xfrm>
            <a:off x="822960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78.4%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0"/>
          <p:cNvSpPr/>
          <p:nvPr/>
        </p:nvSpPr>
        <p:spPr>
          <a:xfrm>
            <a:off x="822960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움직이는(GIF) 이모티콘 판매 수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0"/>
          <p:cNvSpPr/>
          <p:nvPr/>
        </p:nvSpPr>
        <p:spPr>
          <a:xfrm>
            <a:off x="3498494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30"/>
          <p:cNvSpPr/>
          <p:nvPr/>
        </p:nvSpPr>
        <p:spPr>
          <a:xfrm>
            <a:off x="3498494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0"/>
          <p:cNvSpPr/>
          <p:nvPr/>
        </p:nvSpPr>
        <p:spPr>
          <a:xfrm>
            <a:off x="3498494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콘텐츠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0"/>
          <p:cNvSpPr/>
          <p:nvPr/>
        </p:nvSpPr>
        <p:spPr>
          <a:xfrm>
            <a:off x="6174029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30"/>
          <p:cNvSpPr/>
          <p:nvPr/>
        </p:nvSpPr>
        <p:spPr>
          <a:xfrm>
            <a:off x="6174029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0"/>
          <p:cNvSpPr/>
          <p:nvPr/>
        </p:nvSpPr>
        <p:spPr>
          <a:xfrm>
            <a:off x="6174029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표준어 비중 — 신조어는 10%뿐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0"/>
          <p:cNvSpPr/>
          <p:nvPr/>
        </p:nvSpPr>
        <p:spPr>
          <a:xfrm>
            <a:off x="8849563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30"/>
          <p:cNvSpPr/>
          <p:nvPr/>
        </p:nvSpPr>
        <p:spPr>
          <a:xfrm>
            <a:off x="8849563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58.6%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0"/>
          <p:cNvSpPr/>
          <p:nvPr/>
        </p:nvSpPr>
        <p:spPr>
          <a:xfrm>
            <a:off x="8849563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파스텔 톤 매출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0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30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0"/>
          <p:cNvSpPr/>
          <p:nvPr/>
        </p:nvSpPr>
        <p:spPr>
          <a:xfrm>
            <a:off x="822960" y="3566160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0"/>
          <p:cNvSpPr/>
          <p:nvPr/>
        </p:nvSpPr>
        <p:spPr>
          <a:xfrm>
            <a:off x="2192758" y="3566160"/>
            <a:ext cx="2607036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30"/>
          <p:cNvSpPr/>
          <p:nvPr/>
        </p:nvSpPr>
        <p:spPr>
          <a:xfrm>
            <a:off x="4852819" y="356616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31.4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0"/>
          <p:cNvSpPr/>
          <p:nvPr/>
        </p:nvSpPr>
        <p:spPr>
          <a:xfrm>
            <a:off x="822960" y="3849624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 캐릭터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0"/>
          <p:cNvSpPr/>
          <p:nvPr/>
        </p:nvSpPr>
        <p:spPr>
          <a:xfrm>
            <a:off x="2192758" y="3849624"/>
            <a:ext cx="2424378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30"/>
          <p:cNvSpPr/>
          <p:nvPr/>
        </p:nvSpPr>
        <p:spPr>
          <a:xfrm>
            <a:off x="4670161" y="384962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29.2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0"/>
          <p:cNvSpPr/>
          <p:nvPr/>
        </p:nvSpPr>
        <p:spPr>
          <a:xfrm>
            <a:off x="822960" y="4133088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0"/>
          <p:cNvSpPr/>
          <p:nvPr/>
        </p:nvSpPr>
        <p:spPr>
          <a:xfrm>
            <a:off x="2192758" y="4133088"/>
            <a:ext cx="2042454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30"/>
          <p:cNvSpPr/>
          <p:nvPr/>
        </p:nvSpPr>
        <p:spPr>
          <a:xfrm>
            <a:off x="4288238" y="413308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24.6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0"/>
          <p:cNvSpPr/>
          <p:nvPr/>
        </p:nvSpPr>
        <p:spPr>
          <a:xfrm>
            <a:off x="822960" y="4416552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연애·애정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0"/>
          <p:cNvSpPr/>
          <p:nvPr/>
        </p:nvSpPr>
        <p:spPr>
          <a:xfrm>
            <a:off x="2192758" y="4416552"/>
            <a:ext cx="797055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30"/>
          <p:cNvSpPr/>
          <p:nvPr/>
        </p:nvSpPr>
        <p:spPr>
          <a:xfrm>
            <a:off x="3042838" y="441655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9.6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30"/>
          <p:cNvSpPr/>
          <p:nvPr/>
        </p:nvSpPr>
        <p:spPr>
          <a:xfrm>
            <a:off x="822960" y="4700016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손글씨·문구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0"/>
          <p:cNvSpPr/>
          <p:nvPr/>
        </p:nvSpPr>
        <p:spPr>
          <a:xfrm>
            <a:off x="2192758" y="4700016"/>
            <a:ext cx="431738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30"/>
          <p:cNvSpPr/>
          <p:nvPr/>
        </p:nvSpPr>
        <p:spPr>
          <a:xfrm>
            <a:off x="2677521" y="470001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7" name="Google Shape;1557;p30"/>
          <p:cNvCxnSpPr/>
          <p:nvPr/>
        </p:nvCxnSpPr>
        <p:spPr>
          <a:xfrm>
            <a:off x="2192758" y="3520440"/>
            <a:ext cx="0" cy="1426464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8" name="Google Shape;1558;p30"/>
          <p:cNvSpPr/>
          <p:nvPr/>
        </p:nvSpPr>
        <p:spPr>
          <a:xfrm>
            <a:off x="822960" y="49377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인사·감사형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안녕하세요·감사합니다 등의 인사형 콘텐츠 매출의 다수 차지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0"/>
          <p:cNvSpPr/>
          <p:nvPr/>
        </p:nvSpPr>
        <p:spPr>
          <a:xfrm>
            <a:off x="822960" y="51663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 캐릭터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파스텔 캐릭터의 공감·응원 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0"/>
          <p:cNvSpPr/>
          <p:nvPr/>
        </p:nvSpPr>
        <p:spPr>
          <a:xfrm>
            <a:off x="822960" y="53949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설날·명절 인사의 경우 시즌성으로 매출 상승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0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30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속성별 데이터 (유형=판매 수 · 그 외=매출액)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3" name="Google Shape;1563;p30"/>
          <p:cNvGraphicFramePr/>
          <p:nvPr/>
        </p:nvGraphicFramePr>
        <p:xfrm>
          <a:off x="5462601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{083F6371-C4A3-46A8-8800-388B6035BCA3}</a:tableStyleId>
              </a:tblPr>
              <a:tblGrid>
                <a:gridCol w="1237225"/>
                <a:gridCol w="1325600"/>
                <a:gridCol w="1007475"/>
                <a:gridCol w="1325600"/>
                <a:gridCol w="10074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속성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애니메이션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78.4%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21.6%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비중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보통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57.7%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종류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기반 분류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도메인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사회생활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35.7%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성격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귀여운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49.1%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공손·정중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색상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파스텔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58.6%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원색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라인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가는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55.4%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굵은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44.6%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투명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97.4%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있음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맥락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공감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42.3%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인사·안부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4" name="Google Shape;1564;p30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30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30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31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3" name="Google Shape;1573;p31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4" name="Google Shape;1574;p31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1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31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문자를 보내는 ‘상대’와 ‘순간’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1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채팅+(RCS 문자) 대화의 흐름을 참고하여 스티커(이모티콘)로 표현해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1"/>
          <p:cNvSpPr/>
          <p:nvPr/>
        </p:nvSpPr>
        <p:spPr>
          <a:xfrm>
            <a:off x="822960" y="2148840"/>
            <a:ext cx="3976835" cy="310896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31"/>
          <p:cNvSpPr/>
          <p:nvPr/>
        </p:nvSpPr>
        <p:spPr>
          <a:xfrm>
            <a:off x="822960" y="2148840"/>
            <a:ext cx="3976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채팅+ 메시지는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31"/>
          <p:cNvSpPr/>
          <p:nvPr/>
        </p:nvSpPr>
        <p:spPr>
          <a:xfrm>
            <a:off x="5241665" y="2148840"/>
            <a:ext cx="6124326" cy="31089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31"/>
          <p:cNvSpPr/>
          <p:nvPr/>
        </p:nvSpPr>
        <p:spPr>
          <a:xfrm>
            <a:off x="5241665" y="2148840"/>
            <a:ext cx="612432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메시지에 이런 이모티콘을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31"/>
          <p:cNvSpPr/>
          <p:nvPr/>
        </p:nvSpPr>
        <p:spPr>
          <a:xfrm>
            <a:off x="822960" y="2532888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31"/>
          <p:cNvSpPr/>
          <p:nvPr/>
        </p:nvSpPr>
        <p:spPr>
          <a:xfrm>
            <a:off x="946683" y="2651760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84" name="Google Shape;15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57" y="2743200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31"/>
          <p:cNvSpPr/>
          <p:nvPr/>
        </p:nvSpPr>
        <p:spPr>
          <a:xfrm>
            <a:off x="1423903" y="2615184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31"/>
          <p:cNvSpPr/>
          <p:nvPr/>
        </p:nvSpPr>
        <p:spPr>
          <a:xfrm>
            <a:off x="1423903" y="2615184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 세트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31"/>
          <p:cNvSpPr/>
          <p:nvPr/>
        </p:nvSpPr>
        <p:spPr>
          <a:xfrm>
            <a:off x="1423903" y="2807208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문자는 예의 바르게 — 인사·감사 세트가 매출 1위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1"/>
          <p:cNvSpPr/>
          <p:nvPr/>
        </p:nvSpPr>
        <p:spPr>
          <a:xfrm>
            <a:off x="4897006" y="2734056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31"/>
          <p:cNvSpPr/>
          <p:nvPr/>
        </p:nvSpPr>
        <p:spPr>
          <a:xfrm>
            <a:off x="5241665" y="2532888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31"/>
          <p:cNvSpPr/>
          <p:nvPr/>
        </p:nvSpPr>
        <p:spPr>
          <a:xfrm>
            <a:off x="5347714" y="2615184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31"/>
          <p:cNvSpPr/>
          <p:nvPr/>
        </p:nvSpPr>
        <p:spPr>
          <a:xfrm>
            <a:off x="5347714" y="261518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1"/>
          <p:cNvSpPr/>
          <p:nvPr/>
        </p:nvSpPr>
        <p:spPr>
          <a:xfrm>
            <a:off x="5860284" y="2587752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공손한 인사·감사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1"/>
          <p:cNvSpPr/>
          <p:nvPr/>
        </p:nvSpPr>
        <p:spPr>
          <a:xfrm>
            <a:off x="5347714" y="2834640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가족·어른·거래처에게 보내도 되는 말투. 아침·저녁 인사와 감사 표현을 한 세트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1"/>
          <p:cNvSpPr/>
          <p:nvPr/>
        </p:nvSpPr>
        <p:spPr>
          <a:xfrm>
            <a:off x="9306875" y="26060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31"/>
          <p:cNvSpPr/>
          <p:nvPr/>
        </p:nvSpPr>
        <p:spPr>
          <a:xfrm>
            <a:off x="9306875" y="26060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안녕하세요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1"/>
          <p:cNvSpPr/>
          <p:nvPr/>
        </p:nvSpPr>
        <p:spPr>
          <a:xfrm>
            <a:off x="10349689" y="26060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31"/>
          <p:cNvSpPr/>
          <p:nvPr/>
        </p:nvSpPr>
        <p:spPr>
          <a:xfrm>
            <a:off x="10349689" y="26060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1"/>
          <p:cNvSpPr/>
          <p:nvPr/>
        </p:nvSpPr>
        <p:spPr>
          <a:xfrm>
            <a:off x="9306875" y="286207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31"/>
          <p:cNvSpPr/>
          <p:nvPr/>
        </p:nvSpPr>
        <p:spPr>
          <a:xfrm>
            <a:off x="9306875" y="286207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수고하셨습니다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1"/>
          <p:cNvSpPr/>
          <p:nvPr/>
        </p:nvSpPr>
        <p:spPr>
          <a:xfrm>
            <a:off x="10349689" y="286207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31"/>
          <p:cNvSpPr/>
          <p:nvPr/>
        </p:nvSpPr>
        <p:spPr>
          <a:xfrm>
            <a:off x="10349689" y="286207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부탁드립니다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1"/>
          <p:cNvSpPr/>
          <p:nvPr/>
        </p:nvSpPr>
        <p:spPr>
          <a:xfrm>
            <a:off x="822960" y="3200400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31"/>
          <p:cNvSpPr/>
          <p:nvPr/>
        </p:nvSpPr>
        <p:spPr>
          <a:xfrm>
            <a:off x="946683" y="3319272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04" name="Google Shape;16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57" y="3410712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31"/>
          <p:cNvSpPr/>
          <p:nvPr/>
        </p:nvSpPr>
        <p:spPr>
          <a:xfrm>
            <a:off x="1423903" y="3282696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31"/>
          <p:cNvSpPr/>
          <p:nvPr/>
        </p:nvSpPr>
        <p:spPr>
          <a:xfrm>
            <a:off x="1423903" y="3282696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표준어 사용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1"/>
          <p:cNvSpPr/>
          <p:nvPr/>
        </p:nvSpPr>
        <p:spPr>
          <a:xfrm>
            <a:off x="1423903" y="3474720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신조어보다 표준어 — </a:t>
            </a:r>
            <a:r>
              <a:rPr b="1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정중함을 담아서/받는 사람이 이해할 수 있도록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99%, 신조어는 10%뿐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1"/>
          <p:cNvSpPr/>
          <p:nvPr/>
        </p:nvSpPr>
        <p:spPr>
          <a:xfrm>
            <a:off x="4897006" y="3401568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31"/>
          <p:cNvSpPr/>
          <p:nvPr/>
        </p:nvSpPr>
        <p:spPr>
          <a:xfrm>
            <a:off x="5241665" y="3200400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31"/>
          <p:cNvSpPr/>
          <p:nvPr/>
        </p:nvSpPr>
        <p:spPr>
          <a:xfrm>
            <a:off x="5347714" y="3282696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31"/>
          <p:cNvSpPr/>
          <p:nvPr/>
        </p:nvSpPr>
        <p:spPr>
          <a:xfrm>
            <a:off x="5347714" y="328269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1"/>
          <p:cNvSpPr/>
          <p:nvPr/>
        </p:nvSpPr>
        <p:spPr>
          <a:xfrm>
            <a:off x="5860284" y="3255264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사회생활 리액션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1"/>
          <p:cNvSpPr/>
          <p:nvPr/>
        </p:nvSpPr>
        <p:spPr>
          <a:xfrm>
            <a:off x="5347714" y="3502152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직장·단체방에서 쓰는 확인·사과·요청. 귀여운 캐릭터로 딱딱함을 덜어내기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1"/>
          <p:cNvSpPr/>
          <p:nvPr/>
        </p:nvSpPr>
        <p:spPr>
          <a:xfrm>
            <a:off x="9306875" y="32735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31"/>
          <p:cNvSpPr/>
          <p:nvPr/>
        </p:nvSpPr>
        <p:spPr>
          <a:xfrm>
            <a:off x="9306875" y="32735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 알겠습니다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1"/>
          <p:cNvSpPr/>
          <p:nvPr/>
        </p:nvSpPr>
        <p:spPr>
          <a:xfrm>
            <a:off x="10349689" y="32735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31"/>
          <p:cNvSpPr/>
          <p:nvPr/>
        </p:nvSpPr>
        <p:spPr>
          <a:xfrm>
            <a:off x="10349689" y="32735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확인했습니다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1"/>
          <p:cNvSpPr/>
          <p:nvPr/>
        </p:nvSpPr>
        <p:spPr>
          <a:xfrm>
            <a:off x="9306875" y="352958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31"/>
          <p:cNvSpPr/>
          <p:nvPr/>
        </p:nvSpPr>
        <p:spPr>
          <a:xfrm>
            <a:off x="9306875" y="352958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죄송합니다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1"/>
          <p:cNvSpPr/>
          <p:nvPr/>
        </p:nvSpPr>
        <p:spPr>
          <a:xfrm>
            <a:off x="10349689" y="352958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31"/>
          <p:cNvSpPr/>
          <p:nvPr/>
        </p:nvSpPr>
        <p:spPr>
          <a:xfrm>
            <a:off x="10349689" y="352958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잠시만요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1"/>
          <p:cNvSpPr/>
          <p:nvPr/>
        </p:nvSpPr>
        <p:spPr>
          <a:xfrm>
            <a:off x="822960" y="3867912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31"/>
          <p:cNvSpPr/>
          <p:nvPr/>
        </p:nvSpPr>
        <p:spPr>
          <a:xfrm>
            <a:off x="946683" y="3986784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24" name="Google Shape;162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057" y="4078224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31"/>
          <p:cNvSpPr/>
          <p:nvPr/>
        </p:nvSpPr>
        <p:spPr>
          <a:xfrm>
            <a:off x="1423903" y="3950208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31"/>
          <p:cNvSpPr/>
          <p:nvPr/>
        </p:nvSpPr>
        <p:spPr>
          <a:xfrm>
            <a:off x="1423903" y="3950208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시즌성 콘텐츠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1"/>
          <p:cNvSpPr/>
          <p:nvPr/>
        </p:nvSpPr>
        <p:spPr>
          <a:xfrm>
            <a:off x="1423903" y="4142232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명절·기념일에 매출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1~2월 설날 세트 36~41% · 5월 감사 세트 급증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1"/>
          <p:cNvSpPr/>
          <p:nvPr/>
        </p:nvSpPr>
        <p:spPr>
          <a:xfrm>
            <a:off x="4897006" y="4069080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31"/>
          <p:cNvSpPr/>
          <p:nvPr/>
        </p:nvSpPr>
        <p:spPr>
          <a:xfrm>
            <a:off x="5241665" y="3867912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31"/>
          <p:cNvSpPr/>
          <p:nvPr/>
        </p:nvSpPr>
        <p:spPr>
          <a:xfrm>
            <a:off x="5347714" y="3950208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31"/>
          <p:cNvSpPr/>
          <p:nvPr/>
        </p:nvSpPr>
        <p:spPr>
          <a:xfrm>
            <a:off x="5347714" y="395020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1"/>
          <p:cNvSpPr/>
          <p:nvPr/>
        </p:nvSpPr>
        <p:spPr>
          <a:xfrm>
            <a:off x="5860284" y="3922776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 인사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1"/>
          <p:cNvSpPr/>
          <p:nvPr/>
        </p:nvSpPr>
        <p:spPr>
          <a:xfrm>
            <a:off x="5347714" y="4169664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설·추석·새해·어버이날·생일. 시즌 3~4주 전 등록, 캐릭터 하나로 시즌마다 변형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1"/>
          <p:cNvSpPr/>
          <p:nvPr/>
        </p:nvSpPr>
        <p:spPr>
          <a:xfrm>
            <a:off x="9306875" y="39410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31"/>
          <p:cNvSpPr/>
          <p:nvPr/>
        </p:nvSpPr>
        <p:spPr>
          <a:xfrm>
            <a:off x="9306875" y="39410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새해 복 많이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1"/>
          <p:cNvSpPr/>
          <p:nvPr/>
        </p:nvSpPr>
        <p:spPr>
          <a:xfrm>
            <a:off x="10349689" y="39410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31"/>
          <p:cNvSpPr/>
          <p:nvPr/>
        </p:nvSpPr>
        <p:spPr>
          <a:xfrm>
            <a:off x="10349689" y="39410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즐거운 명절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1"/>
          <p:cNvSpPr/>
          <p:nvPr/>
        </p:nvSpPr>
        <p:spPr>
          <a:xfrm>
            <a:off x="9306875" y="419709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31"/>
          <p:cNvSpPr/>
          <p:nvPr/>
        </p:nvSpPr>
        <p:spPr>
          <a:xfrm>
            <a:off x="9306875" y="419709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생일 축하해요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1"/>
          <p:cNvSpPr/>
          <p:nvPr/>
        </p:nvSpPr>
        <p:spPr>
          <a:xfrm>
            <a:off x="10349689" y="419709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31"/>
          <p:cNvSpPr/>
          <p:nvPr/>
        </p:nvSpPr>
        <p:spPr>
          <a:xfrm>
            <a:off x="10349689" y="419709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1"/>
          <p:cNvSpPr/>
          <p:nvPr/>
        </p:nvSpPr>
        <p:spPr>
          <a:xfrm>
            <a:off x="822960" y="4535424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31"/>
          <p:cNvSpPr/>
          <p:nvPr/>
        </p:nvSpPr>
        <p:spPr>
          <a:xfrm>
            <a:off x="946683" y="4654296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44" name="Google Shape;164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57" y="4745736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31"/>
          <p:cNvSpPr/>
          <p:nvPr/>
        </p:nvSpPr>
        <p:spPr>
          <a:xfrm>
            <a:off x="1423903" y="4617720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31"/>
          <p:cNvSpPr/>
          <p:nvPr/>
        </p:nvSpPr>
        <p:spPr>
          <a:xfrm>
            <a:off x="1423903" y="4617720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31"/>
          <p:cNvSpPr/>
          <p:nvPr/>
        </p:nvSpPr>
        <p:spPr>
          <a:xfrm>
            <a:off x="1423903" y="4809744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귀엽고 움직이는 파스텔 캐릭터가 수요 높음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31"/>
          <p:cNvSpPr/>
          <p:nvPr/>
        </p:nvSpPr>
        <p:spPr>
          <a:xfrm>
            <a:off x="4897006" y="4736592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31"/>
          <p:cNvSpPr/>
          <p:nvPr/>
        </p:nvSpPr>
        <p:spPr>
          <a:xfrm>
            <a:off x="5241665" y="4535424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31"/>
          <p:cNvSpPr/>
          <p:nvPr/>
        </p:nvSpPr>
        <p:spPr>
          <a:xfrm>
            <a:off x="5347714" y="4617720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31"/>
          <p:cNvSpPr/>
          <p:nvPr/>
        </p:nvSpPr>
        <p:spPr>
          <a:xfrm>
            <a:off x="5347714" y="461772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31"/>
          <p:cNvSpPr/>
          <p:nvPr/>
        </p:nvSpPr>
        <p:spPr>
          <a:xfrm>
            <a:off x="5860284" y="4590288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캐릭터 감정 리액션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1"/>
          <p:cNvSpPr/>
          <p:nvPr/>
        </p:nvSpPr>
        <p:spPr>
          <a:xfrm>
            <a:off x="5347714" y="4837176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공감·응원·놀람 같은 일상 감정을 짧은 루프로. 문자 답장 한 번에 마음을 전달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1"/>
          <p:cNvSpPr/>
          <p:nvPr/>
        </p:nvSpPr>
        <p:spPr>
          <a:xfrm>
            <a:off x="9306875" y="46085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1"/>
          <p:cNvSpPr/>
          <p:nvPr/>
        </p:nvSpPr>
        <p:spPr>
          <a:xfrm>
            <a:off x="9306875" y="46085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좋아요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1"/>
          <p:cNvSpPr/>
          <p:nvPr/>
        </p:nvSpPr>
        <p:spPr>
          <a:xfrm>
            <a:off x="10349689" y="46085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31"/>
          <p:cNvSpPr/>
          <p:nvPr/>
        </p:nvSpPr>
        <p:spPr>
          <a:xfrm>
            <a:off x="10349689" y="46085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화이팅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31"/>
          <p:cNvSpPr/>
          <p:nvPr/>
        </p:nvSpPr>
        <p:spPr>
          <a:xfrm>
            <a:off x="9306875" y="4864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31"/>
          <p:cNvSpPr/>
          <p:nvPr/>
        </p:nvSpPr>
        <p:spPr>
          <a:xfrm>
            <a:off x="9306875" y="4864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1"/>
          <p:cNvSpPr/>
          <p:nvPr/>
        </p:nvSpPr>
        <p:spPr>
          <a:xfrm>
            <a:off x="10349689" y="4864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31"/>
          <p:cNvSpPr/>
          <p:nvPr/>
        </p:nvSpPr>
        <p:spPr>
          <a:xfrm>
            <a:off x="10349689" y="4864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힝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1"/>
          <p:cNvSpPr/>
          <p:nvPr/>
        </p:nvSpPr>
        <p:spPr>
          <a:xfrm>
            <a:off x="822960" y="5202936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31"/>
          <p:cNvSpPr/>
          <p:nvPr/>
        </p:nvSpPr>
        <p:spPr>
          <a:xfrm>
            <a:off x="946683" y="5321808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4" name="Google Shape;166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57" y="5413248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31"/>
          <p:cNvSpPr/>
          <p:nvPr/>
        </p:nvSpPr>
        <p:spPr>
          <a:xfrm>
            <a:off x="1423903" y="5285232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31"/>
          <p:cNvSpPr/>
          <p:nvPr/>
        </p:nvSpPr>
        <p:spPr>
          <a:xfrm>
            <a:off x="1423903" y="5285232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 세트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1"/>
          <p:cNvSpPr/>
          <p:nvPr/>
        </p:nvSpPr>
        <p:spPr>
          <a:xfrm>
            <a:off x="1423903" y="5477256"/>
            <a:ext cx="3269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연인·가족 간 애정 표현은 꾸준한 수요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1"/>
          <p:cNvSpPr/>
          <p:nvPr/>
        </p:nvSpPr>
        <p:spPr>
          <a:xfrm>
            <a:off x="4897006" y="5404104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31"/>
          <p:cNvSpPr/>
          <p:nvPr/>
        </p:nvSpPr>
        <p:spPr>
          <a:xfrm>
            <a:off x="5241665" y="5202936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31"/>
          <p:cNvSpPr/>
          <p:nvPr/>
        </p:nvSpPr>
        <p:spPr>
          <a:xfrm>
            <a:off x="5347714" y="5285232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31"/>
          <p:cNvSpPr/>
          <p:nvPr/>
        </p:nvSpPr>
        <p:spPr>
          <a:xfrm>
            <a:off x="5347714" y="528523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31"/>
          <p:cNvSpPr/>
          <p:nvPr/>
        </p:nvSpPr>
        <p:spPr>
          <a:xfrm>
            <a:off x="5860284" y="5257800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애정·응원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1"/>
          <p:cNvSpPr/>
          <p:nvPr/>
        </p:nvSpPr>
        <p:spPr>
          <a:xfrm>
            <a:off x="5347714" y="5504688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주고받는 짧은 애정 메시지. 아침·밤 인사와 묶으면 활용도 상승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1"/>
          <p:cNvSpPr/>
          <p:nvPr/>
        </p:nvSpPr>
        <p:spPr>
          <a:xfrm>
            <a:off x="9306875" y="52760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1"/>
          <p:cNvSpPr/>
          <p:nvPr/>
        </p:nvSpPr>
        <p:spPr>
          <a:xfrm>
            <a:off x="9306875" y="52760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사랑해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1"/>
          <p:cNvSpPr/>
          <p:nvPr/>
        </p:nvSpPr>
        <p:spPr>
          <a:xfrm>
            <a:off x="10349689" y="52760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31"/>
          <p:cNvSpPr/>
          <p:nvPr/>
        </p:nvSpPr>
        <p:spPr>
          <a:xfrm>
            <a:off x="10349689" y="52760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 싶어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1"/>
          <p:cNvSpPr/>
          <p:nvPr/>
        </p:nvSpPr>
        <p:spPr>
          <a:xfrm>
            <a:off x="9306875" y="5532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31"/>
          <p:cNvSpPr/>
          <p:nvPr/>
        </p:nvSpPr>
        <p:spPr>
          <a:xfrm>
            <a:off x="9306875" y="5532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오늘도 화이팅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1"/>
          <p:cNvSpPr/>
          <p:nvPr/>
        </p:nvSpPr>
        <p:spPr>
          <a:xfrm>
            <a:off x="10349689" y="5532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31"/>
          <p:cNvSpPr/>
          <p:nvPr/>
        </p:nvSpPr>
        <p:spPr>
          <a:xfrm>
            <a:off x="10349689" y="5532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자요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31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31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1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32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1" name="Google Shape;1691;p32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2" name="Google Shape;1692;p32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32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32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24장의 순서는 대화의 ‘흐름'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32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문자 메시지 이용자의 사용 패턴을 참고하여 이모티콘을 구성해 보세요.</a:t>
            </a:r>
            <a:endParaRPr b="0" i="0" sz="1100" u="none" cap="none" strike="noStrike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6" name="Google Shape;1696;p32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32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흐름 = 배치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2"/>
          <p:cNvSpPr/>
          <p:nvPr/>
        </p:nvSpPr>
        <p:spPr>
          <a:xfrm>
            <a:off x="822960" y="2569464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32"/>
          <p:cNvSpPr/>
          <p:nvPr/>
        </p:nvSpPr>
        <p:spPr>
          <a:xfrm>
            <a:off x="929008" y="2660904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32"/>
          <p:cNvSpPr/>
          <p:nvPr/>
        </p:nvSpPr>
        <p:spPr>
          <a:xfrm>
            <a:off x="929008" y="2660904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인사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 · 3장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32"/>
          <p:cNvSpPr/>
          <p:nvPr/>
        </p:nvSpPr>
        <p:spPr>
          <a:xfrm>
            <a:off x="2060197" y="2671071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대화를 여는 장면 -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2"/>
          <p:cNvSpPr/>
          <p:nvPr/>
        </p:nvSpPr>
        <p:spPr>
          <a:xfrm>
            <a:off x="2060197" y="2916936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안녕하세요 · 좋은 아침 · 잘 지내셨어요?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32"/>
          <p:cNvSpPr/>
          <p:nvPr/>
        </p:nvSpPr>
        <p:spPr>
          <a:xfrm>
            <a:off x="1353204" y="3154680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32"/>
          <p:cNvSpPr/>
          <p:nvPr/>
        </p:nvSpPr>
        <p:spPr>
          <a:xfrm>
            <a:off x="822960" y="3246120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32"/>
          <p:cNvSpPr/>
          <p:nvPr/>
        </p:nvSpPr>
        <p:spPr>
          <a:xfrm>
            <a:off x="929008" y="3337560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32"/>
          <p:cNvSpPr/>
          <p:nvPr/>
        </p:nvSpPr>
        <p:spPr>
          <a:xfrm>
            <a:off x="929008" y="3337560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표현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4~11번 · 8장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32"/>
          <p:cNvSpPr/>
          <p:nvPr/>
        </p:nvSpPr>
        <p:spPr>
          <a:xfrm>
            <a:off x="2060197" y="3347727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 상위 기쁨·감동·놀람·미안함 다수 차지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2"/>
          <p:cNvSpPr/>
          <p:nvPr/>
        </p:nvSpPr>
        <p:spPr>
          <a:xfrm>
            <a:off x="2060197" y="3593592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좋아요 · 감동 · 헉 · 힝 · 죄송해요 · 뿌듯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32"/>
          <p:cNvSpPr/>
          <p:nvPr/>
        </p:nvSpPr>
        <p:spPr>
          <a:xfrm>
            <a:off x="1353204" y="3831336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32"/>
          <p:cNvSpPr/>
          <p:nvPr/>
        </p:nvSpPr>
        <p:spPr>
          <a:xfrm>
            <a:off x="822960" y="3922776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32"/>
          <p:cNvSpPr/>
          <p:nvPr/>
        </p:nvSpPr>
        <p:spPr>
          <a:xfrm>
            <a:off x="929008" y="4014216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32"/>
          <p:cNvSpPr/>
          <p:nvPr/>
        </p:nvSpPr>
        <p:spPr>
          <a:xfrm>
            <a:off x="929008" y="4014216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12~15번 · 4장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32"/>
          <p:cNvSpPr/>
          <p:nvPr/>
        </p:nvSpPr>
        <p:spPr>
          <a:xfrm>
            <a:off x="2060197" y="4024383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 말에 바로 답하는 짧은 반응. 확인·동의·응원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2"/>
          <p:cNvSpPr/>
          <p:nvPr/>
        </p:nvSpPr>
        <p:spPr>
          <a:xfrm>
            <a:off x="2060197" y="4270248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네! · 알겠습니다 · 화이팅 · 최고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32"/>
          <p:cNvSpPr/>
          <p:nvPr/>
        </p:nvSpPr>
        <p:spPr>
          <a:xfrm>
            <a:off x="1353204" y="4507992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32"/>
          <p:cNvSpPr/>
          <p:nvPr/>
        </p:nvSpPr>
        <p:spPr>
          <a:xfrm>
            <a:off x="822960" y="4599432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32"/>
          <p:cNvSpPr/>
          <p:nvPr/>
        </p:nvSpPr>
        <p:spPr>
          <a:xfrm>
            <a:off x="929008" y="4690872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32"/>
          <p:cNvSpPr/>
          <p:nvPr/>
        </p:nvSpPr>
        <p:spPr>
          <a:xfrm>
            <a:off x="929008" y="4690872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일상·상황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16~21번 · 6장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32"/>
          <p:cNvSpPr/>
          <p:nvPr/>
        </p:nvSpPr>
        <p:spPr>
          <a:xfrm>
            <a:off x="2060197" y="4701039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출근·식사·이동·휴식 등 하루 중 보내는 상황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2"/>
          <p:cNvSpPr/>
          <p:nvPr/>
        </p:nvSpPr>
        <p:spPr>
          <a:xfrm>
            <a:off x="2060197" y="4946904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출근 중 · 밥 먹자 · 가는 중 · 잠깐만 · 퇴근 · 쉬는 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32"/>
          <p:cNvSpPr/>
          <p:nvPr/>
        </p:nvSpPr>
        <p:spPr>
          <a:xfrm>
            <a:off x="1353204" y="5184648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32"/>
          <p:cNvSpPr/>
          <p:nvPr/>
        </p:nvSpPr>
        <p:spPr>
          <a:xfrm>
            <a:off x="822960" y="5276088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32"/>
          <p:cNvSpPr/>
          <p:nvPr/>
        </p:nvSpPr>
        <p:spPr>
          <a:xfrm>
            <a:off x="929008" y="5367528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32"/>
          <p:cNvSpPr/>
          <p:nvPr/>
        </p:nvSpPr>
        <p:spPr>
          <a:xfrm>
            <a:off x="929008" y="5367528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22~24번 · 3장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32"/>
          <p:cNvSpPr/>
          <p:nvPr/>
        </p:nvSpPr>
        <p:spPr>
          <a:xfrm>
            <a:off x="2060197" y="5377695"/>
            <a:ext cx="393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부탁·감사·인사로 대화를 닫는 장면. 마지막 장은 항상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2"/>
          <p:cNvSpPr/>
          <p:nvPr/>
        </p:nvSpPr>
        <p:spPr>
          <a:xfrm>
            <a:off x="2060197" y="5623560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부탁드려요 · 감사합니다 · 잘 자요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32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32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32"/>
          <p:cNvSpPr/>
          <p:nvPr/>
        </p:nvSpPr>
        <p:spPr>
          <a:xfrm>
            <a:off x="6478903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32"/>
          <p:cNvSpPr/>
          <p:nvPr/>
        </p:nvSpPr>
        <p:spPr>
          <a:xfrm>
            <a:off x="6478903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32"/>
          <p:cNvSpPr/>
          <p:nvPr/>
        </p:nvSpPr>
        <p:spPr>
          <a:xfrm>
            <a:off x="715938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32"/>
          <p:cNvSpPr/>
          <p:nvPr/>
        </p:nvSpPr>
        <p:spPr>
          <a:xfrm>
            <a:off x="715938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2"/>
          <p:cNvSpPr/>
          <p:nvPr/>
        </p:nvSpPr>
        <p:spPr>
          <a:xfrm>
            <a:off x="783986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32"/>
          <p:cNvSpPr/>
          <p:nvPr/>
        </p:nvSpPr>
        <p:spPr>
          <a:xfrm>
            <a:off x="783986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2"/>
          <p:cNvSpPr/>
          <p:nvPr/>
        </p:nvSpPr>
        <p:spPr>
          <a:xfrm>
            <a:off x="8520345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32"/>
          <p:cNvSpPr/>
          <p:nvPr/>
        </p:nvSpPr>
        <p:spPr>
          <a:xfrm>
            <a:off x="8520345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표현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2"/>
          <p:cNvSpPr/>
          <p:nvPr/>
        </p:nvSpPr>
        <p:spPr>
          <a:xfrm>
            <a:off x="920082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32"/>
          <p:cNvSpPr/>
          <p:nvPr/>
        </p:nvSpPr>
        <p:spPr>
          <a:xfrm>
            <a:off x="920082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2"/>
          <p:cNvSpPr/>
          <p:nvPr/>
        </p:nvSpPr>
        <p:spPr>
          <a:xfrm>
            <a:off x="988130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32"/>
          <p:cNvSpPr/>
          <p:nvPr/>
        </p:nvSpPr>
        <p:spPr>
          <a:xfrm>
            <a:off x="988130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32"/>
          <p:cNvSpPr/>
          <p:nvPr/>
        </p:nvSpPr>
        <p:spPr>
          <a:xfrm>
            <a:off x="6478903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32"/>
          <p:cNvSpPr/>
          <p:nvPr/>
        </p:nvSpPr>
        <p:spPr>
          <a:xfrm>
            <a:off x="6478903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32"/>
          <p:cNvSpPr/>
          <p:nvPr/>
        </p:nvSpPr>
        <p:spPr>
          <a:xfrm>
            <a:off x="715938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32"/>
          <p:cNvSpPr/>
          <p:nvPr/>
        </p:nvSpPr>
        <p:spPr>
          <a:xfrm>
            <a:off x="715938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2"/>
          <p:cNvSpPr/>
          <p:nvPr/>
        </p:nvSpPr>
        <p:spPr>
          <a:xfrm>
            <a:off x="783986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32"/>
          <p:cNvSpPr/>
          <p:nvPr/>
        </p:nvSpPr>
        <p:spPr>
          <a:xfrm>
            <a:off x="783986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2"/>
          <p:cNvSpPr/>
          <p:nvPr/>
        </p:nvSpPr>
        <p:spPr>
          <a:xfrm>
            <a:off x="8520345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32"/>
          <p:cNvSpPr/>
          <p:nvPr/>
        </p:nvSpPr>
        <p:spPr>
          <a:xfrm>
            <a:off x="8520345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2"/>
          <p:cNvSpPr/>
          <p:nvPr/>
        </p:nvSpPr>
        <p:spPr>
          <a:xfrm>
            <a:off x="920082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32"/>
          <p:cNvSpPr/>
          <p:nvPr/>
        </p:nvSpPr>
        <p:spPr>
          <a:xfrm>
            <a:off x="920082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32"/>
          <p:cNvSpPr/>
          <p:nvPr/>
        </p:nvSpPr>
        <p:spPr>
          <a:xfrm>
            <a:off x="988130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32"/>
          <p:cNvSpPr/>
          <p:nvPr/>
        </p:nvSpPr>
        <p:spPr>
          <a:xfrm>
            <a:off x="988130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32"/>
          <p:cNvSpPr/>
          <p:nvPr/>
        </p:nvSpPr>
        <p:spPr>
          <a:xfrm>
            <a:off x="6478903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32"/>
          <p:cNvSpPr/>
          <p:nvPr/>
        </p:nvSpPr>
        <p:spPr>
          <a:xfrm>
            <a:off x="6478903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2"/>
          <p:cNvSpPr/>
          <p:nvPr/>
        </p:nvSpPr>
        <p:spPr>
          <a:xfrm>
            <a:off x="715938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32"/>
          <p:cNvSpPr/>
          <p:nvPr/>
        </p:nvSpPr>
        <p:spPr>
          <a:xfrm>
            <a:off x="715938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32"/>
          <p:cNvSpPr/>
          <p:nvPr/>
        </p:nvSpPr>
        <p:spPr>
          <a:xfrm>
            <a:off x="783986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32"/>
          <p:cNvSpPr/>
          <p:nvPr/>
        </p:nvSpPr>
        <p:spPr>
          <a:xfrm>
            <a:off x="783986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2"/>
          <p:cNvSpPr/>
          <p:nvPr/>
        </p:nvSpPr>
        <p:spPr>
          <a:xfrm>
            <a:off x="8520345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32"/>
          <p:cNvSpPr/>
          <p:nvPr/>
        </p:nvSpPr>
        <p:spPr>
          <a:xfrm>
            <a:off x="8520345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일상·상황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32"/>
          <p:cNvSpPr/>
          <p:nvPr/>
        </p:nvSpPr>
        <p:spPr>
          <a:xfrm>
            <a:off x="920082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32"/>
          <p:cNvSpPr/>
          <p:nvPr/>
        </p:nvSpPr>
        <p:spPr>
          <a:xfrm>
            <a:off x="920082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2"/>
          <p:cNvSpPr/>
          <p:nvPr/>
        </p:nvSpPr>
        <p:spPr>
          <a:xfrm>
            <a:off x="988130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32"/>
          <p:cNvSpPr/>
          <p:nvPr/>
        </p:nvSpPr>
        <p:spPr>
          <a:xfrm>
            <a:off x="988130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2"/>
          <p:cNvSpPr/>
          <p:nvPr/>
        </p:nvSpPr>
        <p:spPr>
          <a:xfrm>
            <a:off x="6478903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32"/>
          <p:cNvSpPr/>
          <p:nvPr/>
        </p:nvSpPr>
        <p:spPr>
          <a:xfrm>
            <a:off x="6478903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2"/>
          <p:cNvSpPr/>
          <p:nvPr/>
        </p:nvSpPr>
        <p:spPr>
          <a:xfrm>
            <a:off x="715938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32"/>
          <p:cNvSpPr/>
          <p:nvPr/>
        </p:nvSpPr>
        <p:spPr>
          <a:xfrm>
            <a:off x="715938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2"/>
          <p:cNvSpPr/>
          <p:nvPr/>
        </p:nvSpPr>
        <p:spPr>
          <a:xfrm>
            <a:off x="783986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32"/>
          <p:cNvSpPr/>
          <p:nvPr/>
        </p:nvSpPr>
        <p:spPr>
          <a:xfrm>
            <a:off x="783986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32"/>
          <p:cNvSpPr/>
          <p:nvPr/>
        </p:nvSpPr>
        <p:spPr>
          <a:xfrm>
            <a:off x="8520345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32"/>
          <p:cNvSpPr/>
          <p:nvPr/>
        </p:nvSpPr>
        <p:spPr>
          <a:xfrm>
            <a:off x="8520345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메시지·마무리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2"/>
          <p:cNvSpPr/>
          <p:nvPr/>
        </p:nvSpPr>
        <p:spPr>
          <a:xfrm>
            <a:off x="920082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32"/>
          <p:cNvSpPr/>
          <p:nvPr/>
        </p:nvSpPr>
        <p:spPr>
          <a:xfrm>
            <a:off x="920082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2"/>
          <p:cNvSpPr/>
          <p:nvPr/>
        </p:nvSpPr>
        <p:spPr>
          <a:xfrm>
            <a:off x="988130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32"/>
          <p:cNvSpPr/>
          <p:nvPr/>
        </p:nvSpPr>
        <p:spPr>
          <a:xfrm>
            <a:off x="988130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32"/>
          <p:cNvSpPr/>
          <p:nvPr/>
        </p:nvSpPr>
        <p:spPr>
          <a:xfrm>
            <a:off x="6443553" y="2532888"/>
            <a:ext cx="2067954" cy="4572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32"/>
          <p:cNvSpPr/>
          <p:nvPr/>
        </p:nvSpPr>
        <p:spPr>
          <a:xfrm>
            <a:off x="10579462" y="2551176"/>
            <a:ext cx="88374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 1~3번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 첫인상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32"/>
          <p:cNvSpPr/>
          <p:nvPr/>
        </p:nvSpPr>
        <p:spPr>
          <a:xfrm>
            <a:off x="6390529" y="4398264"/>
            <a:ext cx="497546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규칙 5가지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32"/>
          <p:cNvSpPr/>
          <p:nvPr/>
        </p:nvSpPr>
        <p:spPr>
          <a:xfrm>
            <a:off x="6390529" y="46177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1~3번에 가장 잘 팔릴 장면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미리보기에 먼저 보이는 자리. 채팅+는 인사·감사가 1위 — 인사를 앞에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32"/>
          <p:cNvSpPr/>
          <p:nvPr/>
        </p:nvSpPr>
        <p:spPr>
          <a:xfrm>
            <a:off x="6390529" y="48463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구간은 붙여서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감정끼리, 상황끼리 모여 있어야 답장하다가 바로 찾음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32"/>
          <p:cNvSpPr/>
          <p:nvPr/>
        </p:nvSpPr>
        <p:spPr>
          <a:xfrm>
            <a:off x="6390529" y="50749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긍정·부정은 짝으로 나란히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‘좋아요’ 옆에 ‘죄송해요’, ‘네!’ 옆에 ‘잠깐만’ — 선택지가 한 화면에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2"/>
          <p:cNvSpPr/>
          <p:nvPr/>
        </p:nvSpPr>
        <p:spPr>
          <a:xfrm>
            <a:off x="6390529" y="53035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4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장은 항상 인사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24번 = 대화 닫는 문구. ‘잘 자요·감사합니다’가 가장 자주 재사용됨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32"/>
          <p:cNvSpPr/>
          <p:nvPr/>
        </p:nvSpPr>
        <p:spPr>
          <a:xfrm>
            <a:off x="6390529" y="55321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5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말투는 24장 모두 존댓말로 통일 </a:t>
            </a: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정중함을 담은 메시지로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받는 사람이 이해할 수 있도록 표준어 다수 사용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32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32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  </a:t>
            </a: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1" i="0" sz="1050" u="none" cap="none" strike="noStrike">
              <a:solidFill>
                <a:srgbClr val="B7D5C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7" name="Google Shape;1787;p32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33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33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5" name="Google Shape;1795;p33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3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33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시간보다 시즌 — 시즌성 이모티콘에 대한 구매 수요 ▲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3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통해 주요 매출 발생 시간, 시즌에 맞춰 출시 예약을 설정할 수 있습니다. 전략적으로 이용해 보세요.</a:t>
            </a:r>
            <a:endParaRPr b="0" i="0" sz="1100" u="none" cap="none" strike="noStrike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9" name="Google Shape;1799;p33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33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매출 비중 (%) — 2026년 상반기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1" name="Google Shape;1801;p33"/>
          <p:cNvCxnSpPr/>
          <p:nvPr/>
        </p:nvCxnSpPr>
        <p:spPr>
          <a:xfrm>
            <a:off x="1088082" y="4526280"/>
            <a:ext cx="5125698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2" name="Google Shape;1802;p33"/>
          <p:cNvSpPr/>
          <p:nvPr/>
        </p:nvSpPr>
        <p:spPr>
          <a:xfrm>
            <a:off x="1280296" y="4071652"/>
            <a:ext cx="469855" cy="45462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33"/>
          <p:cNvSpPr/>
          <p:nvPr/>
        </p:nvSpPr>
        <p:spPr>
          <a:xfrm>
            <a:off x="1088082" y="3888772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8.6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3"/>
          <p:cNvSpPr/>
          <p:nvPr/>
        </p:nvSpPr>
        <p:spPr>
          <a:xfrm>
            <a:off x="1088082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33"/>
          <p:cNvSpPr/>
          <p:nvPr/>
        </p:nvSpPr>
        <p:spPr>
          <a:xfrm>
            <a:off x="2134579" y="3056668"/>
            <a:ext cx="469855" cy="146961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33"/>
          <p:cNvSpPr/>
          <p:nvPr/>
        </p:nvSpPr>
        <p:spPr>
          <a:xfrm>
            <a:off x="1942365" y="2873788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27.8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33"/>
          <p:cNvSpPr/>
          <p:nvPr/>
        </p:nvSpPr>
        <p:spPr>
          <a:xfrm>
            <a:off x="1942365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33"/>
          <p:cNvSpPr/>
          <p:nvPr/>
        </p:nvSpPr>
        <p:spPr>
          <a:xfrm>
            <a:off x="2988862" y="3469005"/>
            <a:ext cx="469855" cy="105727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33"/>
          <p:cNvSpPr/>
          <p:nvPr/>
        </p:nvSpPr>
        <p:spPr>
          <a:xfrm>
            <a:off x="2796648" y="3286125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20.0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3"/>
          <p:cNvSpPr/>
          <p:nvPr/>
        </p:nvSpPr>
        <p:spPr>
          <a:xfrm>
            <a:off x="2796648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3월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33"/>
          <p:cNvSpPr/>
          <p:nvPr/>
        </p:nvSpPr>
        <p:spPr>
          <a:xfrm>
            <a:off x="3843145" y="3691033"/>
            <a:ext cx="469855" cy="83524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33"/>
          <p:cNvSpPr/>
          <p:nvPr/>
        </p:nvSpPr>
        <p:spPr>
          <a:xfrm>
            <a:off x="3650931" y="3508153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15.8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33"/>
          <p:cNvSpPr/>
          <p:nvPr/>
        </p:nvSpPr>
        <p:spPr>
          <a:xfrm>
            <a:off x="3650931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4월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3"/>
          <p:cNvSpPr/>
          <p:nvPr/>
        </p:nvSpPr>
        <p:spPr>
          <a:xfrm>
            <a:off x="4697428" y="3796760"/>
            <a:ext cx="469855" cy="72952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33"/>
          <p:cNvSpPr/>
          <p:nvPr/>
        </p:nvSpPr>
        <p:spPr>
          <a:xfrm>
            <a:off x="4505214" y="3613880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3"/>
          <p:cNvSpPr/>
          <p:nvPr/>
        </p:nvSpPr>
        <p:spPr>
          <a:xfrm>
            <a:off x="4505214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5월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33"/>
          <p:cNvSpPr/>
          <p:nvPr/>
        </p:nvSpPr>
        <p:spPr>
          <a:xfrm>
            <a:off x="5551711" y="3780901"/>
            <a:ext cx="469855" cy="74537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33"/>
          <p:cNvSpPr/>
          <p:nvPr/>
        </p:nvSpPr>
        <p:spPr>
          <a:xfrm>
            <a:off x="5359497" y="3598021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33"/>
          <p:cNvSpPr/>
          <p:nvPr/>
        </p:nvSpPr>
        <p:spPr>
          <a:xfrm>
            <a:off x="5359497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6월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33"/>
          <p:cNvSpPr/>
          <p:nvPr/>
        </p:nvSpPr>
        <p:spPr>
          <a:xfrm>
            <a:off x="1924690" y="2816352"/>
            <a:ext cx="889632" cy="1728216"/>
          </a:xfrm>
          <a:prstGeom prst="roundRect">
            <a:avLst>
              <a:gd fmla="val 4967" name="adj"/>
            </a:avLst>
          </a:prstGeom>
          <a:noFill/>
          <a:ln cap="flat" cmpd="sng" w="1270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33"/>
          <p:cNvSpPr/>
          <p:nvPr/>
        </p:nvSpPr>
        <p:spPr>
          <a:xfrm>
            <a:off x="1942365" y="2615184"/>
            <a:ext cx="3976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 시즌 — 1월의 3.2배 · 명절 테마가 그 달 매출의 39.2%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33"/>
          <p:cNvSpPr/>
          <p:nvPr/>
        </p:nvSpPr>
        <p:spPr>
          <a:xfrm>
            <a:off x="822960" y="4754880"/>
            <a:ext cx="565594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1~2월 설날 · 4~5월 가정의 달(인사·감사)이 두 번의 성수기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33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33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TOP25 중 시즌·인사 세트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5" name="Google Shape;1825;p33"/>
          <p:cNvCxnSpPr/>
          <p:nvPr/>
        </p:nvCxnSpPr>
        <p:spPr>
          <a:xfrm>
            <a:off x="6858912" y="4526280"/>
            <a:ext cx="4286144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6" name="Google Shape;1826;p33"/>
          <p:cNvSpPr/>
          <p:nvPr/>
        </p:nvSpPr>
        <p:spPr>
          <a:xfrm>
            <a:off x="7029827" y="3714293"/>
            <a:ext cx="240024" cy="811987"/>
          </a:xfrm>
          <a:prstGeom prst="rect">
            <a:avLst/>
          </a:prstGeom>
          <a:solidFill>
            <a:srgbClr val="E0632F"/>
          </a:solidFill>
          <a:ln cap="flat" cmpd="sng" w="12700">
            <a:solidFill>
              <a:srgbClr val="E06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33"/>
          <p:cNvSpPr/>
          <p:nvPr/>
        </p:nvSpPr>
        <p:spPr>
          <a:xfrm>
            <a:off x="6941453" y="3558845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0632F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33"/>
          <p:cNvSpPr/>
          <p:nvPr/>
        </p:nvSpPr>
        <p:spPr>
          <a:xfrm>
            <a:off x="7305201" y="3915034"/>
            <a:ext cx="240024" cy="61124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33"/>
          <p:cNvSpPr/>
          <p:nvPr/>
        </p:nvSpPr>
        <p:spPr>
          <a:xfrm>
            <a:off x="7216827" y="3759586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3"/>
          <p:cNvSpPr/>
          <p:nvPr/>
        </p:nvSpPr>
        <p:spPr>
          <a:xfrm>
            <a:off x="6858912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33"/>
          <p:cNvSpPr/>
          <p:nvPr/>
        </p:nvSpPr>
        <p:spPr>
          <a:xfrm>
            <a:off x="7887056" y="3599261"/>
            <a:ext cx="240024" cy="927019"/>
          </a:xfrm>
          <a:prstGeom prst="rect">
            <a:avLst/>
          </a:prstGeom>
          <a:solidFill>
            <a:srgbClr val="E0632F"/>
          </a:solidFill>
          <a:ln cap="flat" cmpd="sng" w="12700">
            <a:solidFill>
              <a:srgbClr val="E06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33"/>
          <p:cNvSpPr/>
          <p:nvPr/>
        </p:nvSpPr>
        <p:spPr>
          <a:xfrm>
            <a:off x="7798682" y="3443813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0632F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33"/>
          <p:cNvSpPr/>
          <p:nvPr/>
        </p:nvSpPr>
        <p:spPr>
          <a:xfrm>
            <a:off x="8162430" y="4118031"/>
            <a:ext cx="240024" cy="408249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33"/>
          <p:cNvSpPr/>
          <p:nvPr/>
        </p:nvSpPr>
        <p:spPr>
          <a:xfrm>
            <a:off x="8074056" y="3962583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33"/>
          <p:cNvSpPr/>
          <p:nvPr/>
        </p:nvSpPr>
        <p:spPr>
          <a:xfrm>
            <a:off x="7716141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33"/>
          <p:cNvSpPr/>
          <p:nvPr/>
        </p:nvSpPr>
        <p:spPr>
          <a:xfrm>
            <a:off x="9019659" y="3930823"/>
            <a:ext cx="240024" cy="59545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33"/>
          <p:cNvSpPr/>
          <p:nvPr/>
        </p:nvSpPr>
        <p:spPr>
          <a:xfrm>
            <a:off x="8931285" y="3775375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33"/>
          <p:cNvSpPr/>
          <p:nvPr/>
        </p:nvSpPr>
        <p:spPr>
          <a:xfrm>
            <a:off x="8573369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3월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33"/>
          <p:cNvSpPr/>
          <p:nvPr/>
        </p:nvSpPr>
        <p:spPr>
          <a:xfrm>
            <a:off x="9876888" y="2958694"/>
            <a:ext cx="240024" cy="156758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33"/>
          <p:cNvSpPr/>
          <p:nvPr/>
        </p:nvSpPr>
        <p:spPr>
          <a:xfrm>
            <a:off x="9788514" y="2803246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33"/>
          <p:cNvSpPr/>
          <p:nvPr/>
        </p:nvSpPr>
        <p:spPr>
          <a:xfrm>
            <a:off x="9430598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4월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33"/>
          <p:cNvSpPr/>
          <p:nvPr/>
        </p:nvSpPr>
        <p:spPr>
          <a:xfrm>
            <a:off x="10734117" y="3130113"/>
            <a:ext cx="240024" cy="139616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33"/>
          <p:cNvSpPr/>
          <p:nvPr/>
        </p:nvSpPr>
        <p:spPr>
          <a:xfrm>
            <a:off x="10645742" y="2974665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3"/>
          <p:cNvSpPr/>
          <p:nvPr/>
        </p:nvSpPr>
        <p:spPr>
          <a:xfrm>
            <a:off x="10287827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5월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33"/>
          <p:cNvSpPr/>
          <p:nvPr/>
        </p:nvSpPr>
        <p:spPr>
          <a:xfrm>
            <a:off x="6858912" y="2551176"/>
            <a:ext cx="106048" cy="109728"/>
          </a:xfrm>
          <a:prstGeom prst="rect">
            <a:avLst/>
          </a:prstGeom>
          <a:solidFill>
            <a:srgbClr val="E0632F"/>
          </a:solidFill>
          <a:ln cap="flat" cmpd="sng" w="12700">
            <a:solidFill>
              <a:srgbClr val="E06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33"/>
          <p:cNvSpPr/>
          <p:nvPr/>
        </p:nvSpPr>
        <p:spPr>
          <a:xfrm>
            <a:off x="6991473" y="2514600"/>
            <a:ext cx="123723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시즌·기념일(설날)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3"/>
          <p:cNvSpPr/>
          <p:nvPr/>
        </p:nvSpPr>
        <p:spPr>
          <a:xfrm>
            <a:off x="8272897" y="2551176"/>
            <a:ext cx="106048" cy="10972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33"/>
          <p:cNvSpPr/>
          <p:nvPr/>
        </p:nvSpPr>
        <p:spPr>
          <a:xfrm>
            <a:off x="8405459" y="2514600"/>
            <a:ext cx="10604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33"/>
          <p:cNvSpPr/>
          <p:nvPr/>
        </p:nvSpPr>
        <p:spPr>
          <a:xfrm>
            <a:off x="6637975" y="4754875"/>
            <a:ext cx="4593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설날이 지나면 인사·감사 세트가 그 자리를 채움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33"/>
          <p:cNvSpPr/>
          <p:nvPr/>
        </p:nvSpPr>
        <p:spPr>
          <a:xfrm>
            <a:off x="822960" y="4956048"/>
            <a:ext cx="70699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9~12월 시즌 캘린더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33"/>
          <p:cNvSpPr/>
          <p:nvPr/>
        </p:nvSpPr>
        <p:spPr>
          <a:xfrm>
            <a:off x="8229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33"/>
          <p:cNvSpPr/>
          <p:nvPr/>
        </p:nvSpPr>
        <p:spPr>
          <a:xfrm>
            <a:off x="9555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3"/>
          <p:cNvSpPr/>
          <p:nvPr/>
        </p:nvSpPr>
        <p:spPr>
          <a:xfrm>
            <a:off x="9555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추석 연휴(9/24~26) · 개학 · 가을 시작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33"/>
          <p:cNvSpPr/>
          <p:nvPr/>
        </p:nvSpPr>
        <p:spPr>
          <a:xfrm>
            <a:off x="9555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명절 인사 · 건강 안부 · 감사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3"/>
          <p:cNvSpPr/>
          <p:nvPr/>
        </p:nvSpPr>
        <p:spPr>
          <a:xfrm>
            <a:off x="34971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33"/>
          <p:cNvSpPr/>
          <p:nvPr/>
        </p:nvSpPr>
        <p:spPr>
          <a:xfrm>
            <a:off x="36297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33"/>
          <p:cNvSpPr/>
          <p:nvPr/>
        </p:nvSpPr>
        <p:spPr>
          <a:xfrm>
            <a:off x="36297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개천절 · 한글날 · 단풍 나들이 · 할로윈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33"/>
          <p:cNvSpPr/>
          <p:nvPr/>
        </p:nvSpPr>
        <p:spPr>
          <a:xfrm>
            <a:off x="36297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가을 안부 · 나들이 인사 · 할로윈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3"/>
          <p:cNvSpPr/>
          <p:nvPr/>
        </p:nvSpPr>
        <p:spPr>
          <a:xfrm>
            <a:off x="6171361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33"/>
          <p:cNvSpPr/>
          <p:nvPr/>
        </p:nvSpPr>
        <p:spPr>
          <a:xfrm>
            <a:off x="6303922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3"/>
          <p:cNvSpPr/>
          <p:nvPr/>
        </p:nvSpPr>
        <p:spPr>
          <a:xfrm>
            <a:off x="6303922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수능(11/19) · 빼빼로데이 · 블랙 프라이데이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33"/>
          <p:cNvSpPr/>
          <p:nvPr/>
        </p:nvSpPr>
        <p:spPr>
          <a:xfrm>
            <a:off x="6303922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수능 응원 · 고백·선물 · 날씨 안부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33"/>
          <p:cNvSpPr/>
          <p:nvPr/>
        </p:nvSpPr>
        <p:spPr>
          <a:xfrm>
            <a:off x="8845562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33"/>
          <p:cNvSpPr/>
          <p:nvPr/>
        </p:nvSpPr>
        <p:spPr>
          <a:xfrm>
            <a:off x="8978123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3"/>
          <p:cNvSpPr/>
          <p:nvPr/>
        </p:nvSpPr>
        <p:spPr>
          <a:xfrm>
            <a:off x="8978123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크리스마스 · 연말 결산 · 송년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33"/>
          <p:cNvSpPr/>
          <p:nvPr/>
        </p:nvSpPr>
        <p:spPr>
          <a:xfrm>
            <a:off x="8978123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크리스마스 인사 · 연말 감사 · 새해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33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33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출시에 도전해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33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34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6" name="Google Shape;1876;p34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7" name="Google Shape;1877;p34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핵심 내용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34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34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34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플레이북으로 안내해 드린 방법을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1" name="Google Shape;1881;p34"/>
          <p:cNvCxnSpPr/>
          <p:nvPr/>
        </p:nvCxnSpPr>
        <p:spPr>
          <a:xfrm>
            <a:off x="1826006" y="2231136"/>
            <a:ext cx="8536939" cy="0"/>
          </a:xfrm>
          <a:prstGeom prst="straightConnector1">
            <a:avLst/>
          </a:prstGeom>
          <a:noFill/>
          <a:ln cap="flat" cmpd="sng" w="19050">
            <a:solidFill>
              <a:srgbClr val="C5D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2" name="Google Shape;1882;p34"/>
          <p:cNvSpPr/>
          <p:nvPr/>
        </p:nvSpPr>
        <p:spPr>
          <a:xfrm>
            <a:off x="174646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34"/>
          <p:cNvSpPr/>
          <p:nvPr/>
        </p:nvSpPr>
        <p:spPr>
          <a:xfrm>
            <a:off x="822960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34"/>
          <p:cNvSpPr/>
          <p:nvPr/>
        </p:nvSpPr>
        <p:spPr>
          <a:xfrm>
            <a:off x="955521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34"/>
          <p:cNvSpPr/>
          <p:nvPr/>
        </p:nvSpPr>
        <p:spPr>
          <a:xfrm>
            <a:off x="982033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34"/>
          <p:cNvSpPr/>
          <p:nvPr/>
        </p:nvSpPr>
        <p:spPr>
          <a:xfrm>
            <a:off x="145925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34"/>
          <p:cNvSpPr/>
          <p:nvPr/>
        </p:nvSpPr>
        <p:spPr>
          <a:xfrm>
            <a:off x="228113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88" name="Google Shape;18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34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34"/>
          <p:cNvSpPr/>
          <p:nvPr/>
        </p:nvSpPr>
        <p:spPr>
          <a:xfrm>
            <a:off x="955521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34"/>
          <p:cNvSpPr/>
          <p:nvPr/>
        </p:nvSpPr>
        <p:spPr>
          <a:xfrm>
            <a:off x="999708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34"/>
          <p:cNvSpPr/>
          <p:nvPr/>
        </p:nvSpPr>
        <p:spPr>
          <a:xfrm>
            <a:off x="982033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탭과 테마 큐레이션으로 지금 인기 있는 콘텐츠 확인해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34"/>
          <p:cNvSpPr/>
          <p:nvPr/>
        </p:nvSpPr>
        <p:spPr>
          <a:xfrm>
            <a:off x="955521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34"/>
          <p:cNvSpPr/>
          <p:nvPr/>
        </p:nvSpPr>
        <p:spPr>
          <a:xfrm>
            <a:off x="1061570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34"/>
          <p:cNvSpPr/>
          <p:nvPr/>
        </p:nvSpPr>
        <p:spPr>
          <a:xfrm>
            <a:off x="122948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탭 · 테마 큐레이션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34"/>
          <p:cNvSpPr/>
          <p:nvPr/>
        </p:nvSpPr>
        <p:spPr>
          <a:xfrm>
            <a:off x="955521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34"/>
          <p:cNvSpPr/>
          <p:nvPr/>
        </p:nvSpPr>
        <p:spPr>
          <a:xfrm>
            <a:off x="1061570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34"/>
          <p:cNvSpPr/>
          <p:nvPr/>
        </p:nvSpPr>
        <p:spPr>
          <a:xfrm>
            <a:off x="122948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 캘린더 역산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34"/>
          <p:cNvSpPr/>
          <p:nvPr/>
        </p:nvSpPr>
        <p:spPr>
          <a:xfrm>
            <a:off x="2846727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34"/>
          <p:cNvSpPr/>
          <p:nvPr/>
        </p:nvSpPr>
        <p:spPr>
          <a:xfrm>
            <a:off x="3880704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34"/>
          <p:cNvSpPr/>
          <p:nvPr/>
        </p:nvSpPr>
        <p:spPr>
          <a:xfrm>
            <a:off x="2957194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34"/>
          <p:cNvSpPr/>
          <p:nvPr/>
        </p:nvSpPr>
        <p:spPr>
          <a:xfrm>
            <a:off x="3089756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34"/>
          <p:cNvSpPr/>
          <p:nvPr/>
        </p:nvSpPr>
        <p:spPr>
          <a:xfrm>
            <a:off x="3116268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34"/>
          <p:cNvSpPr/>
          <p:nvPr/>
        </p:nvSpPr>
        <p:spPr>
          <a:xfrm>
            <a:off x="3593488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34"/>
          <p:cNvSpPr/>
          <p:nvPr/>
        </p:nvSpPr>
        <p:spPr>
          <a:xfrm>
            <a:off x="4415367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5" name="Google Shape;190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79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06" name="Google Shape;1906;p34"/>
          <p:cNvSpPr/>
          <p:nvPr/>
        </p:nvSpPr>
        <p:spPr>
          <a:xfrm>
            <a:off x="3089756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34"/>
          <p:cNvSpPr/>
          <p:nvPr/>
        </p:nvSpPr>
        <p:spPr>
          <a:xfrm>
            <a:off x="3133943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상세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34"/>
          <p:cNvSpPr/>
          <p:nvPr/>
        </p:nvSpPr>
        <p:spPr>
          <a:xfrm>
            <a:off x="3116268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34"/>
          <p:cNvSpPr/>
          <p:nvPr/>
        </p:nvSpPr>
        <p:spPr>
          <a:xfrm>
            <a:off x="3089756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34"/>
          <p:cNvSpPr/>
          <p:nvPr/>
        </p:nvSpPr>
        <p:spPr>
          <a:xfrm>
            <a:off x="3195805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34"/>
          <p:cNvSpPr/>
          <p:nvPr/>
        </p:nvSpPr>
        <p:spPr>
          <a:xfrm>
            <a:off x="3363715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34"/>
          <p:cNvSpPr/>
          <p:nvPr/>
        </p:nvSpPr>
        <p:spPr>
          <a:xfrm>
            <a:off x="3089756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34"/>
          <p:cNvSpPr/>
          <p:nvPr/>
        </p:nvSpPr>
        <p:spPr>
          <a:xfrm>
            <a:off x="3195805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34"/>
          <p:cNvSpPr/>
          <p:nvPr/>
        </p:nvSpPr>
        <p:spPr>
          <a:xfrm>
            <a:off x="3363715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속성별 데이터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34"/>
          <p:cNvSpPr/>
          <p:nvPr/>
        </p:nvSpPr>
        <p:spPr>
          <a:xfrm>
            <a:off x="4980962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34"/>
          <p:cNvSpPr/>
          <p:nvPr/>
        </p:nvSpPr>
        <p:spPr>
          <a:xfrm>
            <a:off x="601493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34"/>
          <p:cNvSpPr/>
          <p:nvPr/>
        </p:nvSpPr>
        <p:spPr>
          <a:xfrm>
            <a:off x="5091429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34"/>
          <p:cNvSpPr/>
          <p:nvPr/>
        </p:nvSpPr>
        <p:spPr>
          <a:xfrm>
            <a:off x="5223990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34"/>
          <p:cNvSpPr/>
          <p:nvPr/>
        </p:nvSpPr>
        <p:spPr>
          <a:xfrm>
            <a:off x="5250503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34"/>
          <p:cNvSpPr/>
          <p:nvPr/>
        </p:nvSpPr>
        <p:spPr>
          <a:xfrm>
            <a:off x="572772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34"/>
          <p:cNvSpPr/>
          <p:nvPr/>
        </p:nvSpPr>
        <p:spPr>
          <a:xfrm>
            <a:off x="654960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22" name="Google Shape;192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681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34"/>
          <p:cNvSpPr/>
          <p:nvPr/>
        </p:nvSpPr>
        <p:spPr>
          <a:xfrm>
            <a:off x="5223990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34"/>
          <p:cNvSpPr/>
          <p:nvPr/>
        </p:nvSpPr>
        <p:spPr>
          <a:xfrm>
            <a:off x="5268178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주제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34"/>
          <p:cNvSpPr/>
          <p:nvPr/>
        </p:nvSpPr>
        <p:spPr>
          <a:xfrm>
            <a:off x="5250503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34"/>
          <p:cNvSpPr/>
          <p:nvPr/>
        </p:nvSpPr>
        <p:spPr>
          <a:xfrm>
            <a:off x="5223990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34"/>
          <p:cNvSpPr/>
          <p:nvPr/>
        </p:nvSpPr>
        <p:spPr>
          <a:xfrm>
            <a:off x="5330039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34"/>
          <p:cNvSpPr/>
          <p:nvPr/>
        </p:nvSpPr>
        <p:spPr>
          <a:xfrm>
            <a:off x="549795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메시지 트렌드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34"/>
          <p:cNvSpPr/>
          <p:nvPr/>
        </p:nvSpPr>
        <p:spPr>
          <a:xfrm>
            <a:off x="5223990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34"/>
          <p:cNvSpPr/>
          <p:nvPr/>
        </p:nvSpPr>
        <p:spPr>
          <a:xfrm>
            <a:off x="5330039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34"/>
          <p:cNvSpPr/>
          <p:nvPr/>
        </p:nvSpPr>
        <p:spPr>
          <a:xfrm>
            <a:off x="549795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 트렌드에 따른 스티커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34"/>
          <p:cNvSpPr/>
          <p:nvPr/>
        </p:nvSpPr>
        <p:spPr>
          <a:xfrm>
            <a:off x="7115197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34"/>
          <p:cNvSpPr/>
          <p:nvPr/>
        </p:nvSpPr>
        <p:spPr>
          <a:xfrm>
            <a:off x="8149174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34"/>
          <p:cNvSpPr/>
          <p:nvPr/>
        </p:nvSpPr>
        <p:spPr>
          <a:xfrm>
            <a:off x="7225664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34"/>
          <p:cNvSpPr/>
          <p:nvPr/>
        </p:nvSpPr>
        <p:spPr>
          <a:xfrm>
            <a:off x="7358225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34"/>
          <p:cNvSpPr/>
          <p:nvPr/>
        </p:nvSpPr>
        <p:spPr>
          <a:xfrm>
            <a:off x="7384738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4"/>
          <p:cNvSpPr/>
          <p:nvPr/>
        </p:nvSpPr>
        <p:spPr>
          <a:xfrm>
            <a:off x="7861958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34"/>
          <p:cNvSpPr/>
          <p:nvPr/>
        </p:nvSpPr>
        <p:spPr>
          <a:xfrm>
            <a:off x="8683837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39" name="Google Shape;193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1049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34"/>
          <p:cNvSpPr/>
          <p:nvPr/>
        </p:nvSpPr>
        <p:spPr>
          <a:xfrm>
            <a:off x="7358225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34"/>
          <p:cNvSpPr/>
          <p:nvPr/>
        </p:nvSpPr>
        <p:spPr>
          <a:xfrm>
            <a:off x="7402412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환경과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34"/>
          <p:cNvSpPr/>
          <p:nvPr/>
        </p:nvSpPr>
        <p:spPr>
          <a:xfrm>
            <a:off x="7384738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34"/>
          <p:cNvSpPr/>
          <p:nvPr/>
        </p:nvSpPr>
        <p:spPr>
          <a:xfrm>
            <a:off x="7358225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34"/>
          <p:cNvSpPr/>
          <p:nvPr/>
        </p:nvSpPr>
        <p:spPr>
          <a:xfrm>
            <a:off x="7464274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34"/>
          <p:cNvSpPr/>
          <p:nvPr/>
        </p:nvSpPr>
        <p:spPr>
          <a:xfrm>
            <a:off x="7632185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흐름에 따른 배치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34"/>
          <p:cNvSpPr/>
          <p:nvPr/>
        </p:nvSpPr>
        <p:spPr>
          <a:xfrm>
            <a:off x="7358225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34"/>
          <p:cNvSpPr/>
          <p:nvPr/>
        </p:nvSpPr>
        <p:spPr>
          <a:xfrm>
            <a:off x="7464274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34"/>
          <p:cNvSpPr/>
          <p:nvPr/>
        </p:nvSpPr>
        <p:spPr>
          <a:xfrm>
            <a:off x="7632185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34"/>
          <p:cNvSpPr/>
          <p:nvPr/>
        </p:nvSpPr>
        <p:spPr>
          <a:xfrm>
            <a:off x="9249431" y="3931920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34"/>
          <p:cNvSpPr/>
          <p:nvPr/>
        </p:nvSpPr>
        <p:spPr>
          <a:xfrm>
            <a:off x="10283409" y="2148840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34"/>
          <p:cNvSpPr/>
          <p:nvPr/>
        </p:nvSpPr>
        <p:spPr>
          <a:xfrm>
            <a:off x="9359899" y="2359152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34"/>
          <p:cNvSpPr/>
          <p:nvPr/>
        </p:nvSpPr>
        <p:spPr>
          <a:xfrm>
            <a:off x="9492460" y="2359152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34"/>
          <p:cNvSpPr/>
          <p:nvPr/>
        </p:nvSpPr>
        <p:spPr>
          <a:xfrm>
            <a:off x="9518972" y="2523744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34"/>
          <p:cNvSpPr/>
          <p:nvPr/>
        </p:nvSpPr>
        <p:spPr>
          <a:xfrm>
            <a:off x="9996193" y="2523744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34"/>
          <p:cNvSpPr/>
          <p:nvPr/>
        </p:nvSpPr>
        <p:spPr>
          <a:xfrm>
            <a:off x="10818072" y="2487168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6" name="Google Shape;195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15284" y="2587752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34"/>
          <p:cNvSpPr/>
          <p:nvPr/>
        </p:nvSpPr>
        <p:spPr>
          <a:xfrm>
            <a:off x="9492460" y="2999232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34"/>
          <p:cNvSpPr/>
          <p:nvPr/>
        </p:nvSpPr>
        <p:spPr>
          <a:xfrm>
            <a:off x="9536647" y="2999232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패턴과 시즌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34"/>
          <p:cNvSpPr/>
          <p:nvPr/>
        </p:nvSpPr>
        <p:spPr>
          <a:xfrm>
            <a:off x="9518972" y="3685032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출시에 도전해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34"/>
          <p:cNvSpPr/>
          <p:nvPr/>
        </p:nvSpPr>
        <p:spPr>
          <a:xfrm>
            <a:off x="9492460" y="45537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34"/>
          <p:cNvSpPr/>
          <p:nvPr/>
        </p:nvSpPr>
        <p:spPr>
          <a:xfrm>
            <a:off x="9598509" y="46908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34"/>
          <p:cNvSpPr/>
          <p:nvPr/>
        </p:nvSpPr>
        <p:spPr>
          <a:xfrm>
            <a:off x="9766420" y="45537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매출 비율 · 시즌 성수기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34"/>
          <p:cNvSpPr/>
          <p:nvPr/>
        </p:nvSpPr>
        <p:spPr>
          <a:xfrm>
            <a:off x="9492460" y="5010912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34"/>
          <p:cNvSpPr/>
          <p:nvPr/>
        </p:nvSpPr>
        <p:spPr>
          <a:xfrm>
            <a:off x="9598509" y="5148072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34"/>
          <p:cNvSpPr/>
          <p:nvPr/>
        </p:nvSpPr>
        <p:spPr>
          <a:xfrm>
            <a:off x="9766420" y="5010912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시즌별 캘린더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34"/>
          <p:cNvSpPr/>
          <p:nvPr/>
        </p:nvSpPr>
        <p:spPr>
          <a:xfrm>
            <a:off x="822960" y="5870448"/>
            <a:ext cx="10543032" cy="457200"/>
          </a:xfrm>
          <a:prstGeom prst="roundRect">
            <a:avLst>
              <a:gd fmla="val 16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34"/>
          <p:cNvSpPr/>
          <p:nvPr/>
        </p:nvSpPr>
        <p:spPr>
          <a:xfrm>
            <a:off x="999439" y="5870448"/>
            <a:ext cx="101626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자료는 크리에이터 님들의 OGQ 콘텐츠 제작에 참고가 되도록 데이터를 정리한 것입니다. 정답이 아닌 출발점이니, 나만의 스타일과 아이디어에 맞게 자유롭게 활용해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34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35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35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35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35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35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35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35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· 등록 · 심사 가이드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35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36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8" name="Google Shape;1988;p36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9" name="Google Shape;1989;p36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제작 가이드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36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36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규격만 지켜도 반려 사유의 상당수를 피할 수 있습니다.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36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전 파일 종류 · 크기 · 배경 처리를 한 번 더 확인해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36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36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36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규격 · 종류 및 개수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36"/>
          <p:cNvSpPr/>
          <p:nvPr/>
        </p:nvSpPr>
        <p:spPr>
          <a:xfrm>
            <a:off x="822960" y="2560320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7" name="Google Shape;19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008" y="2651760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36"/>
          <p:cNvSpPr/>
          <p:nvPr/>
        </p:nvSpPr>
        <p:spPr>
          <a:xfrm>
            <a:off x="2325319" y="2651760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36"/>
          <p:cNvSpPr/>
          <p:nvPr/>
        </p:nvSpPr>
        <p:spPr>
          <a:xfrm>
            <a:off x="2325319" y="2889504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36"/>
          <p:cNvSpPr/>
          <p:nvPr/>
        </p:nvSpPr>
        <p:spPr>
          <a:xfrm>
            <a:off x="2325319" y="3108960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마켓에서 보여질 대표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36"/>
          <p:cNvSpPr/>
          <p:nvPr/>
        </p:nvSpPr>
        <p:spPr>
          <a:xfrm>
            <a:off x="4446298" y="2816352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36"/>
          <p:cNvSpPr/>
          <p:nvPr/>
        </p:nvSpPr>
        <p:spPr>
          <a:xfrm>
            <a:off x="4446298" y="2816352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240 × 240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36"/>
          <p:cNvSpPr/>
          <p:nvPr/>
        </p:nvSpPr>
        <p:spPr>
          <a:xfrm>
            <a:off x="822960" y="3547872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4" name="Google Shape;200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008" y="3639312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36"/>
          <p:cNvSpPr/>
          <p:nvPr/>
        </p:nvSpPr>
        <p:spPr>
          <a:xfrm>
            <a:off x="2325319" y="3639312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36"/>
          <p:cNvSpPr/>
          <p:nvPr/>
        </p:nvSpPr>
        <p:spPr>
          <a:xfrm>
            <a:off x="2325319" y="3877056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36"/>
          <p:cNvSpPr/>
          <p:nvPr/>
        </p:nvSpPr>
        <p:spPr>
          <a:xfrm>
            <a:off x="2325319" y="4096512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스티커(이모티콘)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36"/>
          <p:cNvSpPr/>
          <p:nvPr/>
        </p:nvSpPr>
        <p:spPr>
          <a:xfrm>
            <a:off x="4446298" y="3803904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36"/>
          <p:cNvSpPr/>
          <p:nvPr/>
        </p:nvSpPr>
        <p:spPr>
          <a:xfrm>
            <a:off x="4446298" y="3803904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740 × 640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36"/>
          <p:cNvSpPr/>
          <p:nvPr/>
        </p:nvSpPr>
        <p:spPr>
          <a:xfrm>
            <a:off x="822960" y="4535424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11" name="Google Shape;20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008" y="4626864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36"/>
          <p:cNvSpPr/>
          <p:nvPr/>
        </p:nvSpPr>
        <p:spPr>
          <a:xfrm>
            <a:off x="2325319" y="4626864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36"/>
          <p:cNvSpPr/>
          <p:nvPr/>
        </p:nvSpPr>
        <p:spPr>
          <a:xfrm>
            <a:off x="2325319" y="4864608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36"/>
          <p:cNvSpPr/>
          <p:nvPr/>
        </p:nvSpPr>
        <p:spPr>
          <a:xfrm>
            <a:off x="2325319" y="5084064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선택 시 보여질 작은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6"/>
          <p:cNvSpPr/>
          <p:nvPr/>
        </p:nvSpPr>
        <p:spPr>
          <a:xfrm>
            <a:off x="4446298" y="4791456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36"/>
          <p:cNvSpPr/>
          <p:nvPr/>
        </p:nvSpPr>
        <p:spPr>
          <a:xfrm>
            <a:off x="4446298" y="4791456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96 × 74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36"/>
          <p:cNvSpPr/>
          <p:nvPr/>
        </p:nvSpPr>
        <p:spPr>
          <a:xfrm>
            <a:off x="822960" y="5532120"/>
            <a:ext cx="5214072" cy="347472"/>
          </a:xfrm>
          <a:prstGeom prst="roundRect">
            <a:avLst>
              <a:gd fmla="val 15789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36"/>
          <p:cNvSpPr/>
          <p:nvPr/>
        </p:nvSpPr>
        <p:spPr>
          <a:xfrm>
            <a:off x="955521" y="5532120"/>
            <a:ext cx="50373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규격  </a:t>
            </a: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72dpi · RGB · 1MB 이하 · 24장 크기·비율·정렬 통일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36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36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주의사항 — 놓치기 쉬운 4가지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36"/>
          <p:cNvSpPr/>
          <p:nvPr/>
        </p:nvSpPr>
        <p:spPr>
          <a:xfrm>
            <a:off x="6213781" y="2560320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36"/>
          <p:cNvSpPr/>
          <p:nvPr/>
        </p:nvSpPr>
        <p:spPr>
          <a:xfrm>
            <a:off x="6319829" y="2615184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투명 배경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3" name="Google Shape;202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9829" y="2852928"/>
            <a:ext cx="2315401" cy="927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24" name="Google Shape;2024;p36"/>
          <p:cNvSpPr/>
          <p:nvPr/>
        </p:nvSpPr>
        <p:spPr>
          <a:xfrm>
            <a:off x="6319829" y="3822192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메인·탭·24장 모두 투명 PNG. 흰 배경은 반려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36"/>
          <p:cNvSpPr/>
          <p:nvPr/>
        </p:nvSpPr>
        <p:spPr>
          <a:xfrm>
            <a:off x="8838492" y="2560320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36"/>
          <p:cNvSpPr/>
          <p:nvPr/>
        </p:nvSpPr>
        <p:spPr>
          <a:xfrm>
            <a:off x="8944541" y="2615184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가독성 고려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7" name="Google Shape;202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4541" y="2852928"/>
            <a:ext cx="2315401" cy="927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36"/>
          <p:cNvSpPr/>
          <p:nvPr/>
        </p:nvSpPr>
        <p:spPr>
          <a:xfrm>
            <a:off x="8944541" y="3822192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텍스트는 크게·적게. 유료협찬 문구는 색상·크기 강조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36"/>
          <p:cNvSpPr/>
          <p:nvPr/>
        </p:nvSpPr>
        <p:spPr>
          <a:xfrm>
            <a:off x="6213781" y="4288536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36"/>
          <p:cNvSpPr/>
          <p:nvPr/>
        </p:nvSpPr>
        <p:spPr>
          <a:xfrm>
            <a:off x="6319829" y="4343400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1" name="Google Shape;2031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9829" y="4581144"/>
            <a:ext cx="2315401" cy="927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36"/>
          <p:cNvSpPr/>
          <p:nvPr/>
        </p:nvSpPr>
        <p:spPr>
          <a:xfrm>
            <a:off x="6319829" y="5550408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어두운 배경에서 묻히면 흰색 테두리를 추가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36"/>
          <p:cNvSpPr/>
          <p:nvPr/>
        </p:nvSpPr>
        <p:spPr>
          <a:xfrm>
            <a:off x="8838492" y="4288536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36"/>
          <p:cNvSpPr/>
          <p:nvPr/>
        </p:nvSpPr>
        <p:spPr>
          <a:xfrm>
            <a:off x="8944541" y="4343400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 입력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5" name="Google Shape;2035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44541" y="4581144"/>
            <a:ext cx="2315401" cy="7280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36"/>
          <p:cNvSpPr/>
          <p:nvPr/>
        </p:nvSpPr>
        <p:spPr>
          <a:xfrm>
            <a:off x="8944541" y="5550408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명확한 명사로 3~20개 (강아지·고양이·구분선)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36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36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가이드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스티커(이모티콘)는 PNG 24장 + 메인 1장 + 탭 1장 — 세 가지 모두 투명 배경이어야 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37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5" name="Google Shape;2045;p3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6" name="Google Shape;2046;p37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스티커(이모티콘) 제작 가이드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37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37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스티커(이모티콘)는 프레임 규칙이 하나 더 있습니다.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37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규격에 더해 프레임 수와 시작·마지막 프레임 일치를 확인해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37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37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37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규격 · 종류 및 개수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37"/>
          <p:cNvSpPr/>
          <p:nvPr/>
        </p:nvSpPr>
        <p:spPr>
          <a:xfrm>
            <a:off x="822960" y="2560320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4" name="Google Shape;20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008" y="2651760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2055;p37"/>
          <p:cNvSpPr/>
          <p:nvPr/>
        </p:nvSpPr>
        <p:spPr>
          <a:xfrm>
            <a:off x="2325319" y="2651760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37"/>
          <p:cNvSpPr/>
          <p:nvPr/>
        </p:nvSpPr>
        <p:spPr>
          <a:xfrm>
            <a:off x="2325319" y="2889504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37"/>
          <p:cNvSpPr/>
          <p:nvPr/>
        </p:nvSpPr>
        <p:spPr>
          <a:xfrm>
            <a:off x="2325319" y="3108960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마켓에서 보여질 대표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37"/>
          <p:cNvSpPr/>
          <p:nvPr/>
        </p:nvSpPr>
        <p:spPr>
          <a:xfrm>
            <a:off x="4446298" y="2816352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37"/>
          <p:cNvSpPr/>
          <p:nvPr/>
        </p:nvSpPr>
        <p:spPr>
          <a:xfrm>
            <a:off x="4446298" y="2816352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240 × 240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37"/>
          <p:cNvSpPr/>
          <p:nvPr/>
        </p:nvSpPr>
        <p:spPr>
          <a:xfrm>
            <a:off x="822960" y="3547872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1" name="Google Shape;20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008" y="3639312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37"/>
          <p:cNvSpPr/>
          <p:nvPr/>
        </p:nvSpPr>
        <p:spPr>
          <a:xfrm>
            <a:off x="2325319" y="3639312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37"/>
          <p:cNvSpPr/>
          <p:nvPr/>
        </p:nvSpPr>
        <p:spPr>
          <a:xfrm>
            <a:off x="2325319" y="3877056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 · GIF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37"/>
          <p:cNvSpPr/>
          <p:nvPr/>
        </p:nvSpPr>
        <p:spPr>
          <a:xfrm>
            <a:off x="2325319" y="4096512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스티커(이모티콘) 애니메이션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37"/>
          <p:cNvSpPr/>
          <p:nvPr/>
        </p:nvSpPr>
        <p:spPr>
          <a:xfrm>
            <a:off x="4446298" y="3803904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37"/>
          <p:cNvSpPr/>
          <p:nvPr/>
        </p:nvSpPr>
        <p:spPr>
          <a:xfrm>
            <a:off x="4446298" y="3803904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740 × 640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37"/>
          <p:cNvSpPr/>
          <p:nvPr/>
        </p:nvSpPr>
        <p:spPr>
          <a:xfrm>
            <a:off x="822960" y="4535424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8" name="Google Shape;206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008" y="4626864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37"/>
          <p:cNvSpPr/>
          <p:nvPr/>
        </p:nvSpPr>
        <p:spPr>
          <a:xfrm>
            <a:off x="2325319" y="4626864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37"/>
          <p:cNvSpPr/>
          <p:nvPr/>
        </p:nvSpPr>
        <p:spPr>
          <a:xfrm>
            <a:off x="2325319" y="4864608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37"/>
          <p:cNvSpPr/>
          <p:nvPr/>
        </p:nvSpPr>
        <p:spPr>
          <a:xfrm>
            <a:off x="2325319" y="5084064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선택 시 보여질 작은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37"/>
          <p:cNvSpPr/>
          <p:nvPr/>
        </p:nvSpPr>
        <p:spPr>
          <a:xfrm>
            <a:off x="4446298" y="4791456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37"/>
          <p:cNvSpPr/>
          <p:nvPr/>
        </p:nvSpPr>
        <p:spPr>
          <a:xfrm>
            <a:off x="4446298" y="4791456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96 × 74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37"/>
          <p:cNvSpPr/>
          <p:nvPr/>
        </p:nvSpPr>
        <p:spPr>
          <a:xfrm>
            <a:off x="822960" y="5532120"/>
            <a:ext cx="5214072" cy="347472"/>
          </a:xfrm>
          <a:prstGeom prst="roundRect">
            <a:avLst>
              <a:gd fmla="val 15789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37"/>
          <p:cNvSpPr/>
          <p:nvPr/>
        </p:nvSpPr>
        <p:spPr>
          <a:xfrm>
            <a:off x="955521" y="5532120"/>
            <a:ext cx="50373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규격  </a:t>
            </a: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72dpi 이상 · RGB · 1MB 이하 · 프레임 수 각 100 이하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37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37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스티커(이모티콘) 주의사항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8" name="Google Shape;207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781" y="2560320"/>
            <a:ext cx="5152210" cy="1473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37"/>
          <p:cNvSpPr/>
          <p:nvPr/>
        </p:nvSpPr>
        <p:spPr>
          <a:xfrm>
            <a:off x="6213781" y="4194266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37"/>
          <p:cNvSpPr/>
          <p:nvPr/>
        </p:nvSpPr>
        <p:spPr>
          <a:xfrm>
            <a:off x="6319829" y="4267772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37"/>
          <p:cNvSpPr/>
          <p:nvPr/>
        </p:nvSpPr>
        <p:spPr>
          <a:xfrm>
            <a:off x="6319829" y="4267772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37"/>
          <p:cNvSpPr/>
          <p:nvPr/>
        </p:nvSpPr>
        <p:spPr>
          <a:xfrm>
            <a:off x="6611464" y="4194266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= 마지막 프레임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프레임이 다르면 마켓 상세 페이지에서 빈칸으로 보일 수 있음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37"/>
          <p:cNvSpPr/>
          <p:nvPr/>
        </p:nvSpPr>
        <p:spPr>
          <a:xfrm>
            <a:off x="6213781" y="4633885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37"/>
          <p:cNvSpPr/>
          <p:nvPr/>
        </p:nvSpPr>
        <p:spPr>
          <a:xfrm>
            <a:off x="6319829" y="4707391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37"/>
          <p:cNvSpPr/>
          <p:nvPr/>
        </p:nvSpPr>
        <p:spPr>
          <a:xfrm>
            <a:off x="6319829" y="4707391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37"/>
          <p:cNvSpPr/>
          <p:nvPr/>
        </p:nvSpPr>
        <p:spPr>
          <a:xfrm>
            <a:off x="6611464" y="4633885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매끄러운 움직임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프레임이 튀거나 끊기면 반려. 루프 지점이 자연스러운지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37"/>
          <p:cNvSpPr/>
          <p:nvPr/>
        </p:nvSpPr>
        <p:spPr>
          <a:xfrm>
            <a:off x="6213781" y="5073505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37"/>
          <p:cNvSpPr/>
          <p:nvPr/>
        </p:nvSpPr>
        <p:spPr>
          <a:xfrm>
            <a:off x="6319829" y="5147011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37"/>
          <p:cNvSpPr/>
          <p:nvPr/>
        </p:nvSpPr>
        <p:spPr>
          <a:xfrm>
            <a:off x="6319829" y="5147011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37"/>
          <p:cNvSpPr/>
          <p:nvPr/>
        </p:nvSpPr>
        <p:spPr>
          <a:xfrm>
            <a:off x="6611464" y="5073505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 전반 통일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텍스트·배경·오브젝트가 모든 프레임에서 동일하게 유지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37"/>
          <p:cNvSpPr/>
          <p:nvPr/>
        </p:nvSpPr>
        <p:spPr>
          <a:xfrm>
            <a:off x="6213781" y="5513124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37"/>
          <p:cNvSpPr/>
          <p:nvPr/>
        </p:nvSpPr>
        <p:spPr>
          <a:xfrm>
            <a:off x="6319829" y="5586630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7"/>
          <p:cNvSpPr/>
          <p:nvPr/>
        </p:nvSpPr>
        <p:spPr>
          <a:xfrm>
            <a:off x="6319829" y="5586630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37"/>
          <p:cNvSpPr/>
          <p:nvPr/>
        </p:nvSpPr>
        <p:spPr>
          <a:xfrm>
            <a:off x="6611464" y="5513124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채색·투명도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일부 채색 누락이나 반투명 영역은 다크모드에서 색이 변해 반려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37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37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가이드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GIF의 시작 프레임과 마지막 프레임이 반드시 동일해야 합니다. 정지형 주의사항(투명 배경·가독성·다크모드·태그)도 함께 적용됩니다.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38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3" name="Google Shape;2103;p38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4" name="Google Shape;2104;p38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등록 가이드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38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38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제작이 끝났다면 OGQ 크리에이터 스튜디오에서 등록과 심사를 진행합니다.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38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단계에서 입력하는 정보가 검색 노출과 심사 결과에 함께 영향을 줍니다.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38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38"/>
          <p:cNvSpPr/>
          <p:nvPr/>
        </p:nvSpPr>
        <p:spPr>
          <a:xfrm>
            <a:off x="822960" y="2148840"/>
            <a:ext cx="1054303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38"/>
          <p:cNvSpPr/>
          <p:nvPr/>
        </p:nvSpPr>
        <p:spPr>
          <a:xfrm>
            <a:off x="822960" y="2148840"/>
            <a:ext cx="10543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절차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38"/>
          <p:cNvSpPr/>
          <p:nvPr/>
        </p:nvSpPr>
        <p:spPr>
          <a:xfrm>
            <a:off x="822960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38"/>
          <p:cNvSpPr/>
          <p:nvPr/>
        </p:nvSpPr>
        <p:spPr>
          <a:xfrm>
            <a:off x="955521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38"/>
          <p:cNvSpPr/>
          <p:nvPr/>
        </p:nvSpPr>
        <p:spPr>
          <a:xfrm>
            <a:off x="955521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38"/>
          <p:cNvSpPr/>
          <p:nvPr/>
        </p:nvSpPr>
        <p:spPr>
          <a:xfrm>
            <a:off x="955521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 가입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38"/>
          <p:cNvSpPr/>
          <p:nvPr/>
        </p:nvSpPr>
        <p:spPr>
          <a:xfrm>
            <a:off x="955521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크리에이터 스튜디오에 가입하고 정산 정보를 등록합니다.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38"/>
          <p:cNvSpPr/>
          <p:nvPr/>
        </p:nvSpPr>
        <p:spPr>
          <a:xfrm>
            <a:off x="2837889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38"/>
          <p:cNvSpPr/>
          <p:nvPr/>
        </p:nvSpPr>
        <p:spPr>
          <a:xfrm>
            <a:off x="2961613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38"/>
          <p:cNvSpPr/>
          <p:nvPr/>
        </p:nvSpPr>
        <p:spPr>
          <a:xfrm>
            <a:off x="3094174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38"/>
          <p:cNvSpPr/>
          <p:nvPr/>
        </p:nvSpPr>
        <p:spPr>
          <a:xfrm>
            <a:off x="3094174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38"/>
          <p:cNvSpPr/>
          <p:nvPr/>
        </p:nvSpPr>
        <p:spPr>
          <a:xfrm>
            <a:off x="3094174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등록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38"/>
          <p:cNvSpPr/>
          <p:nvPr/>
        </p:nvSpPr>
        <p:spPr>
          <a:xfrm>
            <a:off x="3094174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1장 · 스티커(이모티콘) 24장 · 탭 1장을 규격에 맞춰 올립니다.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38"/>
          <p:cNvSpPr/>
          <p:nvPr/>
        </p:nvSpPr>
        <p:spPr>
          <a:xfrm>
            <a:off x="4976543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38"/>
          <p:cNvSpPr/>
          <p:nvPr/>
        </p:nvSpPr>
        <p:spPr>
          <a:xfrm>
            <a:off x="5100267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38"/>
          <p:cNvSpPr/>
          <p:nvPr/>
        </p:nvSpPr>
        <p:spPr>
          <a:xfrm>
            <a:off x="5232828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5" name="Google Shape;2125;p38"/>
          <p:cNvSpPr/>
          <p:nvPr/>
        </p:nvSpPr>
        <p:spPr>
          <a:xfrm>
            <a:off x="5232828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38"/>
          <p:cNvSpPr/>
          <p:nvPr/>
        </p:nvSpPr>
        <p:spPr>
          <a:xfrm>
            <a:off x="5232828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정보 입력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38"/>
          <p:cNvSpPr/>
          <p:nvPr/>
        </p:nvSpPr>
        <p:spPr>
          <a:xfrm>
            <a:off x="5232828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 · 설명 · 태그 입력. AI 사용 여부를 체크합니다.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38"/>
          <p:cNvSpPr/>
          <p:nvPr/>
        </p:nvSpPr>
        <p:spPr>
          <a:xfrm>
            <a:off x="7115197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38"/>
          <p:cNvSpPr/>
          <p:nvPr/>
        </p:nvSpPr>
        <p:spPr>
          <a:xfrm>
            <a:off x="7238920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38"/>
          <p:cNvSpPr/>
          <p:nvPr/>
        </p:nvSpPr>
        <p:spPr>
          <a:xfrm>
            <a:off x="7371481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1" name="Google Shape;2131;p38"/>
          <p:cNvSpPr/>
          <p:nvPr/>
        </p:nvSpPr>
        <p:spPr>
          <a:xfrm>
            <a:off x="7371481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38"/>
          <p:cNvSpPr/>
          <p:nvPr/>
        </p:nvSpPr>
        <p:spPr>
          <a:xfrm>
            <a:off x="7371481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심사 요청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38"/>
          <p:cNvSpPr/>
          <p:nvPr/>
        </p:nvSpPr>
        <p:spPr>
          <a:xfrm>
            <a:off x="7371481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제출하면 심사가 시작되고, 결과는 OGQ 크리에이터 스튜디오와 이메일로 안내됩니다.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38"/>
          <p:cNvSpPr/>
          <p:nvPr/>
        </p:nvSpPr>
        <p:spPr>
          <a:xfrm>
            <a:off x="9253850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38"/>
          <p:cNvSpPr/>
          <p:nvPr/>
        </p:nvSpPr>
        <p:spPr>
          <a:xfrm>
            <a:off x="9377574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38"/>
          <p:cNvSpPr/>
          <p:nvPr/>
        </p:nvSpPr>
        <p:spPr>
          <a:xfrm>
            <a:off x="9510135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38"/>
          <p:cNvSpPr/>
          <p:nvPr/>
        </p:nvSpPr>
        <p:spPr>
          <a:xfrm>
            <a:off x="9510135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38"/>
          <p:cNvSpPr/>
          <p:nvPr/>
        </p:nvSpPr>
        <p:spPr>
          <a:xfrm>
            <a:off x="9510135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후 판매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38"/>
          <p:cNvSpPr/>
          <p:nvPr/>
        </p:nvSpPr>
        <p:spPr>
          <a:xfrm>
            <a:off x="9510135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승인된 콘텐츠가 마켓에 노출되고 판매가 시작됩니다.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38"/>
          <p:cNvSpPr/>
          <p:nvPr/>
        </p:nvSpPr>
        <p:spPr>
          <a:xfrm>
            <a:off x="822960" y="4439631"/>
            <a:ext cx="10542900" cy="329100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38"/>
          <p:cNvSpPr/>
          <p:nvPr/>
        </p:nvSpPr>
        <p:spPr>
          <a:xfrm>
            <a:off x="822960" y="4439631"/>
            <a:ext cx="1054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단계에서 자주 놓치는 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38"/>
          <p:cNvSpPr/>
          <p:nvPr/>
        </p:nvSpPr>
        <p:spPr>
          <a:xfrm>
            <a:off x="822960" y="4823679"/>
            <a:ext cx="3446700" cy="658368"/>
          </a:xfrm>
          <a:prstGeom prst="roundRect">
            <a:avLst>
              <a:gd fmla="val 14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38"/>
          <p:cNvSpPr/>
          <p:nvPr/>
        </p:nvSpPr>
        <p:spPr>
          <a:xfrm>
            <a:off x="929008" y="4942551"/>
            <a:ext cx="265200" cy="274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38"/>
          <p:cNvSpPr/>
          <p:nvPr/>
        </p:nvSpPr>
        <p:spPr>
          <a:xfrm>
            <a:off x="929008" y="4942551"/>
            <a:ext cx="26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38"/>
          <p:cNvSpPr/>
          <p:nvPr/>
        </p:nvSpPr>
        <p:spPr>
          <a:xfrm>
            <a:off x="1282505" y="4869399"/>
            <a:ext cx="289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태그는 명확한 명사로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38"/>
          <p:cNvSpPr/>
          <p:nvPr/>
        </p:nvSpPr>
        <p:spPr>
          <a:xfrm>
            <a:off x="1282505" y="5070567"/>
            <a:ext cx="289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‘강아지 · 구분선’처럼 입력. 문장형 태그는 검색에 잡히지 않음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38"/>
          <p:cNvSpPr/>
          <p:nvPr/>
        </p:nvSpPr>
        <p:spPr>
          <a:xfrm>
            <a:off x="4371180" y="4823679"/>
            <a:ext cx="3446700" cy="658368"/>
          </a:xfrm>
          <a:prstGeom prst="roundRect">
            <a:avLst>
              <a:gd fmla="val 14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38"/>
          <p:cNvSpPr/>
          <p:nvPr/>
        </p:nvSpPr>
        <p:spPr>
          <a:xfrm>
            <a:off x="4477229" y="4942551"/>
            <a:ext cx="265200" cy="274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38"/>
          <p:cNvSpPr/>
          <p:nvPr/>
        </p:nvSpPr>
        <p:spPr>
          <a:xfrm>
            <a:off x="4477229" y="4942551"/>
            <a:ext cx="26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38"/>
          <p:cNvSpPr/>
          <p:nvPr/>
        </p:nvSpPr>
        <p:spPr>
          <a:xfrm>
            <a:off x="4830726" y="4869399"/>
            <a:ext cx="289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제목과 24종 내용 일치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38"/>
          <p:cNvSpPr/>
          <p:nvPr/>
        </p:nvSpPr>
        <p:spPr>
          <a:xfrm>
            <a:off x="4830726" y="5070567"/>
            <a:ext cx="289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제목과 다른 소재가 섞이거나 1장만 디자인이 다르면 반려될 수 있음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38"/>
          <p:cNvSpPr/>
          <p:nvPr/>
        </p:nvSpPr>
        <p:spPr>
          <a:xfrm>
            <a:off x="7919401" y="4823679"/>
            <a:ext cx="3446700" cy="658368"/>
          </a:xfrm>
          <a:prstGeom prst="roundRect">
            <a:avLst>
              <a:gd fmla="val 14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38"/>
          <p:cNvSpPr/>
          <p:nvPr/>
        </p:nvSpPr>
        <p:spPr>
          <a:xfrm>
            <a:off x="8025450" y="4942551"/>
            <a:ext cx="265200" cy="274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38"/>
          <p:cNvSpPr/>
          <p:nvPr/>
        </p:nvSpPr>
        <p:spPr>
          <a:xfrm>
            <a:off x="8025450" y="4942551"/>
            <a:ext cx="26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38"/>
          <p:cNvSpPr/>
          <p:nvPr/>
        </p:nvSpPr>
        <p:spPr>
          <a:xfrm>
            <a:off x="8378946" y="4869399"/>
            <a:ext cx="289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업로드 금지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38"/>
          <p:cNvSpPr/>
          <p:nvPr/>
        </p:nvSpPr>
        <p:spPr>
          <a:xfrm>
            <a:off x="8378946" y="5070567"/>
            <a:ext cx="289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콘텐츠를 두 번 올리거나 마켓에 이미 있는 콘텐츠와 동일하면 반려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38"/>
          <p:cNvSpPr/>
          <p:nvPr/>
        </p:nvSpPr>
        <p:spPr>
          <a:xfrm>
            <a:off x="822960" y="5961979"/>
            <a:ext cx="10543032" cy="36570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38"/>
          <p:cNvSpPr/>
          <p:nvPr/>
        </p:nvSpPr>
        <p:spPr>
          <a:xfrm>
            <a:off x="999439" y="5961979"/>
            <a:ext cx="10162642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가이드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· 탭 이미지의 투명 배경과 AI 사용 여부 체크는 제출 직전에 한 번 더 확인해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39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5" name="Google Shape;2165;p39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6" name="Google Shape;2166;p39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심사 반려 현황 — 반려 사유 TOP 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39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39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반려의 62.5%는 ‘내부 심사 규정’, 그다음은 다크모드 대응 · 중복 콘텐츠입니다.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39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6월 기준의 OGQ 크리에이터 스튜디오 반려 데이터입니다.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39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39"/>
          <p:cNvSpPr/>
          <p:nvPr/>
        </p:nvSpPr>
        <p:spPr>
          <a:xfrm>
            <a:off x="822960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39"/>
          <p:cNvSpPr/>
          <p:nvPr/>
        </p:nvSpPr>
        <p:spPr>
          <a:xfrm>
            <a:off x="822960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62.5%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39"/>
          <p:cNvSpPr/>
          <p:nvPr/>
        </p:nvSpPr>
        <p:spPr>
          <a:xfrm>
            <a:off x="822960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심사 규정 — 완성도·표현 중복·컨셉 일관성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39"/>
          <p:cNvSpPr/>
          <p:nvPr/>
        </p:nvSpPr>
        <p:spPr>
          <a:xfrm>
            <a:off x="3498494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39"/>
          <p:cNvSpPr/>
          <p:nvPr/>
        </p:nvSpPr>
        <p:spPr>
          <a:xfrm>
            <a:off x="3498494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10.9%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39"/>
          <p:cNvSpPr/>
          <p:nvPr/>
        </p:nvSpPr>
        <p:spPr>
          <a:xfrm>
            <a:off x="3498494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대응 — 흰 테두리 누락·흐림·배경 흰 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39"/>
          <p:cNvSpPr/>
          <p:nvPr/>
        </p:nvSpPr>
        <p:spPr>
          <a:xfrm>
            <a:off x="6174029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39"/>
          <p:cNvSpPr/>
          <p:nvPr/>
        </p:nvSpPr>
        <p:spPr>
          <a:xfrm>
            <a:off x="6174029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39"/>
          <p:cNvSpPr/>
          <p:nvPr/>
        </p:nvSpPr>
        <p:spPr>
          <a:xfrm>
            <a:off x="6174029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콘텐츠 — 중복 업로드·마켓 내 동일·기존 등록물과 유사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39"/>
          <p:cNvSpPr/>
          <p:nvPr/>
        </p:nvSpPr>
        <p:spPr>
          <a:xfrm>
            <a:off x="8849563" y="2148840"/>
            <a:ext cx="2516429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39"/>
          <p:cNvSpPr/>
          <p:nvPr/>
        </p:nvSpPr>
        <p:spPr>
          <a:xfrm>
            <a:off x="8849563" y="2221992"/>
            <a:ext cx="251642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5.2%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39"/>
          <p:cNvSpPr/>
          <p:nvPr/>
        </p:nvSpPr>
        <p:spPr>
          <a:xfrm>
            <a:off x="8849563" y="2606040"/>
            <a:ext cx="25164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사진·화질 — 노이즈·저해상도 탭·초점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39"/>
          <p:cNvSpPr/>
          <p:nvPr/>
        </p:nvSpPr>
        <p:spPr>
          <a:xfrm>
            <a:off x="822960" y="3108960"/>
            <a:ext cx="494895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39"/>
          <p:cNvSpPr/>
          <p:nvPr/>
        </p:nvSpPr>
        <p:spPr>
          <a:xfrm>
            <a:off x="822960" y="3108960"/>
            <a:ext cx="49489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사유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39"/>
          <p:cNvSpPr/>
          <p:nvPr/>
        </p:nvSpPr>
        <p:spPr>
          <a:xfrm>
            <a:off x="822960" y="3529584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심사 규정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39"/>
          <p:cNvSpPr/>
          <p:nvPr/>
        </p:nvSpPr>
        <p:spPr>
          <a:xfrm>
            <a:off x="2192758" y="3529584"/>
            <a:ext cx="3004719" cy="16459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9"/>
          <p:cNvSpPr/>
          <p:nvPr/>
        </p:nvSpPr>
        <p:spPr>
          <a:xfrm>
            <a:off x="5234053" y="3529584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62.5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39"/>
          <p:cNvSpPr/>
          <p:nvPr/>
        </p:nvSpPr>
        <p:spPr>
          <a:xfrm>
            <a:off x="822960" y="3744468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대응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39"/>
          <p:cNvSpPr/>
          <p:nvPr/>
        </p:nvSpPr>
        <p:spPr>
          <a:xfrm>
            <a:off x="2192758" y="3744468"/>
            <a:ext cx="524022" cy="16459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39"/>
          <p:cNvSpPr/>
          <p:nvPr/>
        </p:nvSpPr>
        <p:spPr>
          <a:xfrm>
            <a:off x="2753356" y="3744468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10.9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39"/>
          <p:cNvSpPr/>
          <p:nvPr/>
        </p:nvSpPr>
        <p:spPr>
          <a:xfrm>
            <a:off x="822960" y="3959352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콘텐츠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39"/>
          <p:cNvSpPr/>
          <p:nvPr/>
        </p:nvSpPr>
        <p:spPr>
          <a:xfrm>
            <a:off x="2192758" y="3959352"/>
            <a:ext cx="317298" cy="16459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39"/>
          <p:cNvSpPr/>
          <p:nvPr/>
        </p:nvSpPr>
        <p:spPr>
          <a:xfrm>
            <a:off x="2546632" y="3959352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6.6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39"/>
          <p:cNvSpPr/>
          <p:nvPr/>
        </p:nvSpPr>
        <p:spPr>
          <a:xfrm>
            <a:off x="822960" y="4174236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사진·화질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39"/>
          <p:cNvSpPr/>
          <p:nvPr/>
        </p:nvSpPr>
        <p:spPr>
          <a:xfrm>
            <a:off x="2192758" y="4174236"/>
            <a:ext cx="249992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39"/>
          <p:cNvSpPr/>
          <p:nvPr/>
        </p:nvSpPr>
        <p:spPr>
          <a:xfrm>
            <a:off x="2479326" y="4174236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39"/>
          <p:cNvSpPr/>
          <p:nvPr/>
        </p:nvSpPr>
        <p:spPr>
          <a:xfrm>
            <a:off x="822960" y="4389120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투명 배경(PNG)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39"/>
          <p:cNvSpPr/>
          <p:nvPr/>
        </p:nvSpPr>
        <p:spPr>
          <a:xfrm>
            <a:off x="2192758" y="4389120"/>
            <a:ext cx="182686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9"/>
          <p:cNvSpPr/>
          <p:nvPr/>
        </p:nvSpPr>
        <p:spPr>
          <a:xfrm>
            <a:off x="2412020" y="4389120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39"/>
          <p:cNvSpPr/>
          <p:nvPr/>
        </p:nvSpPr>
        <p:spPr>
          <a:xfrm>
            <a:off x="822960" y="4604004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가독성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39"/>
          <p:cNvSpPr/>
          <p:nvPr/>
        </p:nvSpPr>
        <p:spPr>
          <a:xfrm>
            <a:off x="2192758" y="4604004"/>
            <a:ext cx="153841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39"/>
          <p:cNvSpPr/>
          <p:nvPr/>
        </p:nvSpPr>
        <p:spPr>
          <a:xfrm>
            <a:off x="2383175" y="4604004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39"/>
          <p:cNvSpPr/>
          <p:nvPr/>
        </p:nvSpPr>
        <p:spPr>
          <a:xfrm>
            <a:off x="822960" y="4818888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저작권·권리 침해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39"/>
          <p:cNvSpPr/>
          <p:nvPr/>
        </p:nvSpPr>
        <p:spPr>
          <a:xfrm>
            <a:off x="2192758" y="4818888"/>
            <a:ext cx="91343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9"/>
          <p:cNvSpPr/>
          <p:nvPr/>
        </p:nvSpPr>
        <p:spPr>
          <a:xfrm>
            <a:off x="2320677" y="4818888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39"/>
          <p:cNvSpPr/>
          <p:nvPr/>
        </p:nvSpPr>
        <p:spPr>
          <a:xfrm>
            <a:off x="822960" y="5033772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크기·정렬 통일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39"/>
          <p:cNvSpPr/>
          <p:nvPr/>
        </p:nvSpPr>
        <p:spPr>
          <a:xfrm>
            <a:off x="2192758" y="5033772"/>
            <a:ext cx="91343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39"/>
          <p:cNvSpPr/>
          <p:nvPr/>
        </p:nvSpPr>
        <p:spPr>
          <a:xfrm>
            <a:off x="2320677" y="5033772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39"/>
          <p:cNvSpPr/>
          <p:nvPr/>
        </p:nvSpPr>
        <p:spPr>
          <a:xfrm>
            <a:off x="822960" y="5248656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완성도(채색·모션)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39"/>
          <p:cNvSpPr/>
          <p:nvPr/>
        </p:nvSpPr>
        <p:spPr>
          <a:xfrm>
            <a:off x="2192758" y="5248656"/>
            <a:ext cx="67305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39"/>
          <p:cNvSpPr/>
          <p:nvPr/>
        </p:nvSpPr>
        <p:spPr>
          <a:xfrm>
            <a:off x="2296639" y="5248656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39"/>
          <p:cNvSpPr/>
          <p:nvPr/>
        </p:nvSpPr>
        <p:spPr>
          <a:xfrm>
            <a:off x="822960" y="5463540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부적절 표현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39"/>
          <p:cNvSpPr/>
          <p:nvPr/>
        </p:nvSpPr>
        <p:spPr>
          <a:xfrm>
            <a:off x="2192758" y="5463540"/>
            <a:ext cx="52883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39"/>
          <p:cNvSpPr/>
          <p:nvPr/>
        </p:nvSpPr>
        <p:spPr>
          <a:xfrm>
            <a:off x="2282217" y="5463540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39"/>
          <p:cNvSpPr/>
          <p:nvPr/>
        </p:nvSpPr>
        <p:spPr>
          <a:xfrm>
            <a:off x="822960" y="5678424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사용 의심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39"/>
          <p:cNvSpPr/>
          <p:nvPr/>
        </p:nvSpPr>
        <p:spPr>
          <a:xfrm>
            <a:off x="2192758" y="5678424"/>
            <a:ext cx="48075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39"/>
          <p:cNvSpPr/>
          <p:nvPr/>
        </p:nvSpPr>
        <p:spPr>
          <a:xfrm>
            <a:off x="2277409" y="5678424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8" name="Google Shape;2218;p39"/>
          <p:cNvCxnSpPr/>
          <p:nvPr/>
        </p:nvCxnSpPr>
        <p:spPr>
          <a:xfrm>
            <a:off x="2192758" y="3493008"/>
            <a:ext cx="0" cy="2400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9" name="Google Shape;2219;p39"/>
          <p:cNvSpPr/>
          <p:nvPr/>
        </p:nvSpPr>
        <p:spPr>
          <a:xfrm>
            <a:off x="5948658" y="3108960"/>
            <a:ext cx="541733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39"/>
          <p:cNvSpPr/>
          <p:nvPr/>
        </p:nvSpPr>
        <p:spPr>
          <a:xfrm>
            <a:off x="5948658" y="3108960"/>
            <a:ext cx="541733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3 상세 — 심사 문구 기준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39"/>
          <p:cNvSpPr/>
          <p:nvPr/>
        </p:nvSpPr>
        <p:spPr>
          <a:xfrm>
            <a:off x="5948658" y="3529584"/>
            <a:ext cx="5417333" cy="731520"/>
          </a:xfrm>
          <a:prstGeom prst="roundRect">
            <a:avLst>
              <a:gd fmla="val 10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39"/>
          <p:cNvSpPr/>
          <p:nvPr/>
        </p:nvSpPr>
        <p:spPr>
          <a:xfrm>
            <a:off x="6072382" y="3730752"/>
            <a:ext cx="318146" cy="329184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39"/>
          <p:cNvSpPr/>
          <p:nvPr/>
        </p:nvSpPr>
        <p:spPr>
          <a:xfrm>
            <a:off x="6072382" y="3730752"/>
            <a:ext cx="3181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39"/>
          <p:cNvSpPr/>
          <p:nvPr/>
        </p:nvSpPr>
        <p:spPr>
          <a:xfrm>
            <a:off x="6496578" y="3584448"/>
            <a:ext cx="4772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심사 규정 (3,735건)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39"/>
          <p:cNvSpPr/>
          <p:nvPr/>
        </p:nvSpPr>
        <p:spPr>
          <a:xfrm>
            <a:off x="6496578" y="3803904"/>
            <a:ext cx="477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표정·표현의 중복성, 제목과 내용의 일관성, 세트 컨셉의 통일 등 종합 완성도를 검토합니다. 한 가지 사유로 특정되지 않는 만큼, 제출 전 세트 전체를 한 화면에 놓고 보세요.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39"/>
          <p:cNvSpPr/>
          <p:nvPr/>
        </p:nvSpPr>
        <p:spPr>
          <a:xfrm>
            <a:off x="5948658" y="4325112"/>
            <a:ext cx="5417333" cy="731520"/>
          </a:xfrm>
          <a:prstGeom prst="roundRect">
            <a:avLst>
              <a:gd fmla="val 10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39"/>
          <p:cNvSpPr/>
          <p:nvPr/>
        </p:nvSpPr>
        <p:spPr>
          <a:xfrm>
            <a:off x="6072382" y="4526280"/>
            <a:ext cx="318146" cy="329184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39"/>
          <p:cNvSpPr/>
          <p:nvPr/>
        </p:nvSpPr>
        <p:spPr>
          <a:xfrm>
            <a:off x="6072382" y="4526280"/>
            <a:ext cx="3181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39"/>
          <p:cNvSpPr/>
          <p:nvPr/>
        </p:nvSpPr>
        <p:spPr>
          <a:xfrm>
            <a:off x="6496578" y="4379976"/>
            <a:ext cx="4772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대응 (650건)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39"/>
          <p:cNvSpPr/>
          <p:nvPr/>
        </p:nvSpPr>
        <p:spPr>
          <a:xfrm>
            <a:off x="6496578" y="4599432"/>
            <a:ext cx="477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흰색 테두리 누락 480건이 대부분. 테두리가 너무 얇거나 흐린 경우 37건, 다크모드에서 배경에 흰 점·선이 남는 경우 96건도 같은 항목입니다.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39"/>
          <p:cNvSpPr/>
          <p:nvPr/>
        </p:nvSpPr>
        <p:spPr>
          <a:xfrm>
            <a:off x="5948658" y="5120640"/>
            <a:ext cx="5417333" cy="731520"/>
          </a:xfrm>
          <a:prstGeom prst="roundRect">
            <a:avLst>
              <a:gd fmla="val 10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39"/>
          <p:cNvSpPr/>
          <p:nvPr/>
        </p:nvSpPr>
        <p:spPr>
          <a:xfrm>
            <a:off x="6072382" y="5321808"/>
            <a:ext cx="318146" cy="329184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39"/>
          <p:cNvSpPr/>
          <p:nvPr/>
        </p:nvSpPr>
        <p:spPr>
          <a:xfrm>
            <a:off x="6072382" y="5321808"/>
            <a:ext cx="3181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39"/>
          <p:cNvSpPr/>
          <p:nvPr/>
        </p:nvSpPr>
        <p:spPr>
          <a:xfrm>
            <a:off x="6496578" y="5175504"/>
            <a:ext cx="4772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콘텐츠 (392건)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39"/>
          <p:cNvSpPr/>
          <p:nvPr/>
        </p:nvSpPr>
        <p:spPr>
          <a:xfrm>
            <a:off x="6496578" y="5394960"/>
            <a:ext cx="477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업로드 172건 · 마켓 내 동일 콘텐츠 149건 · 세트 내 구도·연출이 상당수 일치 54건.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39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39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현황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· 중복 · 투명 배경 · 화질 · 가독성 — 규격성 사유만 챙겨도 반려의 약 31.6%를 사전에 제거할 수 있습니다.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40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4" name="Google Shape;2244;p4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5" name="Google Shape;2245;p40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사유 대응 방안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0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40"/>
          <p:cNvSpPr/>
          <p:nvPr/>
        </p:nvSpPr>
        <p:spPr>
          <a:xfrm>
            <a:off x="822960" y="1325880"/>
            <a:ext cx="10543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가지만 지키면 대부분 통과됩니다.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0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외에도 제작 가이드상의 주의사항과 캐릭터의 완성도 및 시장성을 종합적으로 검토합니다.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0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0"/>
          <p:cNvSpPr/>
          <p:nvPr/>
        </p:nvSpPr>
        <p:spPr>
          <a:xfrm>
            <a:off x="822960" y="2148840"/>
            <a:ext cx="3402403" cy="2514600"/>
          </a:xfrm>
          <a:prstGeom prst="roundRect">
            <a:avLst>
              <a:gd fmla="val 363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40"/>
          <p:cNvSpPr/>
          <p:nvPr/>
        </p:nvSpPr>
        <p:spPr>
          <a:xfrm>
            <a:off x="955521" y="2148840"/>
            <a:ext cx="3137281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40"/>
          <p:cNvSpPr/>
          <p:nvPr/>
        </p:nvSpPr>
        <p:spPr>
          <a:xfrm>
            <a:off x="955521" y="2258568"/>
            <a:ext cx="2430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다크모드 대응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40"/>
          <p:cNvSpPr/>
          <p:nvPr/>
        </p:nvSpPr>
        <p:spPr>
          <a:xfrm>
            <a:off x="3385809" y="2276856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40"/>
          <p:cNvSpPr/>
          <p:nvPr/>
        </p:nvSpPr>
        <p:spPr>
          <a:xfrm>
            <a:off x="3385809" y="2276856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10.9%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5" name="Google Shape;22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21" y="2606040"/>
            <a:ext cx="3137281" cy="140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40"/>
          <p:cNvSpPr/>
          <p:nvPr/>
        </p:nvSpPr>
        <p:spPr>
          <a:xfrm>
            <a:off x="955521" y="4153887"/>
            <a:ext cx="3137281" cy="4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캐릭터·글씨가 어두운 색이면 흰색 테두리를 추가하세요. 굵고 선명하게, 24장 동일 굵기로. 별도 대응 없이도 어두운 배경에서 잘 보이면 통과합니다.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0"/>
          <p:cNvSpPr/>
          <p:nvPr/>
        </p:nvSpPr>
        <p:spPr>
          <a:xfrm>
            <a:off x="4393274" y="2148840"/>
            <a:ext cx="3402403" cy="2514600"/>
          </a:xfrm>
          <a:prstGeom prst="roundRect">
            <a:avLst>
              <a:gd fmla="val 363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40"/>
          <p:cNvSpPr/>
          <p:nvPr/>
        </p:nvSpPr>
        <p:spPr>
          <a:xfrm>
            <a:off x="4525835" y="2148840"/>
            <a:ext cx="3137281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40"/>
          <p:cNvSpPr/>
          <p:nvPr/>
        </p:nvSpPr>
        <p:spPr>
          <a:xfrm>
            <a:off x="4525835" y="2258568"/>
            <a:ext cx="2430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텍스트 가독성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40"/>
          <p:cNvSpPr/>
          <p:nvPr/>
        </p:nvSpPr>
        <p:spPr>
          <a:xfrm>
            <a:off x="6956123" y="2276856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40"/>
          <p:cNvSpPr/>
          <p:nvPr/>
        </p:nvSpPr>
        <p:spPr>
          <a:xfrm>
            <a:off x="6956123" y="2276856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3.2%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2" name="Google Shape;22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5835" y="2606040"/>
            <a:ext cx="3137281" cy="144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40"/>
          <p:cNvSpPr/>
          <p:nvPr/>
        </p:nvSpPr>
        <p:spPr>
          <a:xfrm>
            <a:off x="4525835" y="4189531"/>
            <a:ext cx="3137281" cy="38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문장이 길거나 글씨가 작아 첫눈에 읽히지 않으면 반려. 공정위·포스팅 문구는 ‘유료협찬’ 부분을 색상 강조하거나 폰트를 키우세요.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40"/>
          <p:cNvSpPr/>
          <p:nvPr/>
        </p:nvSpPr>
        <p:spPr>
          <a:xfrm>
            <a:off x="7963588" y="2148840"/>
            <a:ext cx="3402403" cy="2514600"/>
          </a:xfrm>
          <a:prstGeom prst="roundRect">
            <a:avLst>
              <a:gd fmla="val 363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40"/>
          <p:cNvSpPr/>
          <p:nvPr/>
        </p:nvSpPr>
        <p:spPr>
          <a:xfrm>
            <a:off x="8096149" y="2148840"/>
            <a:ext cx="3137281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40"/>
          <p:cNvSpPr/>
          <p:nvPr/>
        </p:nvSpPr>
        <p:spPr>
          <a:xfrm>
            <a:off x="8096149" y="2258568"/>
            <a:ext cx="2430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이미지 투명화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40"/>
          <p:cNvSpPr/>
          <p:nvPr/>
        </p:nvSpPr>
        <p:spPr>
          <a:xfrm>
            <a:off x="10526437" y="2276856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40"/>
          <p:cNvSpPr/>
          <p:nvPr/>
        </p:nvSpPr>
        <p:spPr>
          <a:xfrm>
            <a:off x="10526437" y="2276856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3.8%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9" name="Google Shape;226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149" y="2606040"/>
            <a:ext cx="3137281" cy="1347654"/>
          </a:xfrm>
          <a:prstGeom prst="rect">
            <a:avLst/>
          </a:prstGeom>
          <a:noFill/>
          <a:ln>
            <a:noFill/>
          </a:ln>
        </p:spPr>
      </p:pic>
      <p:sp>
        <p:nvSpPr>
          <p:cNvPr id="2270" name="Google Shape;2270;p40"/>
          <p:cNvSpPr/>
          <p:nvPr/>
        </p:nvSpPr>
        <p:spPr>
          <a:xfrm>
            <a:off x="8096149" y="4091887"/>
            <a:ext cx="3137281" cy="480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 + 메인·탭 모두 투명 PNG. 확장자만 바꾼 파일은 투명이 아닙니다. 이미지 안에 배경을 의도적으로 디자인한 경우는 제외됩니다.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0"/>
          <p:cNvSpPr/>
          <p:nvPr/>
        </p:nvSpPr>
        <p:spPr>
          <a:xfrm>
            <a:off x="822960" y="4773168"/>
            <a:ext cx="5187560" cy="1078992"/>
          </a:xfrm>
          <a:prstGeom prst="roundRect">
            <a:avLst>
              <a:gd fmla="val 8475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40"/>
          <p:cNvSpPr/>
          <p:nvPr/>
        </p:nvSpPr>
        <p:spPr>
          <a:xfrm>
            <a:off x="955521" y="4846320"/>
            <a:ext cx="41270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중복 콘텐츠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0"/>
          <p:cNvSpPr/>
          <p:nvPr/>
        </p:nvSpPr>
        <p:spPr>
          <a:xfrm>
            <a:off x="5170966" y="4864608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40"/>
          <p:cNvSpPr/>
          <p:nvPr/>
        </p:nvSpPr>
        <p:spPr>
          <a:xfrm>
            <a:off x="5170966" y="4864608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6.6%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0"/>
          <p:cNvSpPr/>
          <p:nvPr/>
        </p:nvSpPr>
        <p:spPr>
          <a:xfrm>
            <a:off x="955521" y="5138928"/>
            <a:ext cx="492243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파일을 두 번 올리지 않기. 마켓에 이미 있는 콘텐츠와 동일하거나, 세트 안에서 구도·연출이 상당수 겹치면 반려됩니다. 24장을 한 화면에 놓고 비슷한 장면이 3장 이상이면 교체하세요.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40"/>
          <p:cNvSpPr/>
          <p:nvPr/>
        </p:nvSpPr>
        <p:spPr>
          <a:xfrm>
            <a:off x="6178431" y="4773168"/>
            <a:ext cx="5187560" cy="1078992"/>
          </a:xfrm>
          <a:prstGeom prst="roundRect">
            <a:avLst>
              <a:gd fmla="val 8475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40"/>
          <p:cNvSpPr/>
          <p:nvPr/>
        </p:nvSpPr>
        <p:spPr>
          <a:xfrm>
            <a:off x="6310992" y="4846320"/>
            <a:ext cx="41270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권리 · AI 표기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0"/>
          <p:cNvSpPr/>
          <p:nvPr/>
        </p:nvSpPr>
        <p:spPr>
          <a:xfrm>
            <a:off x="10526437" y="4864608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40"/>
          <p:cNvSpPr/>
          <p:nvPr/>
        </p:nvSpPr>
        <p:spPr>
          <a:xfrm>
            <a:off x="10526437" y="4864608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2.9%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40"/>
          <p:cNvSpPr/>
          <p:nvPr/>
        </p:nvSpPr>
        <p:spPr>
          <a:xfrm>
            <a:off x="6310992" y="5138928"/>
            <a:ext cx="492243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스트리머명 포함 시 퍼블리시티권 등록, 기존 캐릭터 연상 요소·앨범 아트·상업 불가 폰트 제거. AI 사용 시 업로드에서 체크, 미사용 시 증빙 자료로 소명. 생성형 AI로만 제작한 스티커(이모티콘)는 등록할 수 없습니다.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0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40"/>
          <p:cNvSpPr/>
          <p:nvPr/>
        </p:nvSpPr>
        <p:spPr>
          <a:xfrm>
            <a:off x="999439" y="5961888"/>
            <a:ext cx="1016264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심사 핵심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· 가독성 · 투명 배경 · 중복 · 권리 표기 — 제출 전 체크리스트로 한 번씩 확인하세요.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41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41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41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41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플레이북에 대한 다양한 의견 및 개선 사항을 전달해 주세요.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41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크리에이터분들의 작은 아이디어나 개선 사항은 큰 힘이 됩니다.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41"/>
          <p:cNvSpPr/>
          <p:nvPr/>
        </p:nvSpPr>
        <p:spPr>
          <a:xfrm>
            <a:off x="5074920" y="3566160"/>
            <a:ext cx="2011680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41">
            <a:hlinkClick r:id="rId3"/>
          </p:cNvPr>
          <p:cNvSpPr/>
          <p:nvPr/>
        </p:nvSpPr>
        <p:spPr>
          <a:xfrm>
            <a:off x="5074920" y="3566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53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45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의견 남기기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41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Copyright ⓒ 2026 OGQ All Rights Reserved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41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42"/>
          <p:cNvSpPr/>
          <p:nvPr/>
        </p:nvSpPr>
        <p:spPr>
          <a:xfrm>
            <a:off x="822960" y="598013"/>
            <a:ext cx="7494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OGQ 플레이북 활용 안내</a:t>
            </a:r>
            <a:endParaRPr b="0" i="0" sz="5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42"/>
          <p:cNvSpPr txBox="1"/>
          <p:nvPr/>
        </p:nvSpPr>
        <p:spPr>
          <a:xfrm>
            <a:off x="822960" y="1480400"/>
            <a:ext cx="5960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플레이북은 OGQ에서 제작 및 제공하는 문서입니다.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해당 문서를 활용 시에는 아래 사항을 꼭 유의해 주시기 바랍니다.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42"/>
          <p:cNvSpPr txBox="1"/>
          <p:nvPr/>
        </p:nvSpPr>
        <p:spPr>
          <a:xfrm>
            <a:off x="822960" y="2339525"/>
            <a:ext cx="8232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플레이북 활용 시 유의 사항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플레이북 내 내용을 임의로 가공해서 별도 공유 또는 재인용 하는 것을 금지합니다.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플레이북 전문을 웹에 게시하거나 상업적으로 활용하는 것을 금지합니다.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42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42"/>
          <p:cNvSpPr/>
          <p:nvPr/>
        </p:nvSpPr>
        <p:spPr>
          <a:xfrm>
            <a:off x="822960" y="60807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ⓒ 2026 OGQ All Rights Reserved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